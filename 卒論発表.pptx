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3"/>
  </p:notesMasterIdLst>
  <p:handoutMasterIdLst>
    <p:handoutMasterId r:id="rId14"/>
  </p:handoutMasterIdLst>
  <p:sldIdLst>
    <p:sldId id="258" r:id="rId3"/>
    <p:sldId id="277" r:id="rId4"/>
    <p:sldId id="293" r:id="rId5"/>
    <p:sldId id="287" r:id="rId6"/>
    <p:sldId id="288" r:id="rId7"/>
    <p:sldId id="290" r:id="rId8"/>
    <p:sldId id="297" r:id="rId9"/>
    <p:sldId id="298" r:id="rId10"/>
    <p:sldId id="299" r:id="rId11"/>
    <p:sldId id="292" r:id="rId12"/>
  </p:sldIdLst>
  <p:sldSz cx="12192000" cy="6858000"/>
  <p:notesSz cx="9926638" cy="6797675"/>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DEBBB"/>
    <a:srgbClr val="E1D81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82" autoAdjust="0"/>
    <p:restoredTop sz="86545" autoAdjust="0"/>
  </p:normalViewPr>
  <p:slideViewPr>
    <p:cSldViewPr snapToGrid="0">
      <p:cViewPr varScale="1">
        <p:scale>
          <a:sx n="95" d="100"/>
          <a:sy n="95" d="100"/>
        </p:scale>
        <p:origin x="1344" y="96"/>
      </p:cViewPr>
      <p:guideLst/>
    </p:cSldViewPr>
  </p:slideViewPr>
  <p:notesTextViewPr>
    <p:cViewPr>
      <p:scale>
        <a:sx n="1" d="1"/>
        <a:sy n="1" d="1"/>
      </p:scale>
      <p:origin x="0" y="0"/>
    </p:cViewPr>
  </p:notesTextViewPr>
  <p:notesViewPr>
    <p:cSldViewPr snapToGrid="0">
      <p:cViewPr varScale="1">
        <p:scale>
          <a:sx n="73" d="100"/>
          <a:sy n="73" d="100"/>
        </p:scale>
        <p:origin x="2692" y="6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B394FB4C-5FC1-951C-1D69-9856B187A41C}"/>
              </a:ext>
            </a:extLst>
          </p:cNvPr>
          <p:cNvSpPr>
            <a:spLocks noGrp="1"/>
          </p:cNvSpPr>
          <p:nvPr>
            <p:ph type="hdr" sz="quarter"/>
          </p:nvPr>
        </p:nvSpPr>
        <p:spPr>
          <a:xfrm>
            <a:off x="0" y="1"/>
            <a:ext cx="4301543" cy="341064"/>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A0E42E78-4BCA-181F-D0B0-11A2E2A4790E}"/>
              </a:ext>
            </a:extLst>
          </p:cNvPr>
          <p:cNvSpPr>
            <a:spLocks noGrp="1"/>
          </p:cNvSpPr>
          <p:nvPr>
            <p:ph type="dt" sz="quarter" idx="1"/>
          </p:nvPr>
        </p:nvSpPr>
        <p:spPr>
          <a:xfrm>
            <a:off x="5622798" y="1"/>
            <a:ext cx="4301543" cy="341064"/>
          </a:xfrm>
          <a:prstGeom prst="rect">
            <a:avLst/>
          </a:prstGeom>
        </p:spPr>
        <p:txBody>
          <a:bodyPr vert="horz" lIns="91440" tIns="45720" rIns="91440" bIns="45720" rtlCol="0"/>
          <a:lstStyle>
            <a:lvl1pPr algn="r">
              <a:defRPr sz="1200"/>
            </a:lvl1pPr>
          </a:lstStyle>
          <a:p>
            <a:fld id="{ED8F7A7D-0B6C-498C-B320-41CE834FC92D}" type="datetimeFigureOut">
              <a:rPr kumimoji="1" lang="ja-JP" altLang="en-US" smtClean="0"/>
              <a:t>2026/6/15</a:t>
            </a:fld>
            <a:endParaRPr kumimoji="1" lang="ja-JP" altLang="en-US"/>
          </a:p>
        </p:txBody>
      </p:sp>
      <p:sp>
        <p:nvSpPr>
          <p:cNvPr id="4" name="フッター プレースホルダー 3">
            <a:extLst>
              <a:ext uri="{FF2B5EF4-FFF2-40B4-BE49-F238E27FC236}">
                <a16:creationId xmlns:a16="http://schemas.microsoft.com/office/drawing/2014/main" id="{36B58C0B-9D99-DE77-3534-CA7E1C696218}"/>
              </a:ext>
            </a:extLst>
          </p:cNvPr>
          <p:cNvSpPr>
            <a:spLocks noGrp="1"/>
          </p:cNvSpPr>
          <p:nvPr>
            <p:ph type="ftr" sz="quarter" idx="2"/>
          </p:nvPr>
        </p:nvSpPr>
        <p:spPr>
          <a:xfrm>
            <a:off x="0" y="6456612"/>
            <a:ext cx="4301543" cy="341063"/>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798555A8-13A9-F887-340D-51D7EE0B8235}"/>
              </a:ext>
            </a:extLst>
          </p:cNvPr>
          <p:cNvSpPr>
            <a:spLocks noGrp="1"/>
          </p:cNvSpPr>
          <p:nvPr>
            <p:ph type="sldNum" sz="quarter" idx="3"/>
          </p:nvPr>
        </p:nvSpPr>
        <p:spPr>
          <a:xfrm>
            <a:off x="5622798" y="6456612"/>
            <a:ext cx="4301543" cy="341063"/>
          </a:xfrm>
          <a:prstGeom prst="rect">
            <a:avLst/>
          </a:prstGeom>
        </p:spPr>
        <p:txBody>
          <a:bodyPr vert="horz" lIns="91440" tIns="45720" rIns="91440" bIns="45720" rtlCol="0" anchor="b"/>
          <a:lstStyle>
            <a:lvl1pPr algn="r">
              <a:defRPr sz="1200"/>
            </a:lvl1pPr>
          </a:lstStyle>
          <a:p>
            <a:fld id="{B7FD9A9E-7DD2-4148-8189-DF51ED3EDAC5}" type="slidenum">
              <a:rPr kumimoji="1" lang="ja-JP" altLang="en-US" smtClean="0"/>
              <a:t>‹#›</a:t>
            </a:fld>
            <a:endParaRPr kumimoji="1" lang="ja-JP" altLang="en-US"/>
          </a:p>
        </p:txBody>
      </p:sp>
    </p:spTree>
    <p:extLst>
      <p:ext uri="{BB962C8B-B14F-4D97-AF65-F5344CB8AC3E}">
        <p14:creationId xmlns:p14="http://schemas.microsoft.com/office/powerpoint/2010/main" val="24308674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1"/>
            <a:ext cx="4301543" cy="341064"/>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5622798" y="1"/>
            <a:ext cx="4301543" cy="341064"/>
          </a:xfrm>
          <a:prstGeom prst="rect">
            <a:avLst/>
          </a:prstGeom>
        </p:spPr>
        <p:txBody>
          <a:bodyPr vert="horz" lIns="91440" tIns="45720" rIns="91440" bIns="45720" rtlCol="0"/>
          <a:lstStyle>
            <a:lvl1pPr algn="r">
              <a:defRPr sz="1200"/>
            </a:lvl1pPr>
          </a:lstStyle>
          <a:p>
            <a:fld id="{7AC6EAA2-E516-4BA5-900C-1F3D24E417EF}" type="datetimeFigureOut">
              <a:rPr kumimoji="1" lang="ja-JP" altLang="en-US" smtClean="0"/>
              <a:t>2026/6/15</a:t>
            </a:fld>
            <a:endParaRPr kumimoji="1" lang="ja-JP" altLang="en-US"/>
          </a:p>
        </p:txBody>
      </p:sp>
      <p:sp>
        <p:nvSpPr>
          <p:cNvPr id="4" name="スライド イメージ プレースホルダー 3"/>
          <p:cNvSpPr>
            <a:spLocks noGrp="1" noRot="1" noChangeAspect="1"/>
          </p:cNvSpPr>
          <p:nvPr>
            <p:ph type="sldImg" idx="2"/>
          </p:nvPr>
        </p:nvSpPr>
        <p:spPr>
          <a:xfrm>
            <a:off x="2924175" y="849313"/>
            <a:ext cx="4078288" cy="229393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992664" y="3271381"/>
            <a:ext cx="7941310" cy="2676585"/>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6456612"/>
            <a:ext cx="4301543" cy="341063"/>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5622798" y="6456612"/>
            <a:ext cx="4301543" cy="341063"/>
          </a:xfrm>
          <a:prstGeom prst="rect">
            <a:avLst/>
          </a:prstGeom>
        </p:spPr>
        <p:txBody>
          <a:bodyPr vert="horz" lIns="91440" tIns="45720" rIns="91440" bIns="45720" rtlCol="0" anchor="b"/>
          <a:lstStyle>
            <a:lvl1pPr algn="r">
              <a:defRPr sz="1200"/>
            </a:lvl1pPr>
          </a:lstStyle>
          <a:p>
            <a:fld id="{A34FD560-C2F5-4A03-BD23-B89685A0A44D}" type="slidenum">
              <a:rPr kumimoji="1" lang="ja-JP" altLang="en-US" smtClean="0"/>
              <a:t>‹#›</a:t>
            </a:fld>
            <a:endParaRPr kumimoji="1" lang="ja-JP" altLang="en-US"/>
          </a:p>
        </p:txBody>
      </p:sp>
    </p:spTree>
    <p:extLst>
      <p:ext uri="{BB962C8B-B14F-4D97-AF65-F5344CB8AC3E}">
        <p14:creationId xmlns:p14="http://schemas.microsoft.com/office/powerpoint/2010/main" val="281870205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農業従事者数の減少や気候変動による生産不安定化に対する解決策として植物工場というものが期待されています．植物工場というのは</a:t>
            </a:r>
            <a:r>
              <a:rPr kumimoji="1" lang="ja-JP" altLang="en-US" sz="1200" dirty="0">
                <a:solidFill>
                  <a:schemeClr val="bg1">
                    <a:lumMod val="10000"/>
                  </a:schemeClr>
                </a:solidFill>
                <a:latin typeface="メイリオ" panose="020B0604030504040204" pitchFamily="50" charset="-128"/>
                <a:ea typeface="メイリオ" panose="020B0604030504040204" pitchFamily="50" charset="-128"/>
              </a:rPr>
              <a:t>屋内で</a:t>
            </a:r>
            <a:r>
              <a:rPr kumimoji="1" lang="ja-JP" altLang="en-US" sz="1200" b="1" dirty="0">
                <a:solidFill>
                  <a:schemeClr val="bg1">
                    <a:lumMod val="10000"/>
                  </a:schemeClr>
                </a:solidFill>
                <a:latin typeface="メイリオ" panose="020B0604030504040204" pitchFamily="50" charset="-128"/>
                <a:ea typeface="メイリオ" panose="020B0604030504040204" pitchFamily="50" charset="-128"/>
              </a:rPr>
              <a:t>人工的</a:t>
            </a:r>
            <a:r>
              <a:rPr kumimoji="1" lang="ja-JP" altLang="en-US" sz="1200" dirty="0">
                <a:solidFill>
                  <a:schemeClr val="bg1">
                    <a:lumMod val="10000"/>
                  </a:schemeClr>
                </a:solidFill>
                <a:latin typeface="メイリオ" panose="020B0604030504040204" pitchFamily="50" charset="-128"/>
                <a:ea typeface="メイリオ" panose="020B0604030504040204" pitchFamily="50" charset="-128"/>
              </a:rPr>
              <a:t>に作物を大量生産するためのシステムで</a:t>
            </a:r>
            <a:r>
              <a:rPr kumimoji="1" lang="ja-JP" altLang="en-US" sz="1200" b="1" dirty="0">
                <a:solidFill>
                  <a:schemeClr val="bg1">
                    <a:lumMod val="10000"/>
                  </a:schemeClr>
                </a:solidFill>
                <a:latin typeface="メイリオ" panose="020B0604030504040204" pitchFamily="50" charset="-128"/>
                <a:ea typeface="メイリオ" panose="020B0604030504040204" pitchFamily="50" charset="-128"/>
              </a:rPr>
              <a:t>光や水の量を調整</a:t>
            </a:r>
            <a:r>
              <a:rPr kumimoji="1" lang="ja-JP" altLang="en-US" sz="1200" dirty="0">
                <a:solidFill>
                  <a:schemeClr val="bg1">
                    <a:lumMod val="10000"/>
                  </a:schemeClr>
                </a:solidFill>
                <a:latin typeface="メイリオ" panose="020B0604030504040204" pitchFamily="50" charset="-128"/>
                <a:ea typeface="メイリオ" panose="020B0604030504040204" pitchFamily="50" charset="-128"/>
              </a:rPr>
              <a:t>しながら安定した作物の供給ができる施設のことです．植物工場のメリットとしては環境を制御するので天候に左右されず，周年栽培ができるという点，高機能野菜を生産できるという点などが挙げられます．デメリットとしてはコストがあげられ，初期費用もあるのですが，ほかにもコストで大きな部分を占める光熱費が高いことが挙げられます．なので</a:t>
            </a:r>
            <a:r>
              <a:rPr lang="ja-JP" altLang="en-US" sz="1200" dirty="0">
                <a:solidFill>
                  <a:schemeClr val="bg1">
                    <a:lumMod val="10000"/>
                  </a:schemeClr>
                </a:solidFill>
                <a:latin typeface="メイリオ" panose="020B0604030504040204" pitchFamily="50" charset="-128"/>
                <a:ea typeface="メイリオ" panose="020B0604030504040204" pitchFamily="50" charset="-128"/>
              </a:rPr>
              <a:t>収益や品質を確保しながら光熱費を削減するための制御技術が必要とされています．そこで本研究では対象の植物をレタスとし，</a:t>
            </a:r>
            <a:r>
              <a:rPr lang="ja-JP" altLang="en-US" sz="1200" b="1" dirty="0">
                <a:solidFill>
                  <a:schemeClr val="bg1">
                    <a:lumMod val="10000"/>
                  </a:schemeClr>
                </a:solidFill>
                <a:latin typeface="メイリオ" panose="020B0604030504040204" pitchFamily="50" charset="-128"/>
                <a:ea typeface="メイリオ" panose="020B0604030504040204" pitchFamily="50" charset="-128"/>
              </a:rPr>
              <a:t>制御を用いた植物工場におけるレタス成長の数値実験と便益評価を目的として進めてきました．</a:t>
            </a:r>
            <a:endParaRPr lang="en-US" altLang="ja-JP" sz="1200" b="1" dirty="0">
              <a:solidFill>
                <a:schemeClr val="bg1">
                  <a:lumMod val="10000"/>
                </a:schemeClr>
              </a:solidFill>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solidFill>
                <a:schemeClr val="bg1">
                  <a:lumMod val="10000"/>
                </a:schemeClr>
              </a:solidFill>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solidFill>
                  <a:schemeClr val="bg1">
                    <a:lumMod val="10000"/>
                  </a:schemeClr>
                </a:solidFill>
                <a:latin typeface="メイリオ" panose="020B0604030504040204" pitchFamily="50" charset="-128"/>
                <a:ea typeface="メイリオ" panose="020B0604030504040204" pitchFamily="50" charset="-128"/>
              </a:rPr>
              <a:t>なんでレタス？重量単価が高いものを植物工場はつくる．また事例が多い．</a:t>
            </a:r>
            <a:endParaRPr lang="en-US" altLang="ja-JP" sz="1200" dirty="0">
              <a:solidFill>
                <a:schemeClr val="bg1">
                  <a:lumMod val="10000"/>
                </a:schemeClr>
              </a:solidFill>
              <a:latin typeface="メイリオ" panose="020B0604030504040204" pitchFamily="50" charset="-128"/>
              <a:ea typeface="メイリオ" panose="020B0604030504040204" pitchFamily="50" charset="-128"/>
            </a:endParaRPr>
          </a:p>
          <a:p>
            <a:endParaRPr kumimoji="1" lang="ja-JP" altLang="en-US" dirty="0"/>
          </a:p>
        </p:txBody>
      </p:sp>
      <p:sp>
        <p:nvSpPr>
          <p:cNvPr id="4" name="スライド番号プレースホルダー 3"/>
          <p:cNvSpPr>
            <a:spLocks noGrp="1"/>
          </p:cNvSpPr>
          <p:nvPr>
            <p:ph type="sldNum" sz="quarter" idx="5"/>
          </p:nvPr>
        </p:nvSpPr>
        <p:spPr/>
        <p:txBody>
          <a:bodyPr/>
          <a:lstStyle/>
          <a:p>
            <a:fld id="{A34FD560-C2F5-4A03-BD23-B89685A0A44D}" type="slidenum">
              <a:rPr kumimoji="1" lang="ja-JP" altLang="en-US" smtClean="0"/>
              <a:t>2</a:t>
            </a:fld>
            <a:endParaRPr kumimoji="1" lang="ja-JP" altLang="en-US"/>
          </a:p>
        </p:txBody>
      </p:sp>
    </p:spTree>
    <p:extLst>
      <p:ext uri="{BB962C8B-B14F-4D97-AF65-F5344CB8AC3E}">
        <p14:creationId xmlns:p14="http://schemas.microsoft.com/office/powerpoint/2010/main" val="30991429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目的のコスト削減のためには植物の成長の最適化が必要になります．具体的にはできるだけ早く，多くのレタスを収穫するように環境を制御する必要があります．そのためには</a:t>
            </a:r>
            <a:r>
              <a:rPr lang="ja-JP" altLang="en-US" sz="1200" b="1" dirty="0">
                <a:solidFill>
                  <a:schemeClr val="bg1">
                    <a:lumMod val="10000"/>
                  </a:schemeClr>
                </a:solidFill>
                <a:latin typeface="メイリオ" panose="020B0604030504040204" pitchFamily="50" charset="-128"/>
                <a:ea typeface="メイリオ" panose="020B0604030504040204" pitchFamily="50" charset="-128"/>
              </a:rPr>
              <a:t>植物工場、植物の成長の数理モデル化が必要になります．</a:t>
            </a:r>
            <a:r>
              <a:rPr lang="ja-JP" altLang="en-US" sz="1200" b="0" dirty="0">
                <a:solidFill>
                  <a:schemeClr val="bg1">
                    <a:lumMod val="10000"/>
                  </a:schemeClr>
                </a:solidFill>
                <a:latin typeface="メイリオ" panose="020B0604030504040204" pitchFamily="50" charset="-128"/>
                <a:ea typeface="メイリオ" panose="020B0604030504040204" pitchFamily="50" charset="-128"/>
              </a:rPr>
              <a:t>ここではまず植物工場の概要について話します．右の図が今回扱う植物工場の全体像になっていて，照明，空調，換気ファンを制御入力，内部環境の温度と二酸化炭素濃度を状態変数と定義します．植物工場の数理モデルは温度，二酸化炭素，水の流動などを微分方程式により数式化したものです．今回は簡単のため温度と二酸化炭素のみを考慮しています．また細かい数式については論文をご参照ください．</a:t>
            </a:r>
            <a:endParaRPr lang="en-US" altLang="ja-JP" sz="1200" b="1" dirty="0">
              <a:solidFill>
                <a:schemeClr val="bg1">
                  <a:lumMod val="10000"/>
                </a:schemeClr>
              </a:solidFill>
              <a:latin typeface="メイリオ" panose="020B0604030504040204" pitchFamily="50" charset="-128"/>
              <a:ea typeface="メイリオ" panose="020B0604030504040204" pitchFamily="50" charset="-128"/>
            </a:endParaRPr>
          </a:p>
          <a:p>
            <a:endParaRPr kumimoji="1" lang="en-US" altLang="ja-JP" dirty="0"/>
          </a:p>
          <a:p>
            <a:endParaRPr kumimoji="1" lang="en-US" altLang="ja-JP" dirty="0"/>
          </a:p>
          <a:p>
            <a:r>
              <a:rPr kumimoji="1" lang="ja-JP" altLang="en-US" dirty="0"/>
              <a:t>最適化って具体的には？他にも従来研究から変更している点があるが，論文参照</a:t>
            </a:r>
          </a:p>
        </p:txBody>
      </p:sp>
      <p:sp>
        <p:nvSpPr>
          <p:cNvPr id="4" name="スライド番号プレースホルダー 3"/>
          <p:cNvSpPr>
            <a:spLocks noGrp="1"/>
          </p:cNvSpPr>
          <p:nvPr>
            <p:ph type="sldNum" sz="quarter" idx="5"/>
          </p:nvPr>
        </p:nvSpPr>
        <p:spPr/>
        <p:txBody>
          <a:bodyPr/>
          <a:lstStyle/>
          <a:p>
            <a:fld id="{A34FD560-C2F5-4A03-BD23-B89685A0A44D}" type="slidenum">
              <a:rPr kumimoji="1" lang="ja-JP" altLang="en-US" smtClean="0"/>
              <a:t>4</a:t>
            </a:fld>
            <a:endParaRPr kumimoji="1" lang="ja-JP" altLang="en-US"/>
          </a:p>
        </p:txBody>
      </p:sp>
    </p:spTree>
    <p:extLst>
      <p:ext uri="{BB962C8B-B14F-4D97-AF65-F5344CB8AC3E}">
        <p14:creationId xmlns:p14="http://schemas.microsoft.com/office/powerpoint/2010/main" val="23939140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kern="1200" dirty="0">
                <a:solidFill>
                  <a:schemeClr val="tx1"/>
                </a:solidFill>
                <a:effectLst/>
                <a:latin typeface="+mn-lt"/>
                <a:ea typeface="+mn-ea"/>
                <a:cs typeface="+mn-cs"/>
              </a:rPr>
              <a:t>続いて評価関数についてです．評価関数は</a:t>
            </a:r>
            <a:r>
              <a:rPr lang="ja-JP" altLang="en-US" sz="1200" dirty="0">
                <a:solidFill>
                  <a:schemeClr val="bg1">
                    <a:lumMod val="10000"/>
                  </a:schemeClr>
                </a:solidFill>
                <a:latin typeface="メイリオ" panose="020B0604030504040204" pitchFamily="50" charset="-128"/>
                <a:ea typeface="メイリオ" panose="020B0604030504040204" pitchFamily="50" charset="-128"/>
              </a:rPr>
              <a:t>主に</a:t>
            </a:r>
            <a:r>
              <a:rPr lang="ja-JP" altLang="en-US" sz="1200" u="sng" dirty="0">
                <a:solidFill>
                  <a:schemeClr val="bg1">
                    <a:lumMod val="10000"/>
                  </a:schemeClr>
                </a:solidFill>
                <a:latin typeface="メイリオ" panose="020B0604030504040204" pitchFamily="50" charset="-128"/>
                <a:ea typeface="メイリオ" panose="020B0604030504040204" pitchFamily="50" charset="-128"/>
              </a:rPr>
              <a:t>成長速度最大化</a:t>
            </a:r>
            <a:r>
              <a:rPr lang="ja-JP" altLang="en-US" sz="1200" dirty="0">
                <a:solidFill>
                  <a:schemeClr val="bg1">
                    <a:lumMod val="10000"/>
                  </a:schemeClr>
                </a:solidFill>
                <a:latin typeface="メイリオ" panose="020B0604030504040204" pitchFamily="50" charset="-128"/>
                <a:ea typeface="メイリオ" panose="020B0604030504040204" pitchFamily="50" charset="-128"/>
              </a:rPr>
              <a:t>、</a:t>
            </a:r>
            <a:r>
              <a:rPr lang="ja-JP" altLang="en-US" sz="1200" u="sng" dirty="0">
                <a:solidFill>
                  <a:schemeClr val="bg1">
                    <a:lumMod val="10000"/>
                  </a:schemeClr>
                </a:solidFill>
                <a:latin typeface="メイリオ" panose="020B0604030504040204" pitchFamily="50" charset="-128"/>
                <a:ea typeface="メイリオ" panose="020B0604030504040204" pitchFamily="50" charset="-128"/>
              </a:rPr>
              <a:t>電気代抑制</a:t>
            </a:r>
            <a:r>
              <a:rPr lang="ja-JP" altLang="en-US" sz="1200" dirty="0">
                <a:solidFill>
                  <a:schemeClr val="bg1">
                    <a:lumMod val="10000"/>
                  </a:schemeClr>
                </a:solidFill>
                <a:latin typeface="メイリオ" panose="020B0604030504040204" pitchFamily="50" charset="-128"/>
                <a:ea typeface="メイリオ" panose="020B0604030504040204" pitchFamily="50" charset="-128"/>
              </a:rPr>
              <a:t>、</a:t>
            </a:r>
            <a:r>
              <a:rPr lang="ja-JP" altLang="en-US" sz="1200" u="sng" dirty="0">
                <a:solidFill>
                  <a:schemeClr val="bg1">
                    <a:lumMod val="10000"/>
                  </a:schemeClr>
                </a:solidFill>
                <a:latin typeface="メイリオ" panose="020B0604030504040204" pitchFamily="50" charset="-128"/>
                <a:ea typeface="メイリオ" panose="020B0604030504040204" pitchFamily="50" charset="-128"/>
              </a:rPr>
              <a:t>入力変化抑制</a:t>
            </a:r>
            <a:r>
              <a:rPr lang="ja-JP" altLang="en-US" sz="1200" dirty="0">
                <a:solidFill>
                  <a:schemeClr val="bg1">
                    <a:lumMod val="10000"/>
                  </a:schemeClr>
                </a:solidFill>
                <a:latin typeface="メイリオ" panose="020B0604030504040204" pitchFamily="50" charset="-128"/>
                <a:ea typeface="メイリオ" panose="020B0604030504040204" pitchFamily="50" charset="-128"/>
              </a:rPr>
              <a:t>の項で構成されています．ここでは</a:t>
            </a:r>
            <a:r>
              <a:rPr lang="ja-JP" altLang="en-US" sz="1200" u="sng" dirty="0">
                <a:solidFill>
                  <a:schemeClr val="bg1">
                    <a:lumMod val="10000"/>
                  </a:schemeClr>
                </a:solidFill>
                <a:latin typeface="メイリオ" panose="020B0604030504040204" pitchFamily="50" charset="-128"/>
                <a:ea typeface="メイリオ" panose="020B0604030504040204" pitchFamily="50" charset="-128"/>
              </a:rPr>
              <a:t>成長速度最大化についてお話します．</a:t>
            </a:r>
            <a:r>
              <a:rPr lang="ja-JP" altLang="en-US" sz="1200" u="none" dirty="0">
                <a:solidFill>
                  <a:schemeClr val="bg1">
                    <a:lumMod val="10000"/>
                  </a:schemeClr>
                </a:solidFill>
                <a:latin typeface="メイリオ" panose="020B0604030504040204" pitchFamily="50" charset="-128"/>
                <a:ea typeface="メイリオ" panose="020B0604030504040204" pitchFamily="50" charset="-128"/>
              </a:rPr>
              <a:t>本研究では植物の成長の指標として乾燥重量を採用しました．乾燥重量とは植物の水分以外の重さで，植物全体の重さの</a:t>
            </a:r>
            <a:r>
              <a:rPr lang="en-US" altLang="ja-JP" sz="1200" u="none" dirty="0">
                <a:solidFill>
                  <a:schemeClr val="bg1">
                    <a:lumMod val="10000"/>
                  </a:schemeClr>
                </a:solidFill>
                <a:latin typeface="メイリオ" panose="020B0604030504040204" pitchFamily="50" charset="-128"/>
                <a:ea typeface="メイリオ" panose="020B0604030504040204" pitchFamily="50" charset="-128"/>
              </a:rPr>
              <a:t>5%</a:t>
            </a:r>
            <a:r>
              <a:rPr lang="ja-JP" altLang="en-US" sz="1200" u="none" dirty="0">
                <a:solidFill>
                  <a:schemeClr val="bg1">
                    <a:lumMod val="10000"/>
                  </a:schemeClr>
                </a:solidFill>
                <a:latin typeface="メイリオ" panose="020B0604030504040204" pitchFamily="50" charset="-128"/>
                <a:ea typeface="メイリオ" panose="020B0604030504040204" pitchFamily="50" charset="-128"/>
              </a:rPr>
              <a:t>ほどの重さになります．植物に成長は皆さんご存じの通り光合成が大きな役割を果たします．光合成によってエネルギーを生成し，呼吸によってエネルギーを消費します．具体的に式に表すとこの式のようになり，乾燥重量の増え方というのがそのときの乾燥重量に依存した光合成速度と呼吸速度から計算されます．この乾燥重量は実際にはどのように増えていくかというと右図のように指数関数的に伸びていきます．目標は</a:t>
            </a:r>
            <a:r>
              <a:rPr lang="ja-JP" altLang="en-US" sz="1200" b="1" dirty="0">
                <a:solidFill>
                  <a:schemeClr val="bg1">
                    <a:lumMod val="10000"/>
                  </a:schemeClr>
                </a:solidFill>
                <a:latin typeface="メイリオ" panose="020B0604030504040204" pitchFamily="50" charset="-128"/>
                <a:ea typeface="メイリオ" panose="020B0604030504040204" pitchFamily="50" charset="-128"/>
              </a:rPr>
              <a:t>成長速度最大化（栽培期間最小化）で，</a:t>
            </a:r>
            <a:r>
              <a:rPr lang="ja-JP" altLang="en-US" sz="1200" dirty="0">
                <a:solidFill>
                  <a:schemeClr val="bg1">
                    <a:lumMod val="10000"/>
                  </a:schemeClr>
                </a:solidFill>
                <a:latin typeface="メイリオ" panose="020B0604030504040204" pitchFamily="50" charset="-128"/>
                <a:ea typeface="メイリオ" panose="020B0604030504040204" pitchFamily="50" charset="-128"/>
              </a:rPr>
              <a:t>成長を早めようと思ったら一番簡単なのが照明を大きく当て続けることですが，そうなると電気代が大きくなってしまうい，逆に電気代を抑えようとしすぎると成長が遅くなってしまいます．つまり成長速度最大化と電気代抑制はトレードオフの関係にあります．</a:t>
            </a:r>
            <a:endParaRPr kumimoji="1" lang="en-US" altLang="ja-JP" sz="1200" kern="1200" dirty="0">
              <a:solidFill>
                <a:schemeClr val="tx1"/>
              </a:solidFill>
              <a:effectLst/>
              <a:latin typeface="+mn-lt"/>
              <a:ea typeface="+mn-ea"/>
              <a:cs typeface="+mn-cs"/>
            </a:endParaRPr>
          </a:p>
          <a:p>
            <a:endParaRPr kumimoji="1" lang="en-US" altLang="ja-JP" sz="1200" kern="1200" dirty="0">
              <a:solidFill>
                <a:schemeClr val="tx1"/>
              </a:solidFill>
              <a:effectLst/>
              <a:latin typeface="+mn-lt"/>
              <a:ea typeface="+mn-ea"/>
              <a:cs typeface="+mn-cs"/>
            </a:endParaRPr>
          </a:p>
          <a:p>
            <a:r>
              <a:rPr kumimoji="1" lang="ja-JP" altLang="en-US" sz="1200" kern="1200" dirty="0">
                <a:solidFill>
                  <a:schemeClr val="tx1"/>
                </a:solidFill>
                <a:effectLst/>
                <a:latin typeface="+mn-lt"/>
                <a:ea typeface="+mn-ea"/>
                <a:cs typeface="+mn-cs"/>
              </a:rPr>
              <a:t>二酸化炭素（</a:t>
            </a:r>
            <a:r>
              <a:rPr kumimoji="1" lang="en-US" altLang="ja-JP" sz="1200" kern="1200" dirty="0">
                <a:solidFill>
                  <a:schemeClr val="tx1"/>
                </a:solidFill>
                <a:effectLst/>
                <a:latin typeface="+mn-lt"/>
                <a:ea typeface="+mn-ea"/>
                <a:cs typeface="+mn-cs"/>
              </a:rPr>
              <a:t>$CO_2$</a:t>
            </a:r>
            <a:r>
              <a:rPr kumimoji="1" lang="ja-JP" altLang="en-US" sz="1200" kern="1200" dirty="0">
                <a:solidFill>
                  <a:schemeClr val="tx1"/>
                </a:solidFill>
                <a:effectLst/>
                <a:latin typeface="+mn-lt"/>
                <a:ea typeface="+mn-ea"/>
                <a:cs typeface="+mn-cs"/>
              </a:rPr>
              <a:t>）</a:t>
            </a:r>
            <a:r>
              <a:rPr kumimoji="1" lang="en-US" altLang="ja-JP" sz="1200" kern="1200" dirty="0">
                <a:solidFill>
                  <a:schemeClr val="tx1"/>
                </a:solidFill>
                <a:effectLst/>
                <a:latin typeface="+mn-lt"/>
                <a:ea typeface="+mn-ea"/>
                <a:cs typeface="+mn-cs"/>
              </a:rPr>
              <a:t>1kg</a:t>
            </a:r>
            <a:r>
              <a:rPr kumimoji="1" lang="ja-JP" altLang="en-US" sz="1200" kern="1200" dirty="0">
                <a:solidFill>
                  <a:schemeClr val="tx1"/>
                </a:solidFill>
                <a:effectLst/>
                <a:latin typeface="+mn-lt"/>
                <a:ea typeface="+mn-ea"/>
                <a:cs typeface="+mn-cs"/>
              </a:rPr>
              <a:t>あたり、どれだけのバイオマス（植物の乾燥重量）が生成されるか</a:t>
            </a:r>
            <a:endParaRPr kumimoji="1" lang="en-US" altLang="ja-JP" sz="1200" kern="1200" dirty="0">
              <a:solidFill>
                <a:schemeClr val="tx1"/>
              </a:solidFill>
              <a:effectLst/>
              <a:latin typeface="+mn-lt"/>
              <a:ea typeface="+mn-ea"/>
              <a:cs typeface="+mn-cs"/>
            </a:endParaRPr>
          </a:p>
          <a:p>
            <a:r>
              <a:rPr lang="ja-JP" altLang="en-US" b="1" dirty="0"/>
              <a:t>吸によってどれだけのバイオマスが消費されるか</a:t>
            </a:r>
            <a:r>
              <a:rPr lang="ja-JP" altLang="en-US" dirty="0"/>
              <a:t>を示す割合</a:t>
            </a:r>
            <a:endParaRPr kumimoji="1" lang="ja-JP" altLang="en-US" dirty="0"/>
          </a:p>
        </p:txBody>
      </p:sp>
      <p:sp>
        <p:nvSpPr>
          <p:cNvPr id="4" name="スライド番号プレースホルダー 3"/>
          <p:cNvSpPr>
            <a:spLocks noGrp="1"/>
          </p:cNvSpPr>
          <p:nvPr>
            <p:ph type="sldNum" sz="quarter" idx="5"/>
          </p:nvPr>
        </p:nvSpPr>
        <p:spPr/>
        <p:txBody>
          <a:bodyPr/>
          <a:lstStyle/>
          <a:p>
            <a:fld id="{A34FD560-C2F5-4A03-BD23-B89685A0A44D}" type="slidenum">
              <a:rPr kumimoji="1" lang="ja-JP" altLang="en-US" smtClean="0"/>
              <a:t>5</a:t>
            </a:fld>
            <a:endParaRPr kumimoji="1" lang="ja-JP" altLang="en-US"/>
          </a:p>
        </p:txBody>
      </p:sp>
    </p:spTree>
    <p:extLst>
      <p:ext uri="{BB962C8B-B14F-4D97-AF65-F5344CB8AC3E}">
        <p14:creationId xmlns:p14="http://schemas.microsoft.com/office/powerpoint/2010/main" val="9034758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そこでその最適な入力を決める手法とて</a:t>
            </a:r>
            <a:r>
              <a:rPr kumimoji="1" lang="en-US" altLang="ja-JP" dirty="0"/>
              <a:t>MPC</a:t>
            </a:r>
            <a:r>
              <a:rPr kumimoji="1" lang="ja-JP" altLang="en-US" dirty="0"/>
              <a:t>を用いました．この</a:t>
            </a:r>
            <a:r>
              <a:rPr kumimoji="1" lang="en-US" altLang="ja-JP" dirty="0"/>
              <a:t>MPC</a:t>
            </a:r>
            <a:r>
              <a:rPr kumimoji="1" lang="ja-JP" altLang="en-US" dirty="0"/>
              <a:t>の目的は今一度言いますが</a:t>
            </a:r>
            <a:r>
              <a:rPr lang="ja-JP" altLang="en-US" sz="1200" dirty="0">
                <a:solidFill>
                  <a:schemeClr val="bg1">
                    <a:lumMod val="10000"/>
                  </a:schemeClr>
                </a:solidFill>
                <a:latin typeface="メイリオ" panose="020B0604030504040204" pitchFamily="50" charset="-128"/>
                <a:ea typeface="メイリオ" panose="020B0604030504040204" pitchFamily="50" charset="-128"/>
              </a:rPr>
              <a:t>予測区間内での</a:t>
            </a:r>
            <a:r>
              <a:rPr lang="ja-JP" altLang="en-US" sz="1200" u="sng" dirty="0">
                <a:solidFill>
                  <a:schemeClr val="bg1">
                    <a:lumMod val="10000"/>
                  </a:schemeClr>
                </a:solidFill>
                <a:latin typeface="メイリオ" panose="020B0604030504040204" pitchFamily="50" charset="-128"/>
                <a:ea typeface="メイリオ" panose="020B0604030504040204" pitchFamily="50" charset="-128"/>
              </a:rPr>
              <a:t>電気代を削減しつつ成長量を最大化</a:t>
            </a:r>
            <a:r>
              <a:rPr lang="ja-JP" altLang="en-US" sz="1200" dirty="0">
                <a:solidFill>
                  <a:schemeClr val="bg1">
                    <a:lumMod val="10000"/>
                  </a:schemeClr>
                </a:solidFill>
                <a:latin typeface="メイリオ" panose="020B0604030504040204" pitchFamily="50" charset="-128"/>
                <a:ea typeface="メイリオ" panose="020B0604030504040204" pitchFamily="50" charset="-128"/>
              </a:rPr>
              <a:t>させる制御入力の決定です．先ほどお話しした</a:t>
            </a:r>
            <a:r>
              <a:rPr lang="en-US" altLang="ja-JP" sz="1200" dirty="0">
                <a:solidFill>
                  <a:schemeClr val="bg1">
                    <a:lumMod val="10000"/>
                  </a:schemeClr>
                </a:solidFill>
                <a:latin typeface="メイリオ" panose="020B0604030504040204" pitchFamily="50" charset="-128"/>
                <a:ea typeface="メイリオ" panose="020B0604030504040204" pitchFamily="50" charset="-128"/>
              </a:rPr>
              <a:t>3</a:t>
            </a:r>
            <a:r>
              <a:rPr lang="ja-JP" altLang="en-US" sz="1200" dirty="0">
                <a:solidFill>
                  <a:schemeClr val="bg1">
                    <a:lumMod val="10000"/>
                  </a:schemeClr>
                </a:solidFill>
                <a:latin typeface="メイリオ" panose="020B0604030504040204" pitchFamily="50" charset="-128"/>
                <a:ea typeface="メイリオ" panose="020B0604030504040204" pitchFamily="50" charset="-128"/>
              </a:rPr>
              <a:t>つの項についてはこのように数式化しています．他の重みや制約条件など細かい部分については論文をご参照ください．</a:t>
            </a:r>
            <a:endParaRPr lang="en-US" altLang="ja-JP" sz="1200" dirty="0">
              <a:solidFill>
                <a:schemeClr val="bg1">
                  <a:lumMod val="10000"/>
                </a:schemeClr>
              </a:solidFill>
              <a:latin typeface="メイリオ" panose="020B0604030504040204" pitchFamily="50" charset="-128"/>
              <a:ea typeface="メイリオ" panose="020B0604030504040204" pitchFamily="50" charset="-128"/>
            </a:endParaRPr>
          </a:p>
        </p:txBody>
      </p:sp>
      <p:sp>
        <p:nvSpPr>
          <p:cNvPr id="4" name="スライド番号プレースホルダー 3"/>
          <p:cNvSpPr>
            <a:spLocks noGrp="1"/>
          </p:cNvSpPr>
          <p:nvPr>
            <p:ph type="sldNum" sz="quarter" idx="5"/>
          </p:nvPr>
        </p:nvSpPr>
        <p:spPr/>
        <p:txBody>
          <a:bodyPr/>
          <a:lstStyle/>
          <a:p>
            <a:fld id="{A34FD560-C2F5-4A03-BD23-B89685A0A44D}" type="slidenum">
              <a:rPr kumimoji="1" lang="ja-JP" altLang="en-US" smtClean="0"/>
              <a:t>6</a:t>
            </a:fld>
            <a:endParaRPr kumimoji="1" lang="ja-JP" altLang="en-US"/>
          </a:p>
        </p:txBody>
      </p:sp>
    </p:spTree>
    <p:extLst>
      <p:ext uri="{BB962C8B-B14F-4D97-AF65-F5344CB8AC3E}">
        <p14:creationId xmlns:p14="http://schemas.microsoft.com/office/powerpoint/2010/main" val="25446634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続いて数値実験の設定についてお話します．今回想定する植物工場は</a:t>
                </a:r>
                <a:r>
                  <a:rPr lang="ja-JP" altLang="en-US" sz="1200" dirty="0">
                    <a:solidFill>
                      <a:schemeClr val="bg1">
                        <a:lumMod val="10000"/>
                      </a:schemeClr>
                    </a:solidFill>
                    <a:latin typeface="メイリオ" panose="020B0604030504040204" pitchFamily="50" charset="-128"/>
                    <a:ea typeface="メイリオ" panose="020B0604030504040204" pitchFamily="50" charset="-128"/>
                  </a:rPr>
                  <a:t>体積</a:t>
                </a:r>
                <a14:m>
                  <m:oMath xmlns:m="http://schemas.openxmlformats.org/officeDocument/2006/math">
                    <m:r>
                      <a:rPr lang="en-US" altLang="ja-JP" sz="1200" b="0" i="1" smtClean="0">
                        <a:solidFill>
                          <a:schemeClr val="bg1">
                            <a:lumMod val="10000"/>
                          </a:schemeClr>
                        </a:solidFill>
                        <a:latin typeface="Cambria Math" panose="02040503050406030204" pitchFamily="18" charset="0"/>
                        <a:ea typeface="メイリオ" panose="020B0604030504040204" pitchFamily="50" charset="-128"/>
                      </a:rPr>
                      <m:t>980</m:t>
                    </m:r>
                    <m:sSup>
                      <m:sSupPr>
                        <m:ctrlPr>
                          <a:rPr lang="en-US" altLang="ja-JP" sz="1200" b="0" i="1" smtClean="0">
                            <a:solidFill>
                              <a:schemeClr val="bg1">
                                <a:lumMod val="10000"/>
                              </a:schemeClr>
                            </a:solidFill>
                            <a:latin typeface="Cambria Math" panose="02040503050406030204" pitchFamily="18" charset="0"/>
                            <a:ea typeface="メイリオ" panose="020B0604030504040204" pitchFamily="50" charset="-128"/>
                          </a:rPr>
                        </m:ctrlPr>
                      </m:sSupPr>
                      <m:e>
                        <m:r>
                          <m:rPr>
                            <m:sty m:val="p"/>
                          </m:rPr>
                          <a:rPr lang="en-US" altLang="ja-JP" sz="1200" b="0" i="0" smtClean="0">
                            <a:solidFill>
                              <a:schemeClr val="bg1">
                                <a:lumMod val="10000"/>
                              </a:schemeClr>
                            </a:solidFill>
                            <a:latin typeface="Cambria Math" panose="02040503050406030204" pitchFamily="18" charset="0"/>
                            <a:ea typeface="メイリオ" panose="020B0604030504040204" pitchFamily="50" charset="-128"/>
                          </a:rPr>
                          <m:t>m</m:t>
                        </m:r>
                      </m:e>
                      <m:sup>
                        <m:r>
                          <a:rPr lang="en-US" altLang="ja-JP" sz="1200" b="0" i="0" smtClean="0">
                            <a:solidFill>
                              <a:schemeClr val="bg1">
                                <a:lumMod val="10000"/>
                              </a:schemeClr>
                            </a:solidFill>
                            <a:latin typeface="Cambria Math" panose="02040503050406030204" pitchFamily="18" charset="0"/>
                            <a:ea typeface="メイリオ" panose="020B0604030504040204" pitchFamily="50" charset="-128"/>
                          </a:rPr>
                          <m:t>3</m:t>
                        </m:r>
                      </m:sup>
                    </m:sSup>
                  </m:oMath>
                </a14:m>
                <a:r>
                  <a:rPr lang="ja-JP" altLang="en-US" dirty="0"/>
                  <a:t>，</a:t>
                </a:r>
                <a:r>
                  <a:rPr lang="ja-JP" altLang="en-US" sz="1200" dirty="0">
                    <a:solidFill>
                      <a:schemeClr val="bg1">
                        <a:lumMod val="10000"/>
                      </a:schemeClr>
                    </a:solidFill>
                    <a:latin typeface="メイリオ" panose="020B0604030504040204" pitchFamily="50" charset="-128"/>
                    <a:ea typeface="メイリオ" panose="020B0604030504040204" pitchFamily="50" charset="-128"/>
                  </a:rPr>
                  <a:t>栽培面積</a:t>
                </a:r>
                <a14:m>
                  <m:oMath xmlns:m="http://schemas.openxmlformats.org/officeDocument/2006/math">
                    <m:r>
                      <a:rPr lang="en-US" altLang="ja-JP" sz="1200" i="1" dirty="0" smtClean="0">
                        <a:solidFill>
                          <a:schemeClr val="bg1">
                            <a:lumMod val="10000"/>
                          </a:schemeClr>
                        </a:solidFill>
                        <a:latin typeface="Cambria Math" panose="02040503050406030204" pitchFamily="18" charset="0"/>
                        <a:ea typeface="メイリオ" panose="020B0604030504040204" pitchFamily="50" charset="-128"/>
                      </a:rPr>
                      <m:t>2</m:t>
                    </m:r>
                    <m:r>
                      <a:rPr lang="en-US" altLang="ja-JP" sz="1200" b="0" i="1" dirty="0" smtClean="0">
                        <a:solidFill>
                          <a:schemeClr val="bg1">
                            <a:lumMod val="10000"/>
                          </a:schemeClr>
                        </a:solidFill>
                        <a:latin typeface="Cambria Math" panose="02040503050406030204" pitchFamily="18" charset="0"/>
                        <a:ea typeface="メイリオ" panose="020B0604030504040204" pitchFamily="50" charset="-128"/>
                      </a:rPr>
                      <m:t>00</m:t>
                    </m:r>
                    <m:sSup>
                      <m:sSupPr>
                        <m:ctrlPr>
                          <a:rPr lang="en-US" altLang="ja-JP" sz="1200" i="1">
                            <a:solidFill>
                              <a:schemeClr val="bg1">
                                <a:lumMod val="10000"/>
                              </a:schemeClr>
                            </a:solidFill>
                            <a:latin typeface="Cambria Math" panose="02040503050406030204" pitchFamily="18" charset="0"/>
                            <a:ea typeface="メイリオ" panose="020B0604030504040204" pitchFamily="50" charset="-128"/>
                          </a:rPr>
                        </m:ctrlPr>
                      </m:sSupPr>
                      <m:e>
                        <m:r>
                          <m:rPr>
                            <m:sty m:val="p"/>
                          </m:rPr>
                          <a:rPr lang="en-US" altLang="ja-JP" sz="1200">
                            <a:solidFill>
                              <a:schemeClr val="bg1">
                                <a:lumMod val="10000"/>
                              </a:schemeClr>
                            </a:solidFill>
                            <a:latin typeface="Cambria Math" panose="02040503050406030204" pitchFamily="18" charset="0"/>
                            <a:ea typeface="メイリオ" panose="020B0604030504040204" pitchFamily="50" charset="-128"/>
                          </a:rPr>
                          <m:t>m</m:t>
                        </m:r>
                      </m:e>
                      <m:sup>
                        <m:r>
                          <a:rPr lang="en-US" altLang="ja-JP" sz="1200" b="0" i="0" smtClean="0">
                            <a:solidFill>
                              <a:schemeClr val="bg1">
                                <a:lumMod val="10000"/>
                              </a:schemeClr>
                            </a:solidFill>
                            <a:latin typeface="Cambria Math" panose="02040503050406030204" pitchFamily="18" charset="0"/>
                            <a:ea typeface="メイリオ" panose="020B0604030504040204" pitchFamily="50" charset="-128"/>
                          </a:rPr>
                          <m:t>2</m:t>
                        </m:r>
                      </m:sup>
                    </m:sSup>
                  </m:oMath>
                </a14:m>
                <a:r>
                  <a:rPr lang="ja-JP" altLang="en-US" dirty="0"/>
                  <a:t>の植物工場で，これは学校の</a:t>
                </a:r>
                <a:r>
                  <a:rPr lang="en-US" altLang="ja-JP" dirty="0"/>
                  <a:t>25m</a:t>
                </a:r>
                <a:r>
                  <a:rPr lang="ja-JP" altLang="en-US" dirty="0"/>
                  <a:t>プールくらいの大きさのものとなっています．そしてこの後便益を計算するにあたり，電気代を使いますが，その電気代は</a:t>
                </a:r>
                <a:r>
                  <a:rPr lang="ja-JP" altLang="en-US" sz="1200" dirty="0">
                    <a:solidFill>
                      <a:schemeClr val="bg1">
                        <a:lumMod val="10000"/>
                      </a:schemeClr>
                    </a:solidFill>
                    <a:latin typeface="メイリオ" panose="020B0604030504040204" pitchFamily="50" charset="-128"/>
                    <a:ea typeface="メイリオ" panose="020B0604030504040204" pitchFamily="50" charset="-128"/>
                  </a:rPr>
                  <a:t>東京電力で高圧での契約の場合を参照し，</a:t>
                </a:r>
                <a:r>
                  <a:rPr lang="en-US" altLang="ja-JP" sz="1200" dirty="0">
                    <a:solidFill>
                      <a:schemeClr val="bg1">
                        <a:lumMod val="10000"/>
                      </a:schemeClr>
                    </a:solidFill>
                    <a:latin typeface="メイリオ" panose="020B0604030504040204" pitchFamily="50" charset="-128"/>
                    <a:ea typeface="メイリオ" panose="020B0604030504040204" pitchFamily="50" charset="-128"/>
                  </a:rPr>
                  <a:t>17</a:t>
                </a:r>
                <a:r>
                  <a:rPr lang="ja-JP" altLang="en-US" sz="1200" dirty="0">
                    <a:solidFill>
                      <a:schemeClr val="bg1">
                        <a:lumMod val="10000"/>
                      </a:schemeClr>
                    </a:solidFill>
                    <a:latin typeface="メイリオ" panose="020B0604030504040204" pitchFamily="50" charset="-128"/>
                    <a:ea typeface="メイリオ" panose="020B0604030504040204" pitchFamily="50" charset="-128"/>
                  </a:rPr>
                  <a:t>円</a:t>
                </a:r>
                <a:r>
                  <a:rPr lang="en-US" altLang="ja-JP" sz="1200" dirty="0">
                    <a:solidFill>
                      <a:schemeClr val="bg1">
                        <a:lumMod val="10000"/>
                      </a:schemeClr>
                    </a:solidFill>
                    <a:latin typeface="メイリオ" panose="020B0604030504040204" pitchFamily="50" charset="-128"/>
                    <a:ea typeface="メイリオ" panose="020B0604030504040204" pitchFamily="50" charset="-128"/>
                  </a:rPr>
                  <a:t>/kWh</a:t>
                </a:r>
                <a:r>
                  <a:rPr lang="ja-JP" altLang="en-US" sz="1200" dirty="0">
                    <a:solidFill>
                      <a:schemeClr val="bg1">
                        <a:lumMod val="10000"/>
                      </a:schemeClr>
                    </a:solidFill>
                    <a:latin typeface="メイリオ" panose="020B0604030504040204" pitchFamily="50" charset="-128"/>
                    <a:ea typeface="メイリオ" panose="020B0604030504040204" pitchFamily="50" charset="-128"/>
                  </a:rPr>
                  <a:t>としています．制御周期は</a:t>
                </a:r>
                <a:r>
                  <a:rPr lang="en-US" altLang="ja-JP" sz="1200" dirty="0">
                    <a:solidFill>
                      <a:schemeClr val="bg1">
                        <a:lumMod val="10000"/>
                      </a:schemeClr>
                    </a:solidFill>
                    <a:latin typeface="メイリオ" panose="020B0604030504040204" pitchFamily="50" charset="-128"/>
                    <a:ea typeface="メイリオ" panose="020B0604030504040204" pitchFamily="50" charset="-128"/>
                  </a:rPr>
                  <a:t>600s(10</a:t>
                </a:r>
                <a:r>
                  <a:rPr lang="ja-JP" altLang="en-US" sz="1200" dirty="0">
                    <a:solidFill>
                      <a:schemeClr val="bg1">
                        <a:lumMod val="10000"/>
                      </a:schemeClr>
                    </a:solidFill>
                    <a:latin typeface="メイリオ" panose="020B0604030504040204" pitchFamily="50" charset="-128"/>
                    <a:ea typeface="メイリオ" panose="020B0604030504040204" pitchFamily="50" charset="-128"/>
                  </a:rPr>
                  <a:t>分</a:t>
                </a:r>
                <a:r>
                  <a:rPr lang="en-US" altLang="ja-JP" sz="1200" dirty="0">
                    <a:solidFill>
                      <a:schemeClr val="bg1">
                        <a:lumMod val="10000"/>
                      </a:schemeClr>
                    </a:solidFill>
                    <a:latin typeface="メイリオ" panose="020B0604030504040204" pitchFamily="50" charset="-128"/>
                    <a:ea typeface="メイリオ" panose="020B0604030504040204" pitchFamily="50" charset="-128"/>
                  </a:rPr>
                  <a:t>)</a:t>
                </a:r>
                <a:r>
                  <a:rPr lang="ja-JP" altLang="en-US" sz="1200" dirty="0">
                    <a:solidFill>
                      <a:schemeClr val="bg1">
                        <a:lumMod val="10000"/>
                      </a:schemeClr>
                    </a:solidFill>
                    <a:latin typeface="メイリオ" panose="020B0604030504040204" pitchFamily="50" charset="-128"/>
                    <a:ea typeface="メイリオ" panose="020B0604030504040204" pitchFamily="50" charset="-128"/>
                  </a:rPr>
                  <a:t>で，予測ホライズンは</a:t>
                </a:r>
                <a:r>
                  <a:rPr lang="en-US" altLang="ja-JP" sz="1200" dirty="0">
                    <a:solidFill>
                      <a:schemeClr val="bg1">
                        <a:lumMod val="10000"/>
                      </a:schemeClr>
                    </a:solidFill>
                    <a:latin typeface="メイリオ" panose="020B0604030504040204" pitchFamily="50" charset="-128"/>
                    <a:ea typeface="メイリオ" panose="020B0604030504040204" pitchFamily="50" charset="-128"/>
                  </a:rPr>
                  <a:t>6</a:t>
                </a:r>
                <a:r>
                  <a:rPr lang="ja-JP" altLang="en-US" sz="1200" dirty="0">
                    <a:solidFill>
                      <a:schemeClr val="bg1">
                        <a:lumMod val="10000"/>
                      </a:schemeClr>
                    </a:solidFill>
                    <a:latin typeface="メイリオ" panose="020B0604030504040204" pitchFamily="50" charset="-128"/>
                    <a:ea typeface="メイリオ" panose="020B0604030504040204" pitchFamily="50" charset="-128"/>
                  </a:rPr>
                  <a:t>時間としています．またソルバーとして</a:t>
                </a:r>
                <a:r>
                  <a:rPr lang="en-US" altLang="ja-JP" sz="1200" dirty="0">
                    <a:solidFill>
                      <a:schemeClr val="bg1">
                        <a:lumMod val="10000"/>
                      </a:schemeClr>
                    </a:solidFill>
                    <a:latin typeface="メイリオ" panose="020B0604030504040204" pitchFamily="50" charset="-128"/>
                    <a:ea typeface="メイリオ" panose="020B0604030504040204" pitchFamily="50" charset="-128"/>
                  </a:rPr>
                  <a:t>IPOPT</a:t>
                </a:r>
                <a:r>
                  <a:rPr lang="ja-JP" altLang="en-US" sz="1200" dirty="0">
                    <a:solidFill>
                      <a:schemeClr val="bg1">
                        <a:lumMod val="10000"/>
                      </a:schemeClr>
                    </a:solidFill>
                    <a:latin typeface="メイリオ" panose="020B0604030504040204" pitchFamily="50" charset="-128"/>
                    <a:ea typeface="メイリオ" panose="020B0604030504040204" pitchFamily="50" charset="-128"/>
                  </a:rPr>
                  <a:t>を用いました．乾燥重量の初期値は</a:t>
                </a:r>
                <a:r>
                  <a:rPr lang="en-US" altLang="ja-JP" sz="1200" dirty="0">
                    <a:solidFill>
                      <a:schemeClr val="bg1">
                        <a:lumMod val="10000"/>
                      </a:schemeClr>
                    </a:solidFill>
                    <a:latin typeface="メイリオ" panose="020B0604030504040204" pitchFamily="50" charset="-128"/>
                    <a:ea typeface="メイリオ" panose="020B0604030504040204" pitchFamily="50" charset="-128"/>
                  </a:rPr>
                  <a:t>0.03</a:t>
                </a:r>
                <a14:m>
                  <m:oMath xmlns:m="http://schemas.openxmlformats.org/officeDocument/2006/math">
                    <m:r>
                      <m:rPr>
                        <m:sty m:val="p"/>
                      </m:rPr>
                      <a:rPr lang="en-US" altLang="ja-JP" sz="1200" b="0" i="0" dirty="0" smtClean="0">
                        <a:solidFill>
                          <a:schemeClr val="bg1">
                            <a:lumMod val="10000"/>
                          </a:schemeClr>
                        </a:solidFill>
                        <a:latin typeface="Cambria Math" panose="02040503050406030204" pitchFamily="18" charset="0"/>
                        <a:ea typeface="Cambria Math" panose="02040503050406030204" pitchFamily="18" charset="0"/>
                      </a:rPr>
                      <m:t>kg</m:t>
                    </m:r>
                    <m:r>
                      <a:rPr lang="en-US" altLang="ja-JP" sz="1200" b="0" i="0" dirty="0" smtClean="0">
                        <a:solidFill>
                          <a:schemeClr val="bg1">
                            <a:lumMod val="10000"/>
                          </a:schemeClr>
                        </a:solidFill>
                        <a:latin typeface="Cambria Math" panose="02040503050406030204" pitchFamily="18" charset="0"/>
                        <a:ea typeface="Cambria Math" panose="02040503050406030204" pitchFamily="18" charset="0"/>
                      </a:rPr>
                      <m:t>∙</m:t>
                    </m:r>
                    <m:sSup>
                      <m:sSupPr>
                        <m:ctrlPr>
                          <a:rPr lang="en-US" altLang="ja-JP" sz="1200" b="0" i="1" dirty="0" smtClean="0">
                            <a:solidFill>
                              <a:schemeClr val="bg1">
                                <a:lumMod val="10000"/>
                              </a:schemeClr>
                            </a:solidFill>
                            <a:latin typeface="Cambria Math" panose="02040503050406030204" pitchFamily="18" charset="0"/>
                            <a:ea typeface="Cambria Math" panose="02040503050406030204" pitchFamily="18" charset="0"/>
                          </a:rPr>
                        </m:ctrlPr>
                      </m:sSupPr>
                      <m:e>
                        <m:r>
                          <m:rPr>
                            <m:sty m:val="p"/>
                          </m:rPr>
                          <a:rPr lang="en-US" altLang="ja-JP" sz="1200" b="0" i="0" dirty="0" smtClean="0">
                            <a:solidFill>
                              <a:schemeClr val="bg1">
                                <a:lumMod val="10000"/>
                              </a:schemeClr>
                            </a:solidFill>
                            <a:latin typeface="Cambria Math" panose="02040503050406030204" pitchFamily="18" charset="0"/>
                            <a:ea typeface="Cambria Math" panose="02040503050406030204" pitchFamily="18" charset="0"/>
                          </a:rPr>
                          <m:t>m</m:t>
                        </m:r>
                      </m:e>
                      <m:sup>
                        <m:r>
                          <a:rPr lang="en-US" altLang="ja-JP" sz="1200" b="0" i="0" dirty="0" smtClean="0">
                            <a:solidFill>
                              <a:schemeClr val="bg1">
                                <a:lumMod val="10000"/>
                              </a:schemeClr>
                            </a:solidFill>
                            <a:latin typeface="Cambria Math" panose="02040503050406030204" pitchFamily="18" charset="0"/>
                            <a:ea typeface="Cambria Math" panose="02040503050406030204" pitchFamily="18" charset="0"/>
                          </a:rPr>
                          <m:t>−2</m:t>
                        </m:r>
                      </m:sup>
                    </m:sSup>
                  </m:oMath>
                </a14:m>
                <a:r>
                  <a:rPr lang="ja-JP" altLang="en-US" dirty="0"/>
                  <a:t>とし，</a:t>
                </a:r>
                <a:r>
                  <a:rPr lang="en-US" altLang="ja-JP" sz="1200" dirty="0">
                    <a:solidFill>
                      <a:schemeClr val="bg1">
                        <a:lumMod val="10000"/>
                      </a:schemeClr>
                    </a:solidFill>
                    <a:latin typeface="メイリオ" panose="020B0604030504040204" pitchFamily="50" charset="-128"/>
                    <a:ea typeface="メイリオ" panose="020B0604030504040204" pitchFamily="50" charset="-128"/>
                  </a:rPr>
                  <a:t>3</a:t>
                </a:r>
                <a14:m>
                  <m:oMath xmlns:m="http://schemas.openxmlformats.org/officeDocument/2006/math">
                    <m:r>
                      <m:rPr>
                        <m:sty m:val="p"/>
                      </m:rPr>
                      <a:rPr lang="en-US" altLang="ja-JP" sz="1200" dirty="0">
                        <a:solidFill>
                          <a:schemeClr val="bg1">
                            <a:lumMod val="10000"/>
                          </a:schemeClr>
                        </a:solidFill>
                        <a:latin typeface="Cambria Math" panose="02040503050406030204" pitchFamily="18" charset="0"/>
                        <a:ea typeface="Cambria Math" panose="02040503050406030204" pitchFamily="18" charset="0"/>
                      </a:rPr>
                      <m:t>kg</m:t>
                    </m:r>
                    <m:r>
                      <a:rPr lang="en-US" altLang="ja-JP" sz="1200" dirty="0">
                        <a:solidFill>
                          <a:schemeClr val="bg1">
                            <a:lumMod val="10000"/>
                          </a:schemeClr>
                        </a:solidFill>
                        <a:latin typeface="Cambria Math" panose="02040503050406030204" pitchFamily="18" charset="0"/>
                        <a:ea typeface="Cambria Math" panose="02040503050406030204" pitchFamily="18" charset="0"/>
                      </a:rPr>
                      <m:t>∙</m:t>
                    </m:r>
                    <m:sSup>
                      <m:sSupPr>
                        <m:ctrlPr>
                          <a:rPr lang="en-US" altLang="ja-JP" sz="1200" i="1" dirty="0">
                            <a:solidFill>
                              <a:schemeClr val="bg1">
                                <a:lumMod val="10000"/>
                              </a:schemeClr>
                            </a:solidFill>
                            <a:latin typeface="Cambria Math" panose="02040503050406030204" pitchFamily="18" charset="0"/>
                            <a:ea typeface="Cambria Math" panose="02040503050406030204" pitchFamily="18" charset="0"/>
                          </a:rPr>
                        </m:ctrlPr>
                      </m:sSupPr>
                      <m:e>
                        <m:r>
                          <m:rPr>
                            <m:sty m:val="p"/>
                          </m:rPr>
                          <a:rPr lang="en-US" altLang="ja-JP" sz="1200" dirty="0">
                            <a:solidFill>
                              <a:schemeClr val="bg1">
                                <a:lumMod val="10000"/>
                              </a:schemeClr>
                            </a:solidFill>
                            <a:latin typeface="Cambria Math" panose="02040503050406030204" pitchFamily="18" charset="0"/>
                            <a:ea typeface="Cambria Math" panose="02040503050406030204" pitchFamily="18" charset="0"/>
                          </a:rPr>
                          <m:t>m</m:t>
                        </m:r>
                      </m:e>
                      <m:sup>
                        <m:r>
                          <a:rPr lang="en-US" altLang="ja-JP" sz="1200" dirty="0">
                            <a:solidFill>
                              <a:schemeClr val="bg1">
                                <a:lumMod val="10000"/>
                              </a:schemeClr>
                            </a:solidFill>
                            <a:latin typeface="Cambria Math" panose="02040503050406030204" pitchFamily="18" charset="0"/>
                            <a:ea typeface="Cambria Math" panose="02040503050406030204" pitchFamily="18" charset="0"/>
                          </a:rPr>
                          <m:t>−2</m:t>
                        </m:r>
                      </m:sup>
                    </m:sSup>
                  </m:oMath>
                </a14:m>
                <a:r>
                  <a:rPr lang="ja-JP" altLang="en-US" sz="1200" dirty="0">
                    <a:solidFill>
                      <a:schemeClr val="bg1">
                        <a:lumMod val="10000"/>
                      </a:schemeClr>
                    </a:solidFill>
                    <a:latin typeface="メイリオ" panose="020B0604030504040204" pitchFamily="50" charset="-128"/>
                    <a:ea typeface="メイリオ" panose="020B0604030504040204" pitchFamily="50" charset="-128"/>
                  </a:rPr>
                  <a:t>となったところで収穫することとし，実験終了とします．さらに細かい設定などは論文をご参照ください．そしてこれらの設定で</a:t>
                </a:r>
                <a:r>
                  <a:rPr lang="ja-JP" altLang="en-US" sz="1200" u="sng" dirty="0">
                    <a:solidFill>
                      <a:schemeClr val="bg1">
                        <a:lumMod val="10000"/>
                      </a:schemeClr>
                    </a:solidFill>
                    <a:latin typeface="メイリオ" panose="020B0604030504040204" pitchFamily="50" charset="-128"/>
                    <a:ea typeface="メイリオ" panose="020B0604030504040204" pitchFamily="50" charset="-128"/>
                  </a:rPr>
                  <a:t>外気の平均気温が平均</a:t>
                </a:r>
                <a:r>
                  <a:rPr lang="en-US" altLang="ja-JP" sz="1200" u="sng" dirty="0">
                    <a:solidFill>
                      <a:schemeClr val="bg1">
                        <a:lumMod val="10000"/>
                      </a:schemeClr>
                    </a:solidFill>
                    <a:latin typeface="メイリオ" panose="020B0604030504040204" pitchFamily="50" charset="-128"/>
                    <a:ea typeface="メイリオ" panose="020B0604030504040204" pitchFamily="50" charset="-128"/>
                  </a:rPr>
                  <a:t>15</a:t>
                </a:r>
                <a:r>
                  <a:rPr lang="ja-JP" altLang="en-US" sz="1200" u="sng" dirty="0">
                    <a:solidFill>
                      <a:schemeClr val="bg1">
                        <a:lumMod val="10000"/>
                      </a:schemeClr>
                    </a:solidFill>
                    <a:latin typeface="メイリオ" panose="020B0604030504040204" pitchFamily="50" charset="-128"/>
                    <a:ea typeface="メイリオ" panose="020B0604030504040204" pitchFamily="50" charset="-128"/>
                  </a:rPr>
                  <a:t>℃、平均</a:t>
                </a:r>
                <a:r>
                  <a:rPr lang="en-US" altLang="ja-JP" sz="1200" u="sng" dirty="0">
                    <a:solidFill>
                      <a:schemeClr val="bg1">
                        <a:lumMod val="10000"/>
                      </a:schemeClr>
                    </a:solidFill>
                    <a:latin typeface="メイリオ" panose="020B0604030504040204" pitchFamily="50" charset="-128"/>
                    <a:ea typeface="メイリオ" panose="020B0604030504040204" pitchFamily="50" charset="-128"/>
                  </a:rPr>
                  <a:t>6</a:t>
                </a:r>
                <a:r>
                  <a:rPr lang="ja-JP" altLang="en-US" sz="1200" u="sng" dirty="0">
                    <a:solidFill>
                      <a:schemeClr val="bg1">
                        <a:lumMod val="10000"/>
                      </a:schemeClr>
                    </a:solidFill>
                    <a:latin typeface="メイリオ" panose="020B0604030504040204" pitchFamily="50" charset="-128"/>
                    <a:ea typeface="メイリオ" panose="020B0604030504040204" pitchFamily="50" charset="-128"/>
                  </a:rPr>
                  <a:t>℃、平均</a:t>
                </a:r>
                <a:r>
                  <a:rPr lang="en-US" altLang="ja-JP" sz="1200" u="sng" dirty="0">
                    <a:solidFill>
                      <a:schemeClr val="bg1">
                        <a:lumMod val="10000"/>
                      </a:schemeClr>
                    </a:solidFill>
                    <a:latin typeface="メイリオ" panose="020B0604030504040204" pitchFamily="50" charset="-128"/>
                    <a:ea typeface="メイリオ" panose="020B0604030504040204" pitchFamily="50" charset="-128"/>
                  </a:rPr>
                  <a:t>30</a:t>
                </a:r>
                <a:r>
                  <a:rPr lang="ja-JP" altLang="en-US" sz="1200" u="sng" dirty="0">
                    <a:solidFill>
                      <a:schemeClr val="bg1">
                        <a:lumMod val="10000"/>
                      </a:schemeClr>
                    </a:solidFill>
                    <a:latin typeface="メイリオ" panose="020B0604030504040204" pitchFamily="50" charset="-128"/>
                    <a:ea typeface="メイリオ" panose="020B0604030504040204" pitchFamily="50" charset="-128"/>
                  </a:rPr>
                  <a:t>℃それぞれの場合で実験を行います．　</a:t>
                </a:r>
                <a:r>
                  <a:rPr lang="en-US" altLang="ja-JP" sz="1200" u="sng" dirty="0">
                    <a:solidFill>
                      <a:schemeClr val="bg1">
                        <a:lumMod val="10000"/>
                      </a:schemeClr>
                    </a:solidFill>
                    <a:latin typeface="メイリオ" panose="020B0604030504040204" pitchFamily="50" charset="-128"/>
                    <a:ea typeface="メイリオ" panose="020B0604030504040204" pitchFamily="50" charset="-128"/>
                  </a:rPr>
                  <a:t>1</a:t>
                </a:r>
                <a:r>
                  <a:rPr lang="ja-JP" altLang="en-US" sz="1200" u="sng" dirty="0">
                    <a:solidFill>
                      <a:schemeClr val="bg1">
                        <a:lumMod val="10000"/>
                      </a:schemeClr>
                    </a:solidFill>
                    <a:latin typeface="メイリオ" panose="020B0604030504040204" pitchFamily="50" charset="-128"/>
                    <a:ea typeface="メイリオ" panose="020B0604030504040204" pitchFamily="50" charset="-128"/>
                  </a:rPr>
                  <a:t>分くらい</a:t>
                </a:r>
                <a:endParaRPr lang="en-US" altLang="ja-JP" dirty="0"/>
              </a:p>
              <a:p>
                <a:endParaRPr lang="en-US" altLang="ja-JP" dirty="0"/>
              </a:p>
              <a:p>
                <a:r>
                  <a:rPr lang="ja-JP" altLang="en-US" dirty="0"/>
                  <a:t>植物の成長モデル自体を単位面積あたりで構築しておくことで、栽培面積パラメータ </a:t>
                </a:r>
                <a:r>
                  <a:rPr lang="en-US" altLang="ja-JP" dirty="0"/>
                  <a:t>(</a:t>
                </a:r>
                <a:r>
                  <a:rPr kumimoji="1" lang="en-US" altLang="ja-JP" sz="1200" kern="1200" dirty="0">
                    <a:solidFill>
                      <a:schemeClr val="tx1"/>
                    </a:solidFill>
                    <a:effectLst/>
                    <a:latin typeface="+mn-lt"/>
                    <a:ea typeface="+mn-ea"/>
                    <a:cs typeface="+mn-cs"/>
                  </a:rPr>
                  <a:t>$A_{med}$</a:t>
                </a:r>
                <a:r>
                  <a:rPr lang="en-US" altLang="ja-JP" dirty="0"/>
                  <a:t>) </a:t>
                </a:r>
                <a:r>
                  <a:rPr lang="ja-JP" altLang="en-US" dirty="0"/>
                  <a:t>を変更するだけで、実験室レベルから大規模倉庫レベルまで、</a:t>
                </a:r>
                <a:r>
                  <a:rPr kumimoji="1" lang="ja-JP" altLang="en-US" sz="1200" b="1" kern="1200" dirty="0">
                    <a:solidFill>
                      <a:schemeClr val="tx1"/>
                    </a:solidFill>
                    <a:effectLst/>
                    <a:latin typeface="+mn-lt"/>
                    <a:ea typeface="+mn-ea"/>
                    <a:cs typeface="+mn-cs"/>
                  </a:rPr>
                  <a:t>数式を変更することなくシミュレーションを適用できる</a:t>
                </a:r>
                <a:r>
                  <a:rPr lang="ja-JP" altLang="en-US" dirty="0"/>
                  <a:t>からです。 また、入力となる光強度も面積あたりの物理量であるため、整合性が取れます</a:t>
                </a:r>
                <a:endParaRPr kumimoji="1" lang="ja-JP" altLang="en-US" dirty="0"/>
              </a:p>
            </p:txBody>
          </p:sp>
        </mc:Choice>
        <mc:Fallback xmlns="">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続いて数値実験の設定についてお話します．今回想定する植物工場は</a:t>
                </a:r>
                <a:r>
                  <a:rPr lang="ja-JP" altLang="en-US" sz="1200" dirty="0">
                    <a:solidFill>
                      <a:schemeClr val="bg1">
                        <a:lumMod val="10000"/>
                      </a:schemeClr>
                    </a:solidFill>
                    <a:latin typeface="メイリオ" panose="020B0604030504040204" pitchFamily="50" charset="-128"/>
                    <a:ea typeface="メイリオ" panose="020B0604030504040204" pitchFamily="50" charset="-128"/>
                  </a:rPr>
                  <a:t>体積</a:t>
                </a:r>
                <a:r>
                  <a:rPr lang="en-US" altLang="ja-JP" sz="1200" b="0" i="0">
                    <a:solidFill>
                      <a:schemeClr val="bg1">
                        <a:lumMod val="10000"/>
                      </a:schemeClr>
                    </a:solidFill>
                    <a:latin typeface="Cambria Math" panose="02040503050406030204" pitchFamily="18" charset="0"/>
                    <a:ea typeface="メイリオ" panose="020B0604030504040204" pitchFamily="50" charset="-128"/>
                  </a:rPr>
                  <a:t>980m^3</a:t>
                </a:r>
                <a:r>
                  <a:rPr lang="ja-JP" altLang="en-US" dirty="0"/>
                  <a:t>，</a:t>
                </a:r>
                <a:r>
                  <a:rPr lang="ja-JP" altLang="en-US" sz="1200" dirty="0">
                    <a:solidFill>
                      <a:schemeClr val="bg1">
                        <a:lumMod val="10000"/>
                      </a:schemeClr>
                    </a:solidFill>
                    <a:latin typeface="メイリオ" panose="020B0604030504040204" pitchFamily="50" charset="-128"/>
                    <a:ea typeface="メイリオ" panose="020B0604030504040204" pitchFamily="50" charset="-128"/>
                  </a:rPr>
                  <a:t>栽培面積</a:t>
                </a:r>
                <a:r>
                  <a:rPr lang="en-US" altLang="ja-JP" sz="1200" i="0" dirty="0">
                    <a:solidFill>
                      <a:schemeClr val="bg1">
                        <a:lumMod val="10000"/>
                      </a:schemeClr>
                    </a:solidFill>
                    <a:latin typeface="Cambria Math" panose="02040503050406030204" pitchFamily="18" charset="0"/>
                    <a:ea typeface="メイリオ" panose="020B0604030504040204" pitchFamily="50" charset="-128"/>
                  </a:rPr>
                  <a:t>2</a:t>
                </a:r>
                <a:r>
                  <a:rPr lang="en-US" altLang="ja-JP" sz="1200" b="0" i="0" dirty="0">
                    <a:solidFill>
                      <a:schemeClr val="bg1">
                        <a:lumMod val="10000"/>
                      </a:schemeClr>
                    </a:solidFill>
                    <a:latin typeface="Cambria Math" panose="02040503050406030204" pitchFamily="18" charset="0"/>
                    <a:ea typeface="メイリオ" panose="020B0604030504040204" pitchFamily="50" charset="-128"/>
                  </a:rPr>
                  <a:t>00</a:t>
                </a:r>
                <a:r>
                  <a:rPr lang="en-US" altLang="ja-JP" sz="1200" i="0">
                    <a:solidFill>
                      <a:schemeClr val="bg1">
                        <a:lumMod val="10000"/>
                      </a:schemeClr>
                    </a:solidFill>
                    <a:latin typeface="Cambria Math" panose="02040503050406030204" pitchFamily="18" charset="0"/>
                    <a:ea typeface="メイリオ" panose="020B0604030504040204" pitchFamily="50" charset="-128"/>
                  </a:rPr>
                  <a:t>m^</a:t>
                </a:r>
                <a:r>
                  <a:rPr lang="en-US" altLang="ja-JP" sz="1200" b="0" i="0">
                    <a:solidFill>
                      <a:schemeClr val="bg1">
                        <a:lumMod val="10000"/>
                      </a:schemeClr>
                    </a:solidFill>
                    <a:latin typeface="Cambria Math" panose="02040503050406030204" pitchFamily="18" charset="0"/>
                    <a:ea typeface="メイリオ" panose="020B0604030504040204" pitchFamily="50" charset="-128"/>
                  </a:rPr>
                  <a:t>2</a:t>
                </a:r>
                <a:r>
                  <a:rPr lang="ja-JP" altLang="en-US" dirty="0"/>
                  <a:t>の植物工場で，これは学校の</a:t>
                </a:r>
                <a:r>
                  <a:rPr lang="en-US" altLang="ja-JP" dirty="0"/>
                  <a:t>25m</a:t>
                </a:r>
                <a:r>
                  <a:rPr lang="ja-JP" altLang="en-US" dirty="0"/>
                  <a:t>プールくらいの大きさのものとなっています．そしてこの後便益を計算するにあたり，電気代を使いますが，その電気代は</a:t>
                </a:r>
                <a:r>
                  <a:rPr lang="ja-JP" altLang="en-US" sz="1200" dirty="0">
                    <a:solidFill>
                      <a:schemeClr val="bg1">
                        <a:lumMod val="10000"/>
                      </a:schemeClr>
                    </a:solidFill>
                    <a:latin typeface="メイリオ" panose="020B0604030504040204" pitchFamily="50" charset="-128"/>
                    <a:ea typeface="メイリオ" panose="020B0604030504040204" pitchFamily="50" charset="-128"/>
                  </a:rPr>
                  <a:t>東京電力で高圧での契約の場合を参照し，</a:t>
                </a:r>
                <a:r>
                  <a:rPr lang="en-US" altLang="ja-JP" sz="1200" dirty="0">
                    <a:solidFill>
                      <a:schemeClr val="bg1">
                        <a:lumMod val="10000"/>
                      </a:schemeClr>
                    </a:solidFill>
                    <a:latin typeface="メイリオ" panose="020B0604030504040204" pitchFamily="50" charset="-128"/>
                    <a:ea typeface="メイリオ" panose="020B0604030504040204" pitchFamily="50" charset="-128"/>
                  </a:rPr>
                  <a:t>17</a:t>
                </a:r>
                <a:r>
                  <a:rPr lang="ja-JP" altLang="en-US" sz="1200" dirty="0">
                    <a:solidFill>
                      <a:schemeClr val="bg1">
                        <a:lumMod val="10000"/>
                      </a:schemeClr>
                    </a:solidFill>
                    <a:latin typeface="メイリオ" panose="020B0604030504040204" pitchFamily="50" charset="-128"/>
                    <a:ea typeface="メイリオ" panose="020B0604030504040204" pitchFamily="50" charset="-128"/>
                  </a:rPr>
                  <a:t>円</a:t>
                </a:r>
                <a:r>
                  <a:rPr lang="en-US" altLang="ja-JP" sz="1200" dirty="0">
                    <a:solidFill>
                      <a:schemeClr val="bg1">
                        <a:lumMod val="10000"/>
                      </a:schemeClr>
                    </a:solidFill>
                    <a:latin typeface="メイリオ" panose="020B0604030504040204" pitchFamily="50" charset="-128"/>
                    <a:ea typeface="メイリオ" panose="020B0604030504040204" pitchFamily="50" charset="-128"/>
                  </a:rPr>
                  <a:t>/kWh</a:t>
                </a:r>
                <a:r>
                  <a:rPr lang="ja-JP" altLang="en-US" sz="1200" dirty="0">
                    <a:solidFill>
                      <a:schemeClr val="bg1">
                        <a:lumMod val="10000"/>
                      </a:schemeClr>
                    </a:solidFill>
                    <a:latin typeface="メイリオ" panose="020B0604030504040204" pitchFamily="50" charset="-128"/>
                    <a:ea typeface="メイリオ" panose="020B0604030504040204" pitchFamily="50" charset="-128"/>
                  </a:rPr>
                  <a:t>としています．制御周期は</a:t>
                </a:r>
                <a:r>
                  <a:rPr lang="en-US" altLang="ja-JP" sz="1200" dirty="0">
                    <a:solidFill>
                      <a:schemeClr val="bg1">
                        <a:lumMod val="10000"/>
                      </a:schemeClr>
                    </a:solidFill>
                    <a:latin typeface="メイリオ" panose="020B0604030504040204" pitchFamily="50" charset="-128"/>
                    <a:ea typeface="メイリオ" panose="020B0604030504040204" pitchFamily="50" charset="-128"/>
                  </a:rPr>
                  <a:t>600s(10</a:t>
                </a:r>
                <a:r>
                  <a:rPr lang="ja-JP" altLang="en-US" sz="1200" dirty="0">
                    <a:solidFill>
                      <a:schemeClr val="bg1">
                        <a:lumMod val="10000"/>
                      </a:schemeClr>
                    </a:solidFill>
                    <a:latin typeface="メイリオ" panose="020B0604030504040204" pitchFamily="50" charset="-128"/>
                    <a:ea typeface="メイリオ" panose="020B0604030504040204" pitchFamily="50" charset="-128"/>
                  </a:rPr>
                  <a:t>分</a:t>
                </a:r>
                <a:r>
                  <a:rPr lang="en-US" altLang="ja-JP" sz="1200" dirty="0">
                    <a:solidFill>
                      <a:schemeClr val="bg1">
                        <a:lumMod val="10000"/>
                      </a:schemeClr>
                    </a:solidFill>
                    <a:latin typeface="メイリオ" panose="020B0604030504040204" pitchFamily="50" charset="-128"/>
                    <a:ea typeface="メイリオ" panose="020B0604030504040204" pitchFamily="50" charset="-128"/>
                  </a:rPr>
                  <a:t>)</a:t>
                </a:r>
                <a:r>
                  <a:rPr lang="ja-JP" altLang="en-US" sz="1200" dirty="0">
                    <a:solidFill>
                      <a:schemeClr val="bg1">
                        <a:lumMod val="10000"/>
                      </a:schemeClr>
                    </a:solidFill>
                    <a:latin typeface="メイリオ" panose="020B0604030504040204" pitchFamily="50" charset="-128"/>
                    <a:ea typeface="メイリオ" panose="020B0604030504040204" pitchFamily="50" charset="-128"/>
                  </a:rPr>
                  <a:t>で，予測ホライズンは</a:t>
                </a:r>
                <a:r>
                  <a:rPr lang="en-US" altLang="ja-JP" sz="1200" dirty="0">
                    <a:solidFill>
                      <a:schemeClr val="bg1">
                        <a:lumMod val="10000"/>
                      </a:schemeClr>
                    </a:solidFill>
                    <a:latin typeface="メイリオ" panose="020B0604030504040204" pitchFamily="50" charset="-128"/>
                    <a:ea typeface="メイリオ" panose="020B0604030504040204" pitchFamily="50" charset="-128"/>
                  </a:rPr>
                  <a:t>6</a:t>
                </a:r>
                <a:r>
                  <a:rPr lang="ja-JP" altLang="en-US" sz="1200" dirty="0">
                    <a:solidFill>
                      <a:schemeClr val="bg1">
                        <a:lumMod val="10000"/>
                      </a:schemeClr>
                    </a:solidFill>
                    <a:latin typeface="メイリオ" panose="020B0604030504040204" pitchFamily="50" charset="-128"/>
                    <a:ea typeface="メイリオ" panose="020B0604030504040204" pitchFamily="50" charset="-128"/>
                  </a:rPr>
                  <a:t>時間としています．またソルバーとして</a:t>
                </a:r>
                <a:r>
                  <a:rPr lang="en-US" altLang="ja-JP" sz="1200" dirty="0">
                    <a:solidFill>
                      <a:schemeClr val="bg1">
                        <a:lumMod val="10000"/>
                      </a:schemeClr>
                    </a:solidFill>
                    <a:latin typeface="メイリオ" panose="020B0604030504040204" pitchFamily="50" charset="-128"/>
                    <a:ea typeface="メイリオ" panose="020B0604030504040204" pitchFamily="50" charset="-128"/>
                  </a:rPr>
                  <a:t>IPOPT</a:t>
                </a:r>
                <a:r>
                  <a:rPr lang="ja-JP" altLang="en-US" sz="1200" dirty="0">
                    <a:solidFill>
                      <a:schemeClr val="bg1">
                        <a:lumMod val="10000"/>
                      </a:schemeClr>
                    </a:solidFill>
                    <a:latin typeface="メイリオ" panose="020B0604030504040204" pitchFamily="50" charset="-128"/>
                    <a:ea typeface="メイリオ" panose="020B0604030504040204" pitchFamily="50" charset="-128"/>
                  </a:rPr>
                  <a:t>を用いました．乾燥重量の初期値は</a:t>
                </a:r>
                <a:r>
                  <a:rPr lang="en-US" altLang="ja-JP" sz="1200" dirty="0">
                    <a:solidFill>
                      <a:schemeClr val="bg1">
                        <a:lumMod val="10000"/>
                      </a:schemeClr>
                    </a:solidFill>
                    <a:latin typeface="メイリオ" panose="020B0604030504040204" pitchFamily="50" charset="-128"/>
                    <a:ea typeface="メイリオ" panose="020B0604030504040204" pitchFamily="50" charset="-128"/>
                  </a:rPr>
                  <a:t>0.03</a:t>
                </a:r>
                <a:r>
                  <a:rPr lang="en-US" altLang="ja-JP" sz="1200" b="0" i="0" dirty="0">
                    <a:solidFill>
                      <a:schemeClr val="bg1">
                        <a:lumMod val="10000"/>
                      </a:schemeClr>
                    </a:solidFill>
                    <a:latin typeface="Cambria Math" panose="02040503050406030204" pitchFamily="18" charset="0"/>
                    <a:ea typeface="Cambria Math" panose="02040503050406030204" pitchFamily="18" charset="0"/>
                  </a:rPr>
                  <a:t>kg∙m^(−2)</a:t>
                </a:r>
                <a:r>
                  <a:rPr lang="ja-JP" altLang="en-US" dirty="0"/>
                  <a:t>とし，</a:t>
                </a:r>
                <a:r>
                  <a:rPr lang="en-US" altLang="ja-JP" sz="1200" dirty="0">
                    <a:solidFill>
                      <a:schemeClr val="bg1">
                        <a:lumMod val="10000"/>
                      </a:schemeClr>
                    </a:solidFill>
                    <a:latin typeface="メイリオ" panose="020B0604030504040204" pitchFamily="50" charset="-128"/>
                    <a:ea typeface="メイリオ" panose="020B0604030504040204" pitchFamily="50" charset="-128"/>
                  </a:rPr>
                  <a:t>3</a:t>
                </a:r>
                <a:r>
                  <a:rPr lang="en-US" altLang="ja-JP" sz="1200" i="0" dirty="0">
                    <a:solidFill>
                      <a:schemeClr val="bg1">
                        <a:lumMod val="10000"/>
                      </a:schemeClr>
                    </a:solidFill>
                    <a:latin typeface="Cambria Math" panose="02040503050406030204" pitchFamily="18" charset="0"/>
                    <a:ea typeface="Cambria Math" panose="02040503050406030204" pitchFamily="18" charset="0"/>
                  </a:rPr>
                  <a:t>kg∙m^(−2)</a:t>
                </a:r>
                <a:r>
                  <a:rPr lang="ja-JP" altLang="en-US" sz="1200" dirty="0">
                    <a:solidFill>
                      <a:schemeClr val="bg1">
                        <a:lumMod val="10000"/>
                      </a:schemeClr>
                    </a:solidFill>
                    <a:latin typeface="メイリオ" panose="020B0604030504040204" pitchFamily="50" charset="-128"/>
                    <a:ea typeface="メイリオ" panose="020B0604030504040204" pitchFamily="50" charset="-128"/>
                  </a:rPr>
                  <a:t>となったところで収穫することとし，実験終了とします．さらに細かい設定などは論文をご参照ください．そしてこれらの設定で</a:t>
                </a:r>
                <a:r>
                  <a:rPr lang="ja-JP" altLang="en-US" sz="1200" u="sng" dirty="0">
                    <a:solidFill>
                      <a:schemeClr val="bg1">
                        <a:lumMod val="10000"/>
                      </a:schemeClr>
                    </a:solidFill>
                    <a:latin typeface="メイリオ" panose="020B0604030504040204" pitchFamily="50" charset="-128"/>
                    <a:ea typeface="メイリオ" panose="020B0604030504040204" pitchFamily="50" charset="-128"/>
                  </a:rPr>
                  <a:t>外気の平均気温が平均</a:t>
                </a:r>
                <a:r>
                  <a:rPr lang="en-US" altLang="ja-JP" sz="1200" u="sng" dirty="0">
                    <a:solidFill>
                      <a:schemeClr val="bg1">
                        <a:lumMod val="10000"/>
                      </a:schemeClr>
                    </a:solidFill>
                    <a:latin typeface="メイリオ" panose="020B0604030504040204" pitchFamily="50" charset="-128"/>
                    <a:ea typeface="メイリオ" panose="020B0604030504040204" pitchFamily="50" charset="-128"/>
                  </a:rPr>
                  <a:t>15</a:t>
                </a:r>
                <a:r>
                  <a:rPr lang="ja-JP" altLang="en-US" sz="1200" u="sng" dirty="0">
                    <a:solidFill>
                      <a:schemeClr val="bg1">
                        <a:lumMod val="10000"/>
                      </a:schemeClr>
                    </a:solidFill>
                    <a:latin typeface="メイリオ" panose="020B0604030504040204" pitchFamily="50" charset="-128"/>
                    <a:ea typeface="メイリオ" panose="020B0604030504040204" pitchFamily="50" charset="-128"/>
                  </a:rPr>
                  <a:t>℃、平均</a:t>
                </a:r>
                <a:r>
                  <a:rPr lang="en-US" altLang="ja-JP" sz="1200" u="sng" dirty="0">
                    <a:solidFill>
                      <a:schemeClr val="bg1">
                        <a:lumMod val="10000"/>
                      </a:schemeClr>
                    </a:solidFill>
                    <a:latin typeface="メイリオ" panose="020B0604030504040204" pitchFamily="50" charset="-128"/>
                    <a:ea typeface="メイリオ" panose="020B0604030504040204" pitchFamily="50" charset="-128"/>
                  </a:rPr>
                  <a:t>6</a:t>
                </a:r>
                <a:r>
                  <a:rPr lang="ja-JP" altLang="en-US" sz="1200" u="sng" dirty="0">
                    <a:solidFill>
                      <a:schemeClr val="bg1">
                        <a:lumMod val="10000"/>
                      </a:schemeClr>
                    </a:solidFill>
                    <a:latin typeface="メイリオ" panose="020B0604030504040204" pitchFamily="50" charset="-128"/>
                    <a:ea typeface="メイリオ" panose="020B0604030504040204" pitchFamily="50" charset="-128"/>
                  </a:rPr>
                  <a:t>℃、平均</a:t>
                </a:r>
                <a:r>
                  <a:rPr lang="en-US" altLang="ja-JP" sz="1200" u="sng" dirty="0">
                    <a:solidFill>
                      <a:schemeClr val="bg1">
                        <a:lumMod val="10000"/>
                      </a:schemeClr>
                    </a:solidFill>
                    <a:latin typeface="メイリオ" panose="020B0604030504040204" pitchFamily="50" charset="-128"/>
                    <a:ea typeface="メイリオ" panose="020B0604030504040204" pitchFamily="50" charset="-128"/>
                  </a:rPr>
                  <a:t>30</a:t>
                </a:r>
                <a:r>
                  <a:rPr lang="ja-JP" altLang="en-US" sz="1200" u="sng" dirty="0">
                    <a:solidFill>
                      <a:schemeClr val="bg1">
                        <a:lumMod val="10000"/>
                      </a:schemeClr>
                    </a:solidFill>
                    <a:latin typeface="メイリオ" panose="020B0604030504040204" pitchFamily="50" charset="-128"/>
                    <a:ea typeface="メイリオ" panose="020B0604030504040204" pitchFamily="50" charset="-128"/>
                  </a:rPr>
                  <a:t>℃それぞれの場合で実験を行います．　</a:t>
                </a:r>
                <a:r>
                  <a:rPr lang="en-US" altLang="ja-JP" sz="1200" u="sng" dirty="0">
                    <a:solidFill>
                      <a:schemeClr val="bg1">
                        <a:lumMod val="10000"/>
                      </a:schemeClr>
                    </a:solidFill>
                    <a:latin typeface="メイリオ" panose="020B0604030504040204" pitchFamily="50" charset="-128"/>
                    <a:ea typeface="メイリオ" panose="020B0604030504040204" pitchFamily="50" charset="-128"/>
                  </a:rPr>
                  <a:t>1</a:t>
                </a:r>
                <a:r>
                  <a:rPr lang="ja-JP" altLang="en-US" sz="1200" u="sng" dirty="0">
                    <a:solidFill>
                      <a:schemeClr val="bg1">
                        <a:lumMod val="10000"/>
                      </a:schemeClr>
                    </a:solidFill>
                    <a:latin typeface="メイリオ" panose="020B0604030504040204" pitchFamily="50" charset="-128"/>
                    <a:ea typeface="メイリオ" panose="020B0604030504040204" pitchFamily="50" charset="-128"/>
                  </a:rPr>
                  <a:t>分くらい</a:t>
                </a:r>
                <a:endParaRPr lang="en-US" altLang="ja-JP" dirty="0"/>
              </a:p>
              <a:p>
                <a:endParaRPr lang="en-US" altLang="ja-JP" dirty="0"/>
              </a:p>
              <a:p>
                <a:r>
                  <a:rPr lang="ja-JP" altLang="en-US" dirty="0"/>
                  <a:t>植物の成長モデル自体を単位面積あたりで構築しておくことで、栽培面積パラメータ </a:t>
                </a:r>
                <a:r>
                  <a:rPr lang="en-US" altLang="ja-JP" dirty="0"/>
                  <a:t>(</a:t>
                </a:r>
                <a:r>
                  <a:rPr kumimoji="1" lang="en-US" altLang="ja-JP" sz="1200" kern="1200" dirty="0">
                    <a:solidFill>
                      <a:schemeClr val="tx1"/>
                    </a:solidFill>
                    <a:effectLst/>
                    <a:latin typeface="+mn-lt"/>
                    <a:ea typeface="+mn-ea"/>
                    <a:cs typeface="+mn-cs"/>
                  </a:rPr>
                  <a:t>$A_{med}$</a:t>
                </a:r>
                <a:r>
                  <a:rPr lang="en-US" altLang="ja-JP" dirty="0"/>
                  <a:t>) </a:t>
                </a:r>
                <a:r>
                  <a:rPr lang="ja-JP" altLang="en-US" dirty="0"/>
                  <a:t>を変更するだけで、実験室レベルから大規模倉庫レベルまで、</a:t>
                </a:r>
                <a:r>
                  <a:rPr kumimoji="1" lang="ja-JP" altLang="en-US" sz="1200" b="1" kern="1200" dirty="0">
                    <a:solidFill>
                      <a:schemeClr val="tx1"/>
                    </a:solidFill>
                    <a:effectLst/>
                    <a:latin typeface="+mn-lt"/>
                    <a:ea typeface="+mn-ea"/>
                    <a:cs typeface="+mn-cs"/>
                  </a:rPr>
                  <a:t>数式を変更することなくシミュレーションを適用できる</a:t>
                </a:r>
                <a:r>
                  <a:rPr lang="ja-JP" altLang="en-US" dirty="0"/>
                  <a:t>からです。 また、入力となる光強度も面積あたりの物理量であるため、整合性が取れます</a:t>
                </a:r>
                <a:endParaRPr kumimoji="1" lang="ja-JP" altLang="en-US" dirty="0"/>
              </a:p>
            </p:txBody>
          </p:sp>
        </mc:Fallback>
      </mc:AlternateContent>
      <p:sp>
        <p:nvSpPr>
          <p:cNvPr id="4" name="スライド番号プレースホルダー 3"/>
          <p:cNvSpPr>
            <a:spLocks noGrp="1"/>
          </p:cNvSpPr>
          <p:nvPr>
            <p:ph type="sldNum" sz="quarter" idx="5"/>
          </p:nvPr>
        </p:nvSpPr>
        <p:spPr/>
        <p:txBody>
          <a:bodyPr/>
          <a:lstStyle/>
          <a:p>
            <a:fld id="{A34FD560-C2F5-4A03-BD23-B89685A0A44D}" type="slidenum">
              <a:rPr kumimoji="1" lang="ja-JP" altLang="en-US" smtClean="0"/>
              <a:t>7</a:t>
            </a:fld>
            <a:endParaRPr kumimoji="1" lang="ja-JP" altLang="en-US"/>
          </a:p>
        </p:txBody>
      </p:sp>
    </p:spTree>
    <p:extLst>
      <p:ext uri="{BB962C8B-B14F-4D97-AF65-F5344CB8AC3E}">
        <p14:creationId xmlns:p14="http://schemas.microsoft.com/office/powerpoint/2010/main" val="25950606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こちらが結果になります．これは平均</a:t>
            </a:r>
            <a:r>
              <a:rPr kumimoji="1" lang="en-US" altLang="ja-JP" dirty="0"/>
              <a:t>15</a:t>
            </a:r>
            <a:r>
              <a:rPr kumimoji="1" lang="ja-JP" altLang="en-US" dirty="0"/>
              <a:t>℃の場合の結果で上が照明の入力の推移，下が乾燥重量の推移を表しています．前半を見ると照明が後半に比べてかなり抑えられていることが見て取れます．これは乾燥重量が小さい頃はまだレタスの葉の面積も小さいので，それだけ光合成できる面積が小さいので照明を大きくしてもそれに見合う成長量が見られないと</a:t>
            </a:r>
            <a:r>
              <a:rPr kumimoji="1" lang="en-US" altLang="ja-JP" dirty="0"/>
              <a:t>MPC</a:t>
            </a:r>
            <a:r>
              <a:rPr kumimoji="1" lang="ja-JP" altLang="en-US" dirty="0"/>
              <a:t>が判断して抑えられていると考えられます．後半はバイオマスも大きくなってきて成長しやすくなってきたので照明を大きくしていると考えられる．このように乾燥重量に応じて照明が変化していることから制御がしっかり効いていることがわかります．</a:t>
            </a:r>
          </a:p>
        </p:txBody>
      </p:sp>
      <p:sp>
        <p:nvSpPr>
          <p:cNvPr id="4" name="スライド番号プレースホルダー 3"/>
          <p:cNvSpPr>
            <a:spLocks noGrp="1"/>
          </p:cNvSpPr>
          <p:nvPr>
            <p:ph type="sldNum" sz="quarter" idx="5"/>
          </p:nvPr>
        </p:nvSpPr>
        <p:spPr/>
        <p:txBody>
          <a:bodyPr/>
          <a:lstStyle/>
          <a:p>
            <a:fld id="{A34FD560-C2F5-4A03-BD23-B89685A0A44D}" type="slidenum">
              <a:rPr kumimoji="1" lang="ja-JP" altLang="en-US" smtClean="0"/>
              <a:t>8</a:t>
            </a:fld>
            <a:endParaRPr kumimoji="1" lang="ja-JP" altLang="en-US"/>
          </a:p>
        </p:txBody>
      </p:sp>
    </p:spTree>
    <p:extLst>
      <p:ext uri="{BB962C8B-B14F-4D97-AF65-F5344CB8AC3E}">
        <p14:creationId xmlns:p14="http://schemas.microsoft.com/office/powerpoint/2010/main" val="939616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最後に便益評価についてです．こちらの表がそれぞれの条件の場合の栽培日数，総エネルギー消費量，電気代をまとめたものになります．ここからいくらでレタスを売ればよいかを計算していきます．まずそれぞれの条件を平均</a:t>
            </a:r>
            <a:r>
              <a:rPr kumimoji="1" lang="en-US" altLang="ja-JP" dirty="0"/>
              <a:t>15</a:t>
            </a:r>
            <a:r>
              <a:rPr kumimoji="1" lang="ja-JP" altLang="en-US" dirty="0"/>
              <a:t>℃を春と秋，平均</a:t>
            </a:r>
            <a:r>
              <a:rPr kumimoji="1" lang="en-US" altLang="ja-JP" dirty="0"/>
              <a:t>6</a:t>
            </a:r>
            <a:r>
              <a:rPr kumimoji="1" lang="ja-JP" altLang="en-US" dirty="0"/>
              <a:t>℃を冬，平均</a:t>
            </a:r>
            <a:r>
              <a:rPr kumimoji="1" lang="en-US" altLang="ja-JP" dirty="0"/>
              <a:t>30</a:t>
            </a:r>
            <a:r>
              <a:rPr kumimoji="1" lang="ja-JP" altLang="en-US" dirty="0"/>
              <a:t>℃を夏と想定します．そしてそれぞれの季節が</a:t>
            </a:r>
            <a:r>
              <a:rPr kumimoji="1" lang="en-US" altLang="ja-JP" dirty="0"/>
              <a:t>91</a:t>
            </a:r>
            <a:r>
              <a:rPr kumimoji="1" lang="ja-JP" altLang="en-US" dirty="0"/>
              <a:t>日ずつあるとして計算すると</a:t>
            </a:r>
            <a:r>
              <a:rPr kumimoji="1" lang="en-US" altLang="ja-JP" dirty="0"/>
              <a:t>1</a:t>
            </a:r>
            <a:r>
              <a:rPr kumimoji="1" lang="ja-JP" altLang="en-US" dirty="0"/>
              <a:t>年間の電気代は</a:t>
            </a:r>
            <a:r>
              <a:rPr kumimoji="1" lang="en-US" altLang="ja-JP" dirty="0"/>
              <a:t>2107930</a:t>
            </a:r>
            <a:r>
              <a:rPr kumimoji="1" lang="ja-JP" altLang="en-US" dirty="0"/>
              <a:t>円となります．これは電気代のみの値段なのでここから電気代以外，例えば人件費などですが，それらを含めた総コストを求めていきます．具体的には人工光型植物工場のコスト内訳において電気代が</a:t>
            </a:r>
            <a:r>
              <a:rPr kumimoji="1" lang="en-US" altLang="ja-JP" dirty="0"/>
              <a:t>25%</a:t>
            </a:r>
            <a:r>
              <a:rPr kumimoji="1" lang="ja-JP" altLang="en-US" dirty="0"/>
              <a:t>を占めるというデータを用いて計算すると，</a:t>
            </a:r>
            <a:r>
              <a:rPr kumimoji="1" lang="en-US" altLang="ja-JP" dirty="0"/>
              <a:t>1</a:t>
            </a:r>
            <a:r>
              <a:rPr kumimoji="1" lang="ja-JP" altLang="en-US" dirty="0"/>
              <a:t>年間の総コストは</a:t>
            </a:r>
            <a:r>
              <a:rPr kumimoji="1" lang="en-US" altLang="ja-JP" dirty="0"/>
              <a:t>8431720</a:t>
            </a:r>
            <a:r>
              <a:rPr kumimoji="1" lang="ja-JP" altLang="en-US" dirty="0"/>
              <a:t>円となります．今回の植物工場の規模の設定上，</a:t>
            </a:r>
            <a:r>
              <a:rPr kumimoji="1" lang="en-US" altLang="ja-JP" dirty="0"/>
              <a:t>1</a:t>
            </a:r>
            <a:r>
              <a:rPr kumimoji="1" lang="ja-JP" altLang="en-US" dirty="0"/>
              <a:t>回</a:t>
            </a:r>
            <a:r>
              <a:rPr kumimoji="1" lang="en-US" altLang="ja-JP" dirty="0"/>
              <a:t>600kg</a:t>
            </a:r>
            <a:r>
              <a:rPr kumimoji="1" lang="ja-JP" altLang="en-US" dirty="0"/>
              <a:t>収穫でき，表の栽培日数から</a:t>
            </a:r>
            <a:r>
              <a:rPr kumimoji="1" lang="en-US" altLang="ja-JP" dirty="0"/>
              <a:t>1</a:t>
            </a:r>
            <a:r>
              <a:rPr kumimoji="1" lang="ja-JP" altLang="en-US" dirty="0"/>
              <a:t>年間で</a:t>
            </a:r>
            <a:r>
              <a:rPr kumimoji="1" lang="en-US" altLang="ja-JP" dirty="0"/>
              <a:t>17</a:t>
            </a:r>
            <a:r>
              <a:rPr kumimoji="1" lang="ja-JP" altLang="en-US" dirty="0"/>
              <a:t>回収穫できることを考えると，</a:t>
            </a:r>
            <a:r>
              <a:rPr kumimoji="1" lang="en-US" altLang="ja-JP" dirty="0"/>
              <a:t>1</a:t>
            </a:r>
            <a:r>
              <a:rPr kumimoji="1" lang="ja-JP" altLang="en-US" dirty="0"/>
              <a:t>年間で</a:t>
            </a:r>
            <a:r>
              <a:rPr kumimoji="1" lang="en-US" altLang="ja-JP" dirty="0"/>
              <a:t>10200kg</a:t>
            </a:r>
            <a:r>
              <a:rPr kumimoji="1" lang="ja-JP" altLang="en-US" dirty="0"/>
              <a:t>のレタスを収穫できることになります．したがって，この</a:t>
            </a:r>
            <a:r>
              <a:rPr kumimoji="1" lang="en-US" altLang="ja-JP" dirty="0"/>
              <a:t>1</a:t>
            </a:r>
            <a:r>
              <a:rPr kumimoji="1" lang="ja-JP" altLang="en-US" dirty="0"/>
              <a:t>年間の総コストと</a:t>
            </a:r>
            <a:r>
              <a:rPr kumimoji="1" lang="en-US" altLang="ja-JP" dirty="0"/>
              <a:t>1</a:t>
            </a:r>
            <a:r>
              <a:rPr kumimoji="1" lang="ja-JP" altLang="en-US" dirty="0"/>
              <a:t>年間のレタス収穫量から黒字経営のためには</a:t>
            </a:r>
            <a:r>
              <a:rPr kumimoji="1" lang="en-US" altLang="ja-JP" dirty="0"/>
              <a:t>1kg</a:t>
            </a:r>
            <a:r>
              <a:rPr kumimoji="1" lang="ja-JP" altLang="en-US" dirty="0"/>
              <a:t>あたり</a:t>
            </a:r>
            <a:r>
              <a:rPr kumimoji="1" lang="en-US" altLang="ja-JP" dirty="0"/>
              <a:t>826.6</a:t>
            </a:r>
            <a:r>
              <a:rPr kumimoji="1" lang="ja-JP" altLang="en-US" dirty="0"/>
              <a:t>円で売る必要があることがわかります．実際に植物工場のレタスは</a:t>
            </a:r>
            <a:r>
              <a:rPr kumimoji="1" lang="en-US" altLang="ja-JP" dirty="0"/>
              <a:t>1kg</a:t>
            </a:r>
            <a:r>
              <a:rPr kumimoji="1" lang="ja-JP" altLang="en-US" dirty="0"/>
              <a:t>あたり</a:t>
            </a:r>
            <a:r>
              <a:rPr kumimoji="1" lang="en-US" altLang="ja-JP" dirty="0"/>
              <a:t>800~1000</a:t>
            </a:r>
            <a:r>
              <a:rPr kumimoji="1" lang="ja-JP" altLang="en-US" dirty="0"/>
              <a:t>円で取引されているのでこの値は妥当だといえます．そして育成速度という点からみると，人工光型植物工場の事例で収穫まで</a:t>
            </a:r>
            <a:r>
              <a:rPr kumimoji="1" lang="en-US" altLang="ja-JP" dirty="0"/>
              <a:t>26</a:t>
            </a:r>
            <a:r>
              <a:rPr kumimoji="1" lang="ja-JP" altLang="en-US" dirty="0"/>
              <a:t>～</a:t>
            </a:r>
            <a:r>
              <a:rPr kumimoji="1" lang="en-US" altLang="ja-JP" dirty="0"/>
              <a:t>28</a:t>
            </a:r>
            <a:r>
              <a:rPr kumimoji="1" lang="ja-JP" altLang="en-US" dirty="0"/>
              <a:t>日という報告があり，これは本論文の結果の方が速く，提案手法が有効であることを示唆しています．</a:t>
            </a:r>
            <a:endParaRPr kumimoji="1" lang="en-US" altLang="ja-JP" dirty="0"/>
          </a:p>
        </p:txBody>
      </p:sp>
      <p:sp>
        <p:nvSpPr>
          <p:cNvPr id="4" name="スライド番号プレースホルダー 3"/>
          <p:cNvSpPr>
            <a:spLocks noGrp="1"/>
          </p:cNvSpPr>
          <p:nvPr>
            <p:ph type="sldNum" sz="quarter" idx="5"/>
          </p:nvPr>
        </p:nvSpPr>
        <p:spPr/>
        <p:txBody>
          <a:bodyPr/>
          <a:lstStyle/>
          <a:p>
            <a:fld id="{A34FD560-C2F5-4A03-BD23-B89685A0A44D}" type="slidenum">
              <a:rPr kumimoji="1" lang="ja-JP" altLang="en-US" smtClean="0"/>
              <a:t>9</a:t>
            </a:fld>
            <a:endParaRPr kumimoji="1" lang="ja-JP" altLang="en-US"/>
          </a:p>
        </p:txBody>
      </p:sp>
    </p:spTree>
    <p:extLst>
      <p:ext uri="{BB962C8B-B14F-4D97-AF65-F5344CB8AC3E}">
        <p14:creationId xmlns:p14="http://schemas.microsoft.com/office/powerpoint/2010/main" val="39582430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12C3E537-D9B9-C1A0-F18C-B816EB39E05C}"/>
              </a:ext>
            </a:extLst>
          </p:cNvPr>
          <p:cNvSpPr>
            <a:spLocks noGrp="1"/>
          </p:cNvSpPr>
          <p:nvPr>
            <p:ph type="dt" sz="half" idx="10"/>
          </p:nvPr>
        </p:nvSpPr>
        <p:spPr>
          <a:xfrm>
            <a:off x="9161488" y="335665"/>
            <a:ext cx="2743200" cy="365125"/>
          </a:xfrm>
        </p:spPr>
        <p:txBody>
          <a:bodyPr/>
          <a:lstStyle>
            <a:lvl1pPr>
              <a:defRPr sz="2400">
                <a:solidFill>
                  <a:schemeClr val="tx1"/>
                </a:solidFill>
                <a:latin typeface="メイリオ" panose="020B0604030504040204" pitchFamily="50" charset="-128"/>
                <a:ea typeface="メイリオ" panose="020B0604030504040204" pitchFamily="50" charset="-128"/>
              </a:defRPr>
            </a:lvl1pPr>
          </a:lstStyle>
          <a:p>
            <a:r>
              <a:rPr lang="en-US" altLang="ja-JP" dirty="0" err="1"/>
              <a:t>Aaaa</a:t>
            </a:r>
            <a:r>
              <a:rPr lang="en-US" altLang="ja-JP" dirty="0"/>
              <a:t> aa/aa</a:t>
            </a:r>
            <a:endParaRPr lang="ja-JP" altLang="en-US" dirty="0"/>
          </a:p>
        </p:txBody>
      </p:sp>
      <p:sp>
        <p:nvSpPr>
          <p:cNvPr id="6" name="スライド番号プレースホルダー 5">
            <a:extLst>
              <a:ext uri="{FF2B5EF4-FFF2-40B4-BE49-F238E27FC236}">
                <a16:creationId xmlns:a16="http://schemas.microsoft.com/office/drawing/2014/main" id="{7D171C69-6864-323A-E89B-E207EE3A4DC5}"/>
              </a:ext>
            </a:extLst>
          </p:cNvPr>
          <p:cNvSpPr>
            <a:spLocks noGrp="1"/>
          </p:cNvSpPr>
          <p:nvPr>
            <p:ph type="sldNum" sz="quarter" idx="12"/>
          </p:nvPr>
        </p:nvSpPr>
        <p:spPr>
          <a:xfrm>
            <a:off x="9141501" y="7360691"/>
            <a:ext cx="2743200" cy="365125"/>
          </a:xfrm>
        </p:spPr>
        <p:txBody>
          <a:bodyPr/>
          <a:lstStyle/>
          <a:p>
            <a:fld id="{88A80E23-0F12-43E7-A994-EC0CE2D5ACA5}" type="slidenum">
              <a:rPr kumimoji="1" lang="ja-JP" altLang="en-US" smtClean="0"/>
              <a:t>‹#›</a:t>
            </a:fld>
            <a:endParaRPr kumimoji="1" lang="ja-JP" altLang="en-US"/>
          </a:p>
        </p:txBody>
      </p:sp>
      <p:sp>
        <p:nvSpPr>
          <p:cNvPr id="7" name="タイトル 1">
            <a:extLst>
              <a:ext uri="{FF2B5EF4-FFF2-40B4-BE49-F238E27FC236}">
                <a16:creationId xmlns:a16="http://schemas.microsoft.com/office/drawing/2014/main" id="{D9C3D067-1434-0B77-03AE-BDF3FBE46951}"/>
              </a:ext>
            </a:extLst>
          </p:cNvPr>
          <p:cNvSpPr>
            <a:spLocks noGrp="1"/>
          </p:cNvSpPr>
          <p:nvPr>
            <p:ph type="ctrTitle" hasCustomPrompt="1"/>
          </p:nvPr>
        </p:nvSpPr>
        <p:spPr>
          <a:xfrm>
            <a:off x="127000" y="1660087"/>
            <a:ext cx="11777688" cy="2387600"/>
          </a:xfrm>
          <a:prstGeom prst="rect">
            <a:avLst/>
          </a:prstGeom>
          <a:solidFill>
            <a:schemeClr val="accent1">
              <a:lumMod val="20000"/>
              <a:lumOff val="80000"/>
            </a:schemeClr>
          </a:solidFill>
        </p:spPr>
        <p:txBody>
          <a:bodyPr anchor="ctr">
            <a:normAutofit/>
          </a:bodyPr>
          <a:lstStyle>
            <a:lvl1pPr algn="ctr">
              <a:lnSpc>
                <a:spcPct val="130000"/>
              </a:lnSpc>
              <a:defRPr sz="4400" b="1" spc="300">
                <a:solidFill>
                  <a:srgbClr val="0070C0"/>
                </a:solidFill>
                <a:latin typeface="メイリオ" panose="020B0604030504040204" pitchFamily="50" charset="-128"/>
                <a:ea typeface="メイリオ" panose="020B0604030504040204" pitchFamily="50" charset="-128"/>
              </a:defRPr>
            </a:lvl1pPr>
          </a:lstStyle>
          <a:p>
            <a:r>
              <a:rPr kumimoji="1" lang="ja-JP" altLang="en-US" dirty="0"/>
              <a:t>メインタイトル</a:t>
            </a:r>
            <a:br>
              <a:rPr kumimoji="1" lang="en-US" altLang="ja-JP" dirty="0"/>
            </a:br>
            <a:r>
              <a:rPr kumimoji="1" lang="en-US" altLang="ja-JP" dirty="0"/>
              <a:t>~</a:t>
            </a:r>
            <a:r>
              <a:rPr kumimoji="1" lang="ja-JP" altLang="en-US" dirty="0"/>
              <a:t>好みでサブタイトル</a:t>
            </a:r>
            <a:r>
              <a:rPr kumimoji="1" lang="en-US" altLang="ja-JP" dirty="0"/>
              <a:t>~</a:t>
            </a:r>
            <a:endParaRPr kumimoji="1" lang="ja-JP" altLang="en-US" dirty="0"/>
          </a:p>
        </p:txBody>
      </p:sp>
      <p:sp>
        <p:nvSpPr>
          <p:cNvPr id="8" name="字幕 2">
            <a:extLst>
              <a:ext uri="{FF2B5EF4-FFF2-40B4-BE49-F238E27FC236}">
                <a16:creationId xmlns:a16="http://schemas.microsoft.com/office/drawing/2014/main" id="{D943AD8E-3F4E-F9A4-8865-3E5B0A7A38AE}"/>
              </a:ext>
            </a:extLst>
          </p:cNvPr>
          <p:cNvSpPr>
            <a:spLocks noGrp="1"/>
          </p:cNvSpPr>
          <p:nvPr>
            <p:ph type="subTitle" idx="1" hasCustomPrompt="1"/>
          </p:nvPr>
        </p:nvSpPr>
        <p:spPr>
          <a:xfrm>
            <a:off x="1524000" y="4720955"/>
            <a:ext cx="9144000" cy="1679033"/>
          </a:xfrm>
          <a:prstGeom prst="rect">
            <a:avLst/>
          </a:prstGeom>
        </p:spPr>
        <p:txBody>
          <a:bodyPr anchor="ctr"/>
          <a:lstStyle>
            <a:lvl1pPr marL="0" indent="0" algn="ctr">
              <a:lnSpc>
                <a:spcPct val="150000"/>
              </a:lnSpc>
              <a:buNone/>
              <a:defRPr sz="3200" b="1" spc="300">
                <a:solidFill>
                  <a:schemeClr val="tx1"/>
                </a:solidFill>
                <a:latin typeface="メイリオ" panose="020B0604030504040204" pitchFamily="50" charset="-128"/>
                <a:ea typeface="メイリオ" panose="020B0604030504040204" pitchFamily="50"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dirty="0"/>
              <a:t>大坂蒼翔</a:t>
            </a:r>
          </a:p>
        </p:txBody>
      </p:sp>
    </p:spTree>
    <p:extLst>
      <p:ext uri="{BB962C8B-B14F-4D97-AF65-F5344CB8AC3E}">
        <p14:creationId xmlns:p14="http://schemas.microsoft.com/office/powerpoint/2010/main" val="296576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CF8649-4E4E-EB3C-F16E-774D9665C611}"/>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C28F7DF-E502-662B-CB10-5F620A8D571C}"/>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A4D7BE6-85AF-E487-5C90-C5E078052B3C}"/>
              </a:ext>
            </a:extLst>
          </p:cNvPr>
          <p:cNvSpPr>
            <a:spLocks noGrp="1"/>
          </p:cNvSpPr>
          <p:nvPr>
            <p:ph type="dt" sz="half" idx="10"/>
          </p:nvPr>
        </p:nvSpPr>
        <p:spPr/>
        <p:txBody>
          <a:bodyPr/>
          <a:lstStyle/>
          <a:p>
            <a:fld id="{2DC8BE36-1033-4103-81F0-B5740DADF330}" type="datetimeFigureOut">
              <a:rPr kumimoji="1" lang="ja-JP" altLang="en-US" smtClean="0"/>
              <a:t>2026/6/15</a:t>
            </a:fld>
            <a:endParaRPr kumimoji="1" lang="ja-JP" altLang="en-US"/>
          </a:p>
        </p:txBody>
      </p:sp>
      <p:sp>
        <p:nvSpPr>
          <p:cNvPr id="5" name="フッター プレースホルダー 4">
            <a:extLst>
              <a:ext uri="{FF2B5EF4-FFF2-40B4-BE49-F238E27FC236}">
                <a16:creationId xmlns:a16="http://schemas.microsoft.com/office/drawing/2014/main" id="{14706E20-92CA-CB51-18FF-7F2FC2629DF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C6165D3-EE08-D6EA-A7EF-92F8E670DDA7}"/>
              </a:ext>
            </a:extLst>
          </p:cNvPr>
          <p:cNvSpPr>
            <a:spLocks noGrp="1"/>
          </p:cNvSpPr>
          <p:nvPr>
            <p:ph type="sldNum" sz="quarter" idx="12"/>
          </p:nvPr>
        </p:nvSpPr>
        <p:spPr/>
        <p:txBody>
          <a:bodyPr/>
          <a:lstStyle/>
          <a:p>
            <a:fld id="{88A80E23-0F12-43E7-A994-EC0CE2D5ACA5}" type="slidenum">
              <a:rPr kumimoji="1" lang="ja-JP" altLang="en-US" smtClean="0"/>
              <a:t>‹#›</a:t>
            </a:fld>
            <a:endParaRPr kumimoji="1" lang="ja-JP" altLang="en-US"/>
          </a:p>
        </p:txBody>
      </p:sp>
    </p:spTree>
    <p:extLst>
      <p:ext uri="{BB962C8B-B14F-4D97-AF65-F5344CB8AC3E}">
        <p14:creationId xmlns:p14="http://schemas.microsoft.com/office/powerpoint/2010/main" val="23309064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0443CE-F3F7-C26D-28F7-CAA1ED211159}"/>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F4E423E-645E-1D3E-BEC5-041A8A1262D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0B0C44B6-AEC1-5998-719A-C04E51C009CA}"/>
              </a:ext>
            </a:extLst>
          </p:cNvPr>
          <p:cNvSpPr>
            <a:spLocks noGrp="1"/>
          </p:cNvSpPr>
          <p:nvPr>
            <p:ph type="dt" sz="half" idx="10"/>
          </p:nvPr>
        </p:nvSpPr>
        <p:spPr/>
        <p:txBody>
          <a:bodyPr/>
          <a:lstStyle/>
          <a:p>
            <a:fld id="{2DC8BE36-1033-4103-81F0-B5740DADF330}" type="datetimeFigureOut">
              <a:rPr kumimoji="1" lang="ja-JP" altLang="en-US" smtClean="0"/>
              <a:t>2026/6/15</a:t>
            </a:fld>
            <a:endParaRPr kumimoji="1" lang="ja-JP" altLang="en-US"/>
          </a:p>
        </p:txBody>
      </p:sp>
      <p:sp>
        <p:nvSpPr>
          <p:cNvPr id="5" name="フッター プレースホルダー 4">
            <a:extLst>
              <a:ext uri="{FF2B5EF4-FFF2-40B4-BE49-F238E27FC236}">
                <a16:creationId xmlns:a16="http://schemas.microsoft.com/office/drawing/2014/main" id="{3CCE3064-B9A8-0C35-861C-50CCF9159C9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CC2098F-A6BE-3530-19A0-B846B7B94E68}"/>
              </a:ext>
            </a:extLst>
          </p:cNvPr>
          <p:cNvSpPr>
            <a:spLocks noGrp="1"/>
          </p:cNvSpPr>
          <p:nvPr>
            <p:ph type="sldNum" sz="quarter" idx="12"/>
          </p:nvPr>
        </p:nvSpPr>
        <p:spPr/>
        <p:txBody>
          <a:bodyPr/>
          <a:lstStyle/>
          <a:p>
            <a:fld id="{88A80E23-0F12-43E7-A994-EC0CE2D5ACA5}" type="slidenum">
              <a:rPr kumimoji="1" lang="ja-JP" altLang="en-US" smtClean="0"/>
              <a:t>‹#›</a:t>
            </a:fld>
            <a:endParaRPr kumimoji="1" lang="ja-JP" altLang="en-US"/>
          </a:p>
        </p:txBody>
      </p:sp>
    </p:spTree>
    <p:extLst>
      <p:ext uri="{BB962C8B-B14F-4D97-AF65-F5344CB8AC3E}">
        <p14:creationId xmlns:p14="http://schemas.microsoft.com/office/powerpoint/2010/main" val="13446898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C49AA3-A5C1-6EFF-7CBD-7184E024647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14D4384-38B8-2B1E-60C8-BC0D84F00063}"/>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0468FA43-D23B-F8B4-5C52-87E9EE43BE2C}"/>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FE991DAE-6CDE-32D8-0868-B2A554BC75B2}"/>
              </a:ext>
            </a:extLst>
          </p:cNvPr>
          <p:cNvSpPr>
            <a:spLocks noGrp="1"/>
          </p:cNvSpPr>
          <p:nvPr>
            <p:ph type="dt" sz="half" idx="10"/>
          </p:nvPr>
        </p:nvSpPr>
        <p:spPr/>
        <p:txBody>
          <a:bodyPr/>
          <a:lstStyle/>
          <a:p>
            <a:fld id="{2DC8BE36-1033-4103-81F0-B5740DADF330}" type="datetimeFigureOut">
              <a:rPr kumimoji="1" lang="ja-JP" altLang="en-US" smtClean="0"/>
              <a:t>2026/6/15</a:t>
            </a:fld>
            <a:endParaRPr kumimoji="1" lang="ja-JP" altLang="en-US"/>
          </a:p>
        </p:txBody>
      </p:sp>
      <p:sp>
        <p:nvSpPr>
          <p:cNvPr id="6" name="フッター プレースホルダー 5">
            <a:extLst>
              <a:ext uri="{FF2B5EF4-FFF2-40B4-BE49-F238E27FC236}">
                <a16:creationId xmlns:a16="http://schemas.microsoft.com/office/drawing/2014/main" id="{6BC4D129-1980-908B-B914-967D10D5263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F56C7EC-4ADB-B33B-00A5-0699A6BAA66E}"/>
              </a:ext>
            </a:extLst>
          </p:cNvPr>
          <p:cNvSpPr>
            <a:spLocks noGrp="1"/>
          </p:cNvSpPr>
          <p:nvPr>
            <p:ph type="sldNum" sz="quarter" idx="12"/>
          </p:nvPr>
        </p:nvSpPr>
        <p:spPr/>
        <p:txBody>
          <a:bodyPr/>
          <a:lstStyle/>
          <a:p>
            <a:fld id="{88A80E23-0F12-43E7-A994-EC0CE2D5ACA5}" type="slidenum">
              <a:rPr kumimoji="1" lang="ja-JP" altLang="en-US" smtClean="0"/>
              <a:t>‹#›</a:t>
            </a:fld>
            <a:endParaRPr kumimoji="1" lang="ja-JP" altLang="en-US"/>
          </a:p>
        </p:txBody>
      </p:sp>
    </p:spTree>
    <p:extLst>
      <p:ext uri="{BB962C8B-B14F-4D97-AF65-F5344CB8AC3E}">
        <p14:creationId xmlns:p14="http://schemas.microsoft.com/office/powerpoint/2010/main" val="13604095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6E5152-EA67-7DF3-6222-23BC14E60909}"/>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01AF9F5-CA00-29F8-9602-8DFB33EB45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DB30A426-4B8E-BF2C-4CB8-3FEBFAE74861}"/>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EF5F3B17-9729-2014-2A2D-77C1407779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181C0DDA-8EE0-8997-ACF4-749C9840420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842669A9-B846-76E3-7B9B-707BE76B9F99}"/>
              </a:ext>
            </a:extLst>
          </p:cNvPr>
          <p:cNvSpPr>
            <a:spLocks noGrp="1"/>
          </p:cNvSpPr>
          <p:nvPr>
            <p:ph type="dt" sz="half" idx="10"/>
          </p:nvPr>
        </p:nvSpPr>
        <p:spPr/>
        <p:txBody>
          <a:bodyPr/>
          <a:lstStyle/>
          <a:p>
            <a:fld id="{2DC8BE36-1033-4103-81F0-B5740DADF330}" type="datetimeFigureOut">
              <a:rPr kumimoji="1" lang="ja-JP" altLang="en-US" smtClean="0"/>
              <a:t>2026/6/15</a:t>
            </a:fld>
            <a:endParaRPr kumimoji="1" lang="ja-JP" altLang="en-US"/>
          </a:p>
        </p:txBody>
      </p:sp>
      <p:sp>
        <p:nvSpPr>
          <p:cNvPr id="8" name="フッター プレースホルダー 7">
            <a:extLst>
              <a:ext uri="{FF2B5EF4-FFF2-40B4-BE49-F238E27FC236}">
                <a16:creationId xmlns:a16="http://schemas.microsoft.com/office/drawing/2014/main" id="{13063EFA-FC09-8DDF-2DB2-F55BF04520A6}"/>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E4FEB14-E961-B37E-2C16-B5866205A12E}"/>
              </a:ext>
            </a:extLst>
          </p:cNvPr>
          <p:cNvSpPr>
            <a:spLocks noGrp="1"/>
          </p:cNvSpPr>
          <p:nvPr>
            <p:ph type="sldNum" sz="quarter" idx="12"/>
          </p:nvPr>
        </p:nvSpPr>
        <p:spPr/>
        <p:txBody>
          <a:bodyPr/>
          <a:lstStyle/>
          <a:p>
            <a:fld id="{88A80E23-0F12-43E7-A994-EC0CE2D5ACA5}" type="slidenum">
              <a:rPr kumimoji="1" lang="ja-JP" altLang="en-US" smtClean="0"/>
              <a:t>‹#›</a:t>
            </a:fld>
            <a:endParaRPr kumimoji="1" lang="ja-JP" altLang="en-US"/>
          </a:p>
        </p:txBody>
      </p:sp>
    </p:spTree>
    <p:extLst>
      <p:ext uri="{BB962C8B-B14F-4D97-AF65-F5344CB8AC3E}">
        <p14:creationId xmlns:p14="http://schemas.microsoft.com/office/powerpoint/2010/main" val="4122449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95E425-B2EA-278D-058A-3D3AF354FF26}"/>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0054BABE-C8E6-F8EA-4E50-4C100BEAC6D8}"/>
              </a:ext>
            </a:extLst>
          </p:cNvPr>
          <p:cNvSpPr>
            <a:spLocks noGrp="1"/>
          </p:cNvSpPr>
          <p:nvPr>
            <p:ph type="dt" sz="half" idx="10"/>
          </p:nvPr>
        </p:nvSpPr>
        <p:spPr/>
        <p:txBody>
          <a:bodyPr/>
          <a:lstStyle/>
          <a:p>
            <a:fld id="{2DC8BE36-1033-4103-81F0-B5740DADF330}" type="datetimeFigureOut">
              <a:rPr kumimoji="1" lang="ja-JP" altLang="en-US" smtClean="0"/>
              <a:t>2026/6/15</a:t>
            </a:fld>
            <a:endParaRPr kumimoji="1" lang="ja-JP" altLang="en-US"/>
          </a:p>
        </p:txBody>
      </p:sp>
      <p:sp>
        <p:nvSpPr>
          <p:cNvPr id="4" name="フッター プレースホルダー 3">
            <a:extLst>
              <a:ext uri="{FF2B5EF4-FFF2-40B4-BE49-F238E27FC236}">
                <a16:creationId xmlns:a16="http://schemas.microsoft.com/office/drawing/2014/main" id="{BC4225E0-9C62-D9A2-A464-834C3031107E}"/>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0765D9E9-226F-19DD-BD3D-E770322391F9}"/>
              </a:ext>
            </a:extLst>
          </p:cNvPr>
          <p:cNvSpPr>
            <a:spLocks noGrp="1"/>
          </p:cNvSpPr>
          <p:nvPr>
            <p:ph type="sldNum" sz="quarter" idx="12"/>
          </p:nvPr>
        </p:nvSpPr>
        <p:spPr/>
        <p:txBody>
          <a:bodyPr/>
          <a:lstStyle/>
          <a:p>
            <a:fld id="{88A80E23-0F12-43E7-A994-EC0CE2D5ACA5}" type="slidenum">
              <a:rPr kumimoji="1" lang="ja-JP" altLang="en-US" smtClean="0"/>
              <a:t>‹#›</a:t>
            </a:fld>
            <a:endParaRPr kumimoji="1" lang="ja-JP" altLang="en-US"/>
          </a:p>
        </p:txBody>
      </p:sp>
    </p:spTree>
    <p:extLst>
      <p:ext uri="{BB962C8B-B14F-4D97-AF65-F5344CB8AC3E}">
        <p14:creationId xmlns:p14="http://schemas.microsoft.com/office/powerpoint/2010/main" val="4031795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952810BA-E778-09A0-61CF-92F8CD3E9548}"/>
              </a:ext>
            </a:extLst>
          </p:cNvPr>
          <p:cNvSpPr>
            <a:spLocks noGrp="1"/>
          </p:cNvSpPr>
          <p:nvPr>
            <p:ph type="dt" sz="half" idx="10"/>
          </p:nvPr>
        </p:nvSpPr>
        <p:spPr/>
        <p:txBody>
          <a:bodyPr/>
          <a:lstStyle/>
          <a:p>
            <a:fld id="{2DC8BE36-1033-4103-81F0-B5740DADF330}" type="datetimeFigureOut">
              <a:rPr kumimoji="1" lang="ja-JP" altLang="en-US" smtClean="0"/>
              <a:t>2026/6/15</a:t>
            </a:fld>
            <a:endParaRPr kumimoji="1" lang="ja-JP" altLang="en-US"/>
          </a:p>
        </p:txBody>
      </p:sp>
      <p:sp>
        <p:nvSpPr>
          <p:cNvPr id="3" name="フッター プレースホルダー 2">
            <a:extLst>
              <a:ext uri="{FF2B5EF4-FFF2-40B4-BE49-F238E27FC236}">
                <a16:creationId xmlns:a16="http://schemas.microsoft.com/office/drawing/2014/main" id="{78B0F602-CCE6-EC94-20F0-BABBAC63E335}"/>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DDA2745-E32E-5D93-84A7-5A461CBD1D98}"/>
              </a:ext>
            </a:extLst>
          </p:cNvPr>
          <p:cNvSpPr>
            <a:spLocks noGrp="1"/>
          </p:cNvSpPr>
          <p:nvPr>
            <p:ph type="sldNum" sz="quarter" idx="12"/>
          </p:nvPr>
        </p:nvSpPr>
        <p:spPr/>
        <p:txBody>
          <a:bodyPr/>
          <a:lstStyle/>
          <a:p>
            <a:fld id="{88A80E23-0F12-43E7-A994-EC0CE2D5ACA5}" type="slidenum">
              <a:rPr kumimoji="1" lang="ja-JP" altLang="en-US" smtClean="0"/>
              <a:t>‹#›</a:t>
            </a:fld>
            <a:endParaRPr kumimoji="1" lang="ja-JP" altLang="en-US"/>
          </a:p>
        </p:txBody>
      </p:sp>
    </p:spTree>
    <p:extLst>
      <p:ext uri="{BB962C8B-B14F-4D97-AF65-F5344CB8AC3E}">
        <p14:creationId xmlns:p14="http://schemas.microsoft.com/office/powerpoint/2010/main" val="11269578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52FC84-5DED-FEC3-697D-A8E3299F54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FA13349-2CF2-D56C-95A4-B0601DA04B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50C978C2-9B6B-8CD2-207E-4F2BA1EF73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6F14D67-AACD-6A54-7D1C-F7486BFD954B}"/>
              </a:ext>
            </a:extLst>
          </p:cNvPr>
          <p:cNvSpPr>
            <a:spLocks noGrp="1"/>
          </p:cNvSpPr>
          <p:nvPr>
            <p:ph type="dt" sz="half" idx="10"/>
          </p:nvPr>
        </p:nvSpPr>
        <p:spPr/>
        <p:txBody>
          <a:bodyPr/>
          <a:lstStyle/>
          <a:p>
            <a:fld id="{2DC8BE36-1033-4103-81F0-B5740DADF330}" type="datetimeFigureOut">
              <a:rPr kumimoji="1" lang="ja-JP" altLang="en-US" smtClean="0"/>
              <a:t>2026/6/15</a:t>
            </a:fld>
            <a:endParaRPr kumimoji="1" lang="ja-JP" altLang="en-US"/>
          </a:p>
        </p:txBody>
      </p:sp>
      <p:sp>
        <p:nvSpPr>
          <p:cNvPr id="6" name="フッター プレースホルダー 5">
            <a:extLst>
              <a:ext uri="{FF2B5EF4-FFF2-40B4-BE49-F238E27FC236}">
                <a16:creationId xmlns:a16="http://schemas.microsoft.com/office/drawing/2014/main" id="{5E876F39-BDD2-94EE-C2B4-EA31BF775F6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031A0C6-0EF8-4B04-8963-DC7C670D8143}"/>
              </a:ext>
            </a:extLst>
          </p:cNvPr>
          <p:cNvSpPr>
            <a:spLocks noGrp="1"/>
          </p:cNvSpPr>
          <p:nvPr>
            <p:ph type="sldNum" sz="quarter" idx="12"/>
          </p:nvPr>
        </p:nvSpPr>
        <p:spPr/>
        <p:txBody>
          <a:bodyPr/>
          <a:lstStyle/>
          <a:p>
            <a:fld id="{88A80E23-0F12-43E7-A994-EC0CE2D5ACA5}" type="slidenum">
              <a:rPr kumimoji="1" lang="ja-JP" altLang="en-US" smtClean="0"/>
              <a:t>‹#›</a:t>
            </a:fld>
            <a:endParaRPr kumimoji="1" lang="ja-JP" altLang="en-US"/>
          </a:p>
        </p:txBody>
      </p:sp>
    </p:spTree>
    <p:extLst>
      <p:ext uri="{BB962C8B-B14F-4D97-AF65-F5344CB8AC3E}">
        <p14:creationId xmlns:p14="http://schemas.microsoft.com/office/powerpoint/2010/main" val="2703803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8B205D1-C8CB-DDA6-B0B7-E00159B4DDD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CF9F1DD6-F15A-F79E-E6F4-2DD3D75A77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ー 3">
            <a:extLst>
              <a:ext uri="{FF2B5EF4-FFF2-40B4-BE49-F238E27FC236}">
                <a16:creationId xmlns:a16="http://schemas.microsoft.com/office/drawing/2014/main" id="{70F018B5-EF54-1D3D-6282-ADF8267D60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0F7A8A9-9198-2C38-3327-3E1AE61A9A5E}"/>
              </a:ext>
            </a:extLst>
          </p:cNvPr>
          <p:cNvSpPr>
            <a:spLocks noGrp="1"/>
          </p:cNvSpPr>
          <p:nvPr>
            <p:ph type="dt" sz="half" idx="10"/>
          </p:nvPr>
        </p:nvSpPr>
        <p:spPr/>
        <p:txBody>
          <a:bodyPr/>
          <a:lstStyle/>
          <a:p>
            <a:fld id="{2DC8BE36-1033-4103-81F0-B5740DADF330}" type="datetimeFigureOut">
              <a:rPr kumimoji="1" lang="ja-JP" altLang="en-US" smtClean="0"/>
              <a:t>2026/6/15</a:t>
            </a:fld>
            <a:endParaRPr kumimoji="1" lang="ja-JP" altLang="en-US"/>
          </a:p>
        </p:txBody>
      </p:sp>
      <p:sp>
        <p:nvSpPr>
          <p:cNvPr id="6" name="フッター プレースホルダー 5">
            <a:extLst>
              <a:ext uri="{FF2B5EF4-FFF2-40B4-BE49-F238E27FC236}">
                <a16:creationId xmlns:a16="http://schemas.microsoft.com/office/drawing/2014/main" id="{C563394A-B62D-8AD0-9EF0-381BD2B34FB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0EBC37A-95D3-DB68-CE83-C907597D483B}"/>
              </a:ext>
            </a:extLst>
          </p:cNvPr>
          <p:cNvSpPr>
            <a:spLocks noGrp="1"/>
          </p:cNvSpPr>
          <p:nvPr>
            <p:ph type="sldNum" sz="quarter" idx="12"/>
          </p:nvPr>
        </p:nvSpPr>
        <p:spPr/>
        <p:txBody>
          <a:bodyPr/>
          <a:lstStyle/>
          <a:p>
            <a:fld id="{88A80E23-0F12-43E7-A994-EC0CE2D5ACA5}" type="slidenum">
              <a:rPr kumimoji="1" lang="ja-JP" altLang="en-US" smtClean="0"/>
              <a:t>‹#›</a:t>
            </a:fld>
            <a:endParaRPr kumimoji="1" lang="ja-JP" altLang="en-US"/>
          </a:p>
        </p:txBody>
      </p:sp>
    </p:spTree>
    <p:extLst>
      <p:ext uri="{BB962C8B-B14F-4D97-AF65-F5344CB8AC3E}">
        <p14:creationId xmlns:p14="http://schemas.microsoft.com/office/powerpoint/2010/main" val="25765340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861E43-4300-6A45-C30D-AFFBE0D633FE}"/>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F3AEC8F-5581-5A8C-48EA-CC391C24F7D5}"/>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5BBCB7A-16AD-E56B-243C-AE9599E121A3}"/>
              </a:ext>
            </a:extLst>
          </p:cNvPr>
          <p:cNvSpPr>
            <a:spLocks noGrp="1"/>
          </p:cNvSpPr>
          <p:nvPr>
            <p:ph type="dt" sz="half" idx="10"/>
          </p:nvPr>
        </p:nvSpPr>
        <p:spPr/>
        <p:txBody>
          <a:bodyPr/>
          <a:lstStyle/>
          <a:p>
            <a:fld id="{2DC8BE36-1033-4103-81F0-B5740DADF330}" type="datetimeFigureOut">
              <a:rPr kumimoji="1" lang="ja-JP" altLang="en-US" smtClean="0"/>
              <a:t>2026/6/15</a:t>
            </a:fld>
            <a:endParaRPr kumimoji="1" lang="ja-JP" altLang="en-US"/>
          </a:p>
        </p:txBody>
      </p:sp>
      <p:sp>
        <p:nvSpPr>
          <p:cNvPr id="5" name="フッター プレースホルダー 4">
            <a:extLst>
              <a:ext uri="{FF2B5EF4-FFF2-40B4-BE49-F238E27FC236}">
                <a16:creationId xmlns:a16="http://schemas.microsoft.com/office/drawing/2014/main" id="{C02E75CF-346C-F43F-9506-272212BB88C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6DE7231-C5BA-4F03-DF98-C16ACF15B9FB}"/>
              </a:ext>
            </a:extLst>
          </p:cNvPr>
          <p:cNvSpPr>
            <a:spLocks noGrp="1"/>
          </p:cNvSpPr>
          <p:nvPr>
            <p:ph type="sldNum" sz="quarter" idx="12"/>
          </p:nvPr>
        </p:nvSpPr>
        <p:spPr/>
        <p:txBody>
          <a:bodyPr/>
          <a:lstStyle/>
          <a:p>
            <a:fld id="{88A80E23-0F12-43E7-A994-EC0CE2D5ACA5}" type="slidenum">
              <a:rPr kumimoji="1" lang="ja-JP" altLang="en-US" smtClean="0"/>
              <a:t>‹#›</a:t>
            </a:fld>
            <a:endParaRPr kumimoji="1" lang="ja-JP" altLang="en-US"/>
          </a:p>
        </p:txBody>
      </p:sp>
    </p:spTree>
    <p:extLst>
      <p:ext uri="{BB962C8B-B14F-4D97-AF65-F5344CB8AC3E}">
        <p14:creationId xmlns:p14="http://schemas.microsoft.com/office/powerpoint/2010/main" val="3128725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D4298B6B-458F-1FEE-21E3-644D46368315}"/>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0C6E3BC-B0AA-1055-86DC-8C2DD29C7435}"/>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F6D996-56E1-2B05-26A7-E5BB60A122E6}"/>
              </a:ext>
            </a:extLst>
          </p:cNvPr>
          <p:cNvSpPr>
            <a:spLocks noGrp="1"/>
          </p:cNvSpPr>
          <p:nvPr>
            <p:ph type="dt" sz="half" idx="10"/>
          </p:nvPr>
        </p:nvSpPr>
        <p:spPr/>
        <p:txBody>
          <a:bodyPr/>
          <a:lstStyle/>
          <a:p>
            <a:fld id="{2DC8BE36-1033-4103-81F0-B5740DADF330}" type="datetimeFigureOut">
              <a:rPr kumimoji="1" lang="ja-JP" altLang="en-US" smtClean="0"/>
              <a:t>2026/6/15</a:t>
            </a:fld>
            <a:endParaRPr kumimoji="1" lang="ja-JP" altLang="en-US"/>
          </a:p>
        </p:txBody>
      </p:sp>
      <p:sp>
        <p:nvSpPr>
          <p:cNvPr id="5" name="フッター プレースホルダー 4">
            <a:extLst>
              <a:ext uri="{FF2B5EF4-FFF2-40B4-BE49-F238E27FC236}">
                <a16:creationId xmlns:a16="http://schemas.microsoft.com/office/drawing/2014/main" id="{0E9D6BFD-DC3C-C3E7-CDE3-614B9C9255C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48347B4-4A6B-BFE3-6022-76E4A9834B63}"/>
              </a:ext>
            </a:extLst>
          </p:cNvPr>
          <p:cNvSpPr>
            <a:spLocks noGrp="1"/>
          </p:cNvSpPr>
          <p:nvPr>
            <p:ph type="sldNum" sz="quarter" idx="12"/>
          </p:nvPr>
        </p:nvSpPr>
        <p:spPr/>
        <p:txBody>
          <a:bodyPr/>
          <a:lstStyle/>
          <a:p>
            <a:fld id="{88A80E23-0F12-43E7-A994-EC0CE2D5ACA5}" type="slidenum">
              <a:rPr kumimoji="1" lang="ja-JP" altLang="en-US" smtClean="0"/>
              <a:t>‹#›</a:t>
            </a:fld>
            <a:endParaRPr kumimoji="1" lang="ja-JP" altLang="en-US"/>
          </a:p>
        </p:txBody>
      </p:sp>
    </p:spTree>
    <p:extLst>
      <p:ext uri="{BB962C8B-B14F-4D97-AF65-F5344CB8AC3E}">
        <p14:creationId xmlns:p14="http://schemas.microsoft.com/office/powerpoint/2010/main" val="25996872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パラグラフスライド">
    <p:spTree>
      <p:nvGrpSpPr>
        <p:cNvPr id="1" name=""/>
        <p:cNvGrpSpPr/>
        <p:nvPr/>
      </p:nvGrpSpPr>
      <p:grpSpPr>
        <a:xfrm>
          <a:off x="0" y="0"/>
          <a:ext cx="0" cy="0"/>
          <a:chOff x="0" y="0"/>
          <a:chExt cx="0" cy="0"/>
        </a:xfrm>
      </p:grpSpPr>
      <p:sp>
        <p:nvSpPr>
          <p:cNvPr id="3" name="コンテンツ プレースホルダー 2"/>
          <p:cNvSpPr>
            <a:spLocks noGrp="1"/>
          </p:cNvSpPr>
          <p:nvPr>
            <p:ph idx="1" hasCustomPrompt="1"/>
          </p:nvPr>
        </p:nvSpPr>
        <p:spPr>
          <a:xfrm>
            <a:off x="210574" y="773801"/>
            <a:ext cx="11704058" cy="5668201"/>
          </a:xfrm>
        </p:spPr>
        <p:txBody>
          <a:bodyPr/>
          <a:lstStyle>
            <a:lvl1pPr marL="457200" indent="-457200">
              <a:buClr>
                <a:schemeClr val="accent1">
                  <a:lumMod val="75000"/>
                </a:schemeClr>
              </a:buClr>
              <a:buFont typeface="Wingdings" panose="05000000000000000000" pitchFamily="2" charset="2"/>
              <a:buChar char="l"/>
              <a:defRPr sz="2600">
                <a:solidFill>
                  <a:schemeClr val="bg1">
                    <a:lumMod val="10000"/>
                  </a:schemeClr>
                </a:solidFill>
                <a:latin typeface="メイリオ" panose="020B0604030504040204" pitchFamily="50" charset="-128"/>
                <a:ea typeface="メイリオ" panose="020B0604030504040204" pitchFamily="50" charset="-128"/>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a:solidFill>
                  <a:schemeClr val="bg1">
                    <a:lumMod val="10000"/>
                  </a:schemeClr>
                </a:solidFill>
                <a:latin typeface="メイリオ" panose="020B0604030504040204" pitchFamily="50" charset="-128"/>
                <a:ea typeface="メイリオ" panose="020B0604030504040204" pitchFamily="50" charset="-128"/>
              </a:defRPr>
            </a:lvl2pPr>
            <a:lvl3pPr>
              <a:defRPr sz="2200">
                <a:solidFill>
                  <a:schemeClr val="bg1">
                    <a:lumMod val="10000"/>
                  </a:schemeClr>
                </a:solidFill>
                <a:latin typeface="メイリオ" panose="020B0604030504040204" pitchFamily="50" charset="-128"/>
                <a:ea typeface="メイリオ" panose="020B0604030504040204" pitchFamily="50" charset="-128"/>
              </a:defRPr>
            </a:lvl3pPr>
            <a:lvl4pPr>
              <a:defRPr sz="2000">
                <a:solidFill>
                  <a:schemeClr val="bg1">
                    <a:lumMod val="10000"/>
                  </a:schemeClr>
                </a:solidFill>
                <a:latin typeface="メイリオ" panose="020B0604030504040204" pitchFamily="50" charset="-128"/>
                <a:ea typeface="メイリオ" panose="020B0604030504040204" pitchFamily="50" charset="-128"/>
              </a:defRPr>
            </a:lvl4pPr>
            <a:lvl5pPr>
              <a:defRPr>
                <a:solidFill>
                  <a:schemeClr val="bg1">
                    <a:lumMod val="10000"/>
                  </a:schemeClr>
                </a:solidFill>
                <a:latin typeface="メイリオ" panose="020B0604030504040204" pitchFamily="50" charset="-128"/>
                <a:ea typeface="メイリオ" panose="020B0604030504040204" pitchFamily="50" charset="-128"/>
              </a:defRPr>
            </a:lvl5pPr>
          </a:lstStyle>
          <a:p>
            <a:pPr lvl="0"/>
            <a:r>
              <a:rPr kumimoji="1" lang="ja-JP" altLang="en-US" dirty="0"/>
              <a:t>メッセージの補足説明（根拠／解説／具体例）</a:t>
            </a:r>
            <a:endParaRPr kumimoji="1" lang="en-US" altLang="ja-JP" dirty="0"/>
          </a:p>
          <a:p>
            <a:pPr lvl="1"/>
            <a:r>
              <a:rPr kumimoji="1" lang="ja-JP" altLang="en-US" dirty="0"/>
              <a:t>第２段</a:t>
            </a:r>
            <a:endParaRPr kumimoji="1" lang="en-US" altLang="ja-JP" dirty="0"/>
          </a:p>
          <a:p>
            <a:pPr lvl="2"/>
            <a:r>
              <a:rPr kumimoji="1" lang="ja-JP" altLang="en-US" dirty="0"/>
              <a:t>第３段</a:t>
            </a:r>
            <a:endParaRPr kumimoji="1" lang="en-US" altLang="ja-JP" dirty="0"/>
          </a:p>
          <a:p>
            <a:pPr lvl="3"/>
            <a:r>
              <a:rPr kumimoji="1" lang="ja-JP" altLang="en-US" dirty="0"/>
              <a:t>第４段</a:t>
            </a:r>
            <a:endParaRPr kumimoji="1" lang="en-US" altLang="ja-JP" dirty="0"/>
          </a:p>
          <a:p>
            <a:pPr lvl="4"/>
            <a:r>
              <a:rPr kumimoji="1" lang="ja-JP" altLang="en-US" dirty="0"/>
              <a:t>第５弾</a:t>
            </a:r>
            <a:endParaRPr kumimoji="1" lang="en-US" altLang="ja-JP" dirty="0"/>
          </a:p>
          <a:p>
            <a:pPr lvl="3"/>
            <a:endParaRPr kumimoji="1" lang="en-US" altLang="ja-JP" dirty="0"/>
          </a:p>
          <a:p>
            <a:pPr lvl="3"/>
            <a:endParaRPr kumimoji="1" lang="en-US" altLang="ja-JP" dirty="0"/>
          </a:p>
          <a:p>
            <a:pPr lvl="1"/>
            <a:endParaRPr kumimoji="1" lang="en-US" altLang="ja-JP" dirty="0"/>
          </a:p>
          <a:p>
            <a:pPr lvl="0"/>
            <a:endParaRPr kumimoji="1" lang="en-US" altLang="ja-JP" dirty="0"/>
          </a:p>
          <a:p>
            <a:pPr lvl="0"/>
            <a:endParaRPr kumimoji="1" lang="en-US" altLang="ja-JP" dirty="0"/>
          </a:p>
          <a:p>
            <a:pPr lvl="1"/>
            <a:endParaRPr kumimoji="1" lang="en-US" altLang="ja-JP" dirty="0"/>
          </a:p>
        </p:txBody>
      </p:sp>
      <p:sp>
        <p:nvSpPr>
          <p:cNvPr id="18" name="テキスト プレースホルダー 17"/>
          <p:cNvSpPr>
            <a:spLocks noGrp="1"/>
          </p:cNvSpPr>
          <p:nvPr>
            <p:ph type="body" sz="quarter" idx="11" hasCustomPrompt="1"/>
          </p:nvPr>
        </p:nvSpPr>
        <p:spPr>
          <a:xfrm>
            <a:off x="210574" y="83050"/>
            <a:ext cx="11455400" cy="469900"/>
          </a:xfrm>
        </p:spPr>
        <p:txBody>
          <a:bodyPr>
            <a:noAutofit/>
          </a:bodyPr>
          <a:lstStyle>
            <a:lvl1pPr marL="0" indent="0">
              <a:buNone/>
              <a:defRPr sz="3200" b="1">
                <a:solidFill>
                  <a:srgbClr val="0070C0"/>
                </a:solidFill>
                <a:latin typeface="メイリオ" panose="020B0604030504040204" pitchFamily="50" charset="-128"/>
                <a:ea typeface="メイリオ" panose="020B0604030504040204" pitchFamily="50" charset="-128"/>
              </a:defRPr>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スライドの話題＝問い</a:t>
            </a:r>
            <a:r>
              <a:rPr kumimoji="1" lang="en-US" altLang="ja-JP" dirty="0"/>
              <a:t>=</a:t>
            </a:r>
            <a:r>
              <a:rPr kumimoji="1" lang="ja-JP" altLang="en-US" dirty="0"/>
              <a:t>論点</a:t>
            </a:r>
            <a:endParaRPr kumimoji="1" lang="en-US" altLang="ja-JP" dirty="0"/>
          </a:p>
        </p:txBody>
      </p:sp>
      <p:sp>
        <p:nvSpPr>
          <p:cNvPr id="23" name="テキスト ボックス 22"/>
          <p:cNvSpPr txBox="1"/>
          <p:nvPr userDrawn="1"/>
        </p:nvSpPr>
        <p:spPr>
          <a:xfrm>
            <a:off x="11493500" y="32184"/>
            <a:ext cx="561372" cy="461665"/>
          </a:xfrm>
          <a:prstGeom prst="rect">
            <a:avLst/>
          </a:prstGeom>
          <a:noFill/>
        </p:spPr>
        <p:txBody>
          <a:bodyPr wrap="none" rtlCol="0">
            <a:spAutoFit/>
          </a:bodyPr>
          <a:lstStyle/>
          <a:p>
            <a:fld id="{86695743-78A6-41C5-8EC9-B94E39B9B94D}" type="slidenum">
              <a:rPr kumimoji="1" lang="ja-JP" altLang="en-US" sz="2400" smtClean="0">
                <a:solidFill>
                  <a:schemeClr val="tx1"/>
                </a:solidFill>
                <a:latin typeface="+mn-lt"/>
                <a:ea typeface="游ゴシック Medium" panose="020B0500000000000000" pitchFamily="50" charset="-128"/>
              </a:rPr>
              <a:t>‹#›</a:t>
            </a:fld>
            <a:endParaRPr kumimoji="1" lang="ja-JP" altLang="en-US" sz="2400" dirty="0">
              <a:solidFill>
                <a:schemeClr val="tx1"/>
              </a:solidFill>
              <a:latin typeface="+mn-lt"/>
              <a:ea typeface="游ゴシック Medium" panose="020B0500000000000000" pitchFamily="50" charset="-128"/>
            </a:endParaRPr>
          </a:p>
        </p:txBody>
      </p:sp>
      <p:cxnSp>
        <p:nvCxnSpPr>
          <p:cNvPr id="26" name="直線コネクタ 25"/>
          <p:cNvCxnSpPr/>
          <p:nvPr userDrawn="1"/>
        </p:nvCxnSpPr>
        <p:spPr>
          <a:xfrm>
            <a:off x="0" y="663375"/>
            <a:ext cx="12192000"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8" name="テキスト プレースホルダー 7">
            <a:extLst>
              <a:ext uri="{FF2B5EF4-FFF2-40B4-BE49-F238E27FC236}">
                <a16:creationId xmlns:a16="http://schemas.microsoft.com/office/drawing/2014/main" id="{13CD2DE4-FCAB-E7CE-1393-B8E40A37BA7F}"/>
              </a:ext>
            </a:extLst>
          </p:cNvPr>
          <p:cNvSpPr>
            <a:spLocks noGrp="1"/>
          </p:cNvSpPr>
          <p:nvPr>
            <p:ph type="body" sz="quarter" idx="12" hasCustomPrompt="1"/>
          </p:nvPr>
        </p:nvSpPr>
        <p:spPr>
          <a:xfrm>
            <a:off x="277813" y="6467672"/>
            <a:ext cx="11636374" cy="307778"/>
          </a:xfrm>
        </p:spPr>
        <p:txBody>
          <a:bodyPr>
            <a:noAutofit/>
          </a:bodyPr>
          <a:lstStyle>
            <a:lvl1pPr marL="0" indent="0">
              <a:buNone/>
              <a:defRPr sz="1600">
                <a:solidFill>
                  <a:srgbClr val="7030A0"/>
                </a:solidFill>
                <a:latin typeface="メイリオ" panose="020B0604030504040204" pitchFamily="50" charset="-128"/>
                <a:ea typeface="メイリオ" panose="020B0604030504040204" pitchFamily="50" charset="-128"/>
              </a:defRPr>
            </a:lvl1pPr>
          </a:lstStyle>
          <a:p>
            <a:pPr lvl="0"/>
            <a:r>
              <a:rPr kumimoji="1" lang="en-US" altLang="ja-JP" dirty="0"/>
              <a:t>[*]</a:t>
            </a:r>
            <a:r>
              <a:rPr kumimoji="1" lang="ja-JP" altLang="en-US" dirty="0"/>
              <a:t> 引用文献</a:t>
            </a:r>
          </a:p>
        </p:txBody>
      </p:sp>
    </p:spTree>
    <p:extLst>
      <p:ext uri="{BB962C8B-B14F-4D97-AF65-F5344CB8AC3E}">
        <p14:creationId xmlns:p14="http://schemas.microsoft.com/office/powerpoint/2010/main" val="28889251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1524000" y="2570163"/>
            <a:ext cx="9144000" cy="2387600"/>
          </a:xfrm>
        </p:spPr>
        <p:txBody>
          <a:bodyPr anchor="b">
            <a:noAutofit/>
          </a:bodyPr>
          <a:lstStyle>
            <a:lvl1pPr algn="l">
              <a:defRPr sz="4800" b="1">
                <a:solidFill>
                  <a:schemeClr val="tx1"/>
                </a:solidFill>
                <a:latin typeface="游ゴシック" panose="020B0400000000000000" pitchFamily="50" charset="-128"/>
                <a:ea typeface="游ゴシック" panose="020B0400000000000000" pitchFamily="50" charset="-128"/>
              </a:defRPr>
            </a:lvl1pPr>
          </a:lstStyle>
          <a:p>
            <a:r>
              <a:rPr kumimoji="1" lang="ja-JP" altLang="en-US" dirty="0"/>
              <a:t>発表の内容と構成が想像できる</a:t>
            </a:r>
            <a:br>
              <a:rPr kumimoji="1" lang="en-US" altLang="ja-JP" dirty="0"/>
            </a:br>
            <a:r>
              <a:rPr kumimoji="1" lang="ja-JP" altLang="en-US" dirty="0"/>
              <a:t>発表題目をここに書く．</a:t>
            </a:r>
            <a:br>
              <a:rPr kumimoji="1" lang="en-US" altLang="ja-JP" dirty="0"/>
            </a:br>
            <a:r>
              <a:rPr kumimoji="1" lang="ja-JP" altLang="en-US" dirty="0"/>
              <a:t>単語の途中で改行しない．</a:t>
            </a:r>
          </a:p>
        </p:txBody>
      </p:sp>
      <p:sp>
        <p:nvSpPr>
          <p:cNvPr id="3" name="サブタイトル 2"/>
          <p:cNvSpPr>
            <a:spLocks noGrp="1"/>
          </p:cNvSpPr>
          <p:nvPr>
            <p:ph type="subTitle" idx="1" hasCustomPrompt="1"/>
          </p:nvPr>
        </p:nvSpPr>
        <p:spPr>
          <a:xfrm>
            <a:off x="1524000" y="5110163"/>
            <a:ext cx="9144000" cy="561975"/>
          </a:xfrm>
        </p:spPr>
        <p:txBody>
          <a:bodyPr>
            <a:noAutofit/>
          </a:bodyPr>
          <a:lstStyle>
            <a:lvl1pPr marL="0" indent="0" algn="l">
              <a:buNone/>
              <a:defRPr sz="3600">
                <a:latin typeface="游ゴシック" panose="020B0400000000000000" pitchFamily="50" charset="-128"/>
                <a:ea typeface="游ゴシック" panose="020B0400000000000000" pitchFamily="50"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dirty="0"/>
              <a:t>発表者名</a:t>
            </a:r>
            <a:endParaRPr kumimoji="1" lang="en-US" altLang="ja-JP" dirty="0"/>
          </a:p>
        </p:txBody>
      </p:sp>
      <p:sp>
        <p:nvSpPr>
          <p:cNvPr id="11" name="テキスト プレースホルダー 10"/>
          <p:cNvSpPr>
            <a:spLocks noGrp="1"/>
          </p:cNvSpPr>
          <p:nvPr>
            <p:ph type="body" sz="quarter" idx="11" hasCustomPrompt="1"/>
          </p:nvPr>
        </p:nvSpPr>
        <p:spPr>
          <a:xfrm>
            <a:off x="1524000" y="5740400"/>
            <a:ext cx="9144000" cy="469900"/>
          </a:xfrm>
        </p:spPr>
        <p:txBody>
          <a:bodyPr/>
          <a:lstStyle>
            <a:lvl1pPr marL="0" indent="0" algn="l">
              <a:buNone/>
              <a:defRPr>
                <a:latin typeface="游ゴシック Medium" panose="020B0500000000000000" pitchFamily="50" charset="-128"/>
                <a:ea typeface="游ゴシック Medium" panose="020B0500000000000000" pitchFamily="50" charset="-128"/>
              </a:defRPr>
            </a:lvl1pPr>
          </a:lstStyle>
          <a:p>
            <a:pPr lvl="0"/>
            <a:r>
              <a:rPr kumimoji="1" lang="ja-JP" altLang="en-US" dirty="0"/>
              <a:t>身分や所属など．関連する</a:t>
            </a:r>
            <a:r>
              <a:rPr kumimoji="1" lang="en-US" altLang="ja-JP" dirty="0"/>
              <a:t>SNS</a:t>
            </a:r>
            <a:r>
              <a:rPr kumimoji="1" lang="ja-JP" altLang="en-US" dirty="0"/>
              <a:t>アカウントなども．</a:t>
            </a:r>
          </a:p>
        </p:txBody>
      </p:sp>
      <p:cxnSp>
        <p:nvCxnSpPr>
          <p:cNvPr id="13" name="直線コネクタ 12"/>
          <p:cNvCxnSpPr/>
          <p:nvPr userDrawn="1"/>
        </p:nvCxnSpPr>
        <p:spPr>
          <a:xfrm flipV="1">
            <a:off x="0" y="5029200"/>
            <a:ext cx="12192000"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5" name="テキスト プレースホルダー 14"/>
          <p:cNvSpPr>
            <a:spLocks noGrp="1"/>
          </p:cNvSpPr>
          <p:nvPr>
            <p:ph type="body" sz="quarter" idx="12" hasCustomPrompt="1"/>
          </p:nvPr>
        </p:nvSpPr>
        <p:spPr>
          <a:xfrm>
            <a:off x="8420098" y="152399"/>
            <a:ext cx="3594101" cy="378541"/>
          </a:xfrm>
          <a:ln>
            <a:noFill/>
          </a:ln>
        </p:spPr>
        <p:txBody>
          <a:bodyPr>
            <a:noAutofit/>
          </a:bodyPr>
          <a:lstStyle>
            <a:lvl1pPr marL="0" indent="0">
              <a:buNone/>
              <a:defRPr sz="2000">
                <a:solidFill>
                  <a:schemeClr val="tx2"/>
                </a:solidFill>
                <a:latin typeface="游ゴシック Medium" panose="020B0500000000000000" pitchFamily="50" charset="-128"/>
                <a:ea typeface="游ゴシック Medium" panose="020B0500000000000000" pitchFamily="50" charset="-128"/>
              </a:defRPr>
            </a:lvl1pPr>
          </a:lstStyle>
          <a:p>
            <a:pPr lvl="0"/>
            <a:r>
              <a:rPr kumimoji="1" lang="ja-JP" altLang="en-US" dirty="0"/>
              <a:t>会議名と日程を書いておく</a:t>
            </a:r>
          </a:p>
        </p:txBody>
      </p:sp>
      <p:sp>
        <p:nvSpPr>
          <p:cNvPr id="17" name="図プレースホルダー 16"/>
          <p:cNvSpPr>
            <a:spLocks noGrp="1"/>
          </p:cNvSpPr>
          <p:nvPr>
            <p:ph type="pic" sz="quarter" idx="13" hasCustomPrompt="1"/>
          </p:nvPr>
        </p:nvSpPr>
        <p:spPr>
          <a:xfrm>
            <a:off x="1523999" y="647700"/>
            <a:ext cx="9144000" cy="1841500"/>
          </a:xfrm>
        </p:spPr>
        <p:txBody>
          <a:bodyPr/>
          <a:lstStyle>
            <a:lvl1pPr marL="0" indent="0">
              <a:buNone/>
              <a:defRPr>
                <a:solidFill>
                  <a:schemeClr val="bg2"/>
                </a:solidFill>
                <a:latin typeface="游ゴシック Medium" panose="020B0500000000000000" pitchFamily="50" charset="-128"/>
                <a:ea typeface="游ゴシック Medium" panose="020B0500000000000000" pitchFamily="50" charset="-128"/>
              </a:defRPr>
            </a:lvl1pPr>
          </a:lstStyle>
          <a:p>
            <a:r>
              <a:rPr kumimoji="1" lang="ja-JP" altLang="en-US" dirty="0"/>
              <a:t>題目の説明の助けになる図や動画があれば載せる．</a:t>
            </a:r>
            <a:endParaRPr kumimoji="1" lang="en-US" altLang="ja-JP" dirty="0"/>
          </a:p>
        </p:txBody>
      </p:sp>
    </p:spTree>
    <p:extLst>
      <p:ext uri="{BB962C8B-B14F-4D97-AF65-F5344CB8AC3E}">
        <p14:creationId xmlns:p14="http://schemas.microsoft.com/office/powerpoint/2010/main" val="13412709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パラグラフスライド">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558800" y="1015999"/>
            <a:ext cx="11099800" cy="938159"/>
          </a:xfrm>
        </p:spPr>
        <p:txBody>
          <a:bodyPr>
            <a:noAutofit/>
          </a:bodyPr>
          <a:lstStyle>
            <a:lvl1pPr>
              <a:defRPr sz="2800" b="1">
                <a:solidFill>
                  <a:schemeClr val="tx1"/>
                </a:solidFill>
                <a:latin typeface="メイリオ" panose="020B0604030504040204" pitchFamily="50" charset="-128"/>
                <a:ea typeface="メイリオ" panose="020B0604030504040204" pitchFamily="50" charset="-128"/>
              </a:defRPr>
            </a:lvl1pPr>
          </a:lstStyle>
          <a:p>
            <a:r>
              <a:rPr kumimoji="1" lang="ja-JP" altLang="en-US" dirty="0"/>
              <a:t>話題について伝えるべきメッセージ（問いの答え）</a:t>
            </a:r>
          </a:p>
        </p:txBody>
      </p:sp>
      <p:sp>
        <p:nvSpPr>
          <p:cNvPr id="3" name="コンテンツ プレースホルダー 2"/>
          <p:cNvSpPr>
            <a:spLocks noGrp="1"/>
          </p:cNvSpPr>
          <p:nvPr>
            <p:ph idx="1" hasCustomPrompt="1"/>
          </p:nvPr>
        </p:nvSpPr>
        <p:spPr>
          <a:xfrm>
            <a:off x="558800" y="2013155"/>
            <a:ext cx="11099800" cy="4572000"/>
          </a:xfrm>
        </p:spPr>
        <p:txBody>
          <a:bodyPr/>
          <a:lstStyle>
            <a:lvl1pPr marL="457200" indent="-457200">
              <a:buClr>
                <a:schemeClr val="accent1">
                  <a:lumMod val="50000"/>
                </a:schemeClr>
              </a:buClr>
              <a:buFont typeface="Wingdings" panose="05000000000000000000" pitchFamily="2" charset="2"/>
              <a:buChar char="l"/>
              <a:defRPr sz="2600">
                <a:solidFill>
                  <a:schemeClr val="tx1"/>
                </a:solidFill>
                <a:latin typeface="メイリオ" panose="020B0604030504040204" pitchFamily="50" charset="-128"/>
                <a:ea typeface="メイリオ" panose="020B0604030504040204" pitchFamily="50" charset="-128"/>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a:latin typeface="メイリオ" panose="020B0604030504040204" pitchFamily="50" charset="-128"/>
                <a:ea typeface="メイリオ" panose="020B0604030504040204" pitchFamily="50" charset="-128"/>
              </a:defRPr>
            </a:lvl2pPr>
            <a:lvl3pPr>
              <a:defRPr sz="2200">
                <a:latin typeface="メイリオ" panose="020B0604030504040204" pitchFamily="50" charset="-128"/>
                <a:ea typeface="メイリオ" panose="020B0604030504040204" pitchFamily="50" charset="-128"/>
              </a:defRPr>
            </a:lvl3pPr>
            <a:lvl4pPr>
              <a:defRPr sz="2000">
                <a:latin typeface="メイリオ" panose="020B0604030504040204" pitchFamily="50" charset="-128"/>
                <a:ea typeface="メイリオ" panose="020B0604030504040204" pitchFamily="50" charset="-128"/>
              </a:defRPr>
            </a:lvl4pPr>
            <a:lvl5pPr>
              <a:defRPr>
                <a:latin typeface="メイリオ" panose="020B0604030504040204" pitchFamily="50" charset="-128"/>
                <a:ea typeface="メイリオ" panose="020B0604030504040204" pitchFamily="50" charset="-128"/>
              </a:defRPr>
            </a:lvl5pPr>
          </a:lstStyle>
          <a:p>
            <a:pPr lvl="0"/>
            <a:r>
              <a:rPr kumimoji="1" lang="ja-JP" altLang="en-US" dirty="0"/>
              <a:t>メッセージの補足説明（根拠／解説／具体例）</a:t>
            </a:r>
            <a:endParaRPr kumimoji="1" lang="en-US" altLang="ja-JP" dirty="0"/>
          </a:p>
          <a:p>
            <a:pPr lvl="1"/>
            <a:r>
              <a:rPr kumimoji="1" lang="ja-JP" altLang="en-US" dirty="0"/>
              <a:t>第２段</a:t>
            </a:r>
            <a:endParaRPr kumimoji="1" lang="en-US" altLang="ja-JP" dirty="0"/>
          </a:p>
          <a:p>
            <a:pPr lvl="2"/>
            <a:r>
              <a:rPr kumimoji="1" lang="ja-JP" altLang="en-US" dirty="0"/>
              <a:t>第３段</a:t>
            </a:r>
            <a:endParaRPr kumimoji="1" lang="en-US" altLang="ja-JP" dirty="0"/>
          </a:p>
          <a:p>
            <a:pPr lvl="3"/>
            <a:r>
              <a:rPr kumimoji="1" lang="ja-JP" altLang="en-US" dirty="0"/>
              <a:t>第４段</a:t>
            </a:r>
            <a:endParaRPr kumimoji="1" lang="en-US" altLang="ja-JP" dirty="0"/>
          </a:p>
          <a:p>
            <a:pPr lvl="4"/>
            <a:r>
              <a:rPr kumimoji="1" lang="ja-JP" altLang="en-US" dirty="0"/>
              <a:t>第５弾</a:t>
            </a:r>
            <a:endParaRPr kumimoji="1" lang="en-US" altLang="ja-JP" dirty="0"/>
          </a:p>
          <a:p>
            <a:pPr lvl="3"/>
            <a:endParaRPr kumimoji="1" lang="en-US" altLang="ja-JP" dirty="0"/>
          </a:p>
          <a:p>
            <a:pPr lvl="3"/>
            <a:endParaRPr kumimoji="1" lang="en-US" altLang="ja-JP" dirty="0"/>
          </a:p>
          <a:p>
            <a:pPr lvl="1"/>
            <a:endParaRPr kumimoji="1" lang="en-US" altLang="ja-JP" dirty="0"/>
          </a:p>
          <a:p>
            <a:pPr lvl="0"/>
            <a:endParaRPr kumimoji="1" lang="en-US" altLang="ja-JP" dirty="0"/>
          </a:p>
          <a:p>
            <a:pPr lvl="0"/>
            <a:endParaRPr kumimoji="1" lang="en-US" altLang="ja-JP" dirty="0"/>
          </a:p>
          <a:p>
            <a:pPr lvl="1"/>
            <a:endParaRPr kumimoji="1" lang="en-US" altLang="ja-JP" dirty="0"/>
          </a:p>
        </p:txBody>
      </p:sp>
      <p:sp>
        <p:nvSpPr>
          <p:cNvPr id="18" name="テキスト プレースホルダー 17"/>
          <p:cNvSpPr>
            <a:spLocks noGrp="1"/>
          </p:cNvSpPr>
          <p:nvPr>
            <p:ph type="body" sz="quarter" idx="11" hasCustomPrompt="1"/>
          </p:nvPr>
        </p:nvSpPr>
        <p:spPr>
          <a:xfrm>
            <a:off x="210574" y="83050"/>
            <a:ext cx="11455400" cy="469900"/>
          </a:xfrm>
        </p:spPr>
        <p:txBody>
          <a:bodyPr>
            <a:noAutofit/>
          </a:bodyPr>
          <a:lstStyle>
            <a:lvl1pPr marL="0" indent="0">
              <a:buNone/>
              <a:defRPr sz="2800" b="1">
                <a:latin typeface="メイリオ" panose="020B0604030504040204" pitchFamily="50" charset="-128"/>
                <a:ea typeface="メイリオ" panose="020B0604030504040204" pitchFamily="50" charset="-128"/>
              </a:defRPr>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スライドの話題＝問い</a:t>
            </a:r>
            <a:r>
              <a:rPr kumimoji="1" lang="en-US" altLang="ja-JP" dirty="0"/>
              <a:t>=</a:t>
            </a:r>
            <a:r>
              <a:rPr kumimoji="1" lang="ja-JP" altLang="en-US" dirty="0"/>
              <a:t>論点</a:t>
            </a:r>
            <a:endParaRPr kumimoji="1" lang="en-US" altLang="ja-JP" dirty="0"/>
          </a:p>
        </p:txBody>
      </p:sp>
      <p:sp>
        <p:nvSpPr>
          <p:cNvPr id="23" name="テキスト ボックス 22"/>
          <p:cNvSpPr txBox="1"/>
          <p:nvPr userDrawn="1"/>
        </p:nvSpPr>
        <p:spPr>
          <a:xfrm>
            <a:off x="11493500" y="32184"/>
            <a:ext cx="561372" cy="461665"/>
          </a:xfrm>
          <a:prstGeom prst="rect">
            <a:avLst/>
          </a:prstGeom>
          <a:noFill/>
        </p:spPr>
        <p:txBody>
          <a:bodyPr wrap="none" rtlCol="0">
            <a:spAutoFit/>
          </a:bodyPr>
          <a:lstStyle/>
          <a:p>
            <a:fld id="{86695743-78A6-41C5-8EC9-B94E39B9B94D}" type="slidenum">
              <a:rPr kumimoji="1" lang="ja-JP" altLang="en-US" sz="2400" smtClean="0">
                <a:solidFill>
                  <a:schemeClr val="tx1"/>
                </a:solidFill>
                <a:latin typeface="+mn-lt"/>
                <a:ea typeface="游ゴシック Medium" panose="020B0500000000000000" pitchFamily="50" charset="-128"/>
              </a:rPr>
              <a:t>‹#›</a:t>
            </a:fld>
            <a:endParaRPr kumimoji="1" lang="ja-JP" altLang="en-US" sz="2400" dirty="0">
              <a:solidFill>
                <a:schemeClr val="tx1"/>
              </a:solidFill>
              <a:latin typeface="+mn-lt"/>
              <a:ea typeface="游ゴシック Medium" panose="020B0500000000000000" pitchFamily="50" charset="-128"/>
            </a:endParaRPr>
          </a:p>
        </p:txBody>
      </p:sp>
      <p:cxnSp>
        <p:nvCxnSpPr>
          <p:cNvPr id="26" name="直線コネクタ 25"/>
          <p:cNvCxnSpPr/>
          <p:nvPr userDrawn="1"/>
        </p:nvCxnSpPr>
        <p:spPr>
          <a:xfrm>
            <a:off x="0" y="578612"/>
            <a:ext cx="12192000"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20533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パラグラフスライド">
    <p:spTree>
      <p:nvGrpSpPr>
        <p:cNvPr id="1" name=""/>
        <p:cNvGrpSpPr/>
        <p:nvPr/>
      </p:nvGrpSpPr>
      <p:grpSpPr>
        <a:xfrm>
          <a:off x="0" y="0"/>
          <a:ext cx="0" cy="0"/>
          <a:chOff x="0" y="0"/>
          <a:chExt cx="0" cy="0"/>
        </a:xfrm>
      </p:grpSpPr>
      <p:sp>
        <p:nvSpPr>
          <p:cNvPr id="3" name="コンテンツ プレースホルダー 2"/>
          <p:cNvSpPr>
            <a:spLocks noGrp="1"/>
          </p:cNvSpPr>
          <p:nvPr>
            <p:ph idx="1" hasCustomPrompt="1"/>
          </p:nvPr>
        </p:nvSpPr>
        <p:spPr>
          <a:xfrm>
            <a:off x="210574" y="663375"/>
            <a:ext cx="11704058" cy="5778627"/>
          </a:xfrm>
        </p:spPr>
        <p:txBody>
          <a:bodyPr/>
          <a:lstStyle>
            <a:lvl1pPr marL="457200" indent="-457200">
              <a:buClr>
                <a:schemeClr val="accent1">
                  <a:lumMod val="75000"/>
                </a:schemeClr>
              </a:buClr>
              <a:buFont typeface="Wingdings" panose="05000000000000000000" pitchFamily="2" charset="2"/>
              <a:buChar char="l"/>
              <a:defRPr sz="2600">
                <a:solidFill>
                  <a:schemeClr val="tx1"/>
                </a:solidFill>
                <a:latin typeface="メイリオ" panose="020B0604030504040204" pitchFamily="50" charset="-128"/>
                <a:ea typeface="メイリオ" panose="020B0604030504040204" pitchFamily="50" charset="-128"/>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a:latin typeface="メイリオ" panose="020B0604030504040204" pitchFamily="50" charset="-128"/>
                <a:ea typeface="メイリオ" panose="020B0604030504040204" pitchFamily="50" charset="-128"/>
              </a:defRPr>
            </a:lvl2pPr>
            <a:lvl3pPr>
              <a:defRPr sz="2200">
                <a:latin typeface="メイリオ" panose="020B0604030504040204" pitchFamily="50" charset="-128"/>
                <a:ea typeface="メイリオ" panose="020B0604030504040204" pitchFamily="50" charset="-128"/>
              </a:defRPr>
            </a:lvl3pPr>
            <a:lvl4pPr>
              <a:defRPr sz="2000">
                <a:latin typeface="メイリオ" panose="020B0604030504040204" pitchFamily="50" charset="-128"/>
                <a:ea typeface="メイリオ" panose="020B0604030504040204" pitchFamily="50" charset="-128"/>
              </a:defRPr>
            </a:lvl4pPr>
            <a:lvl5pPr>
              <a:defRPr>
                <a:latin typeface="メイリオ" panose="020B0604030504040204" pitchFamily="50" charset="-128"/>
                <a:ea typeface="メイリオ" panose="020B0604030504040204" pitchFamily="50" charset="-128"/>
              </a:defRPr>
            </a:lvl5pPr>
          </a:lstStyle>
          <a:p>
            <a:pPr lvl="0"/>
            <a:r>
              <a:rPr kumimoji="1" lang="ja-JP" altLang="en-US" dirty="0"/>
              <a:t>メッセージの補足説明（根拠／解説／具体例）</a:t>
            </a:r>
            <a:endParaRPr kumimoji="1" lang="en-US" altLang="ja-JP" dirty="0"/>
          </a:p>
          <a:p>
            <a:pPr lvl="1"/>
            <a:r>
              <a:rPr kumimoji="1" lang="ja-JP" altLang="en-US" dirty="0"/>
              <a:t>第２段</a:t>
            </a:r>
            <a:endParaRPr kumimoji="1" lang="en-US" altLang="ja-JP" dirty="0"/>
          </a:p>
          <a:p>
            <a:pPr lvl="2"/>
            <a:r>
              <a:rPr kumimoji="1" lang="ja-JP" altLang="en-US" dirty="0"/>
              <a:t>第３段</a:t>
            </a:r>
            <a:endParaRPr kumimoji="1" lang="en-US" altLang="ja-JP" dirty="0"/>
          </a:p>
          <a:p>
            <a:pPr lvl="3"/>
            <a:r>
              <a:rPr kumimoji="1" lang="ja-JP" altLang="en-US" dirty="0"/>
              <a:t>第４段</a:t>
            </a:r>
            <a:endParaRPr kumimoji="1" lang="en-US" altLang="ja-JP" dirty="0"/>
          </a:p>
          <a:p>
            <a:pPr lvl="4"/>
            <a:r>
              <a:rPr kumimoji="1" lang="ja-JP" altLang="en-US" dirty="0"/>
              <a:t>第５弾</a:t>
            </a:r>
            <a:endParaRPr kumimoji="1" lang="en-US" altLang="ja-JP" dirty="0"/>
          </a:p>
          <a:p>
            <a:pPr lvl="3"/>
            <a:endParaRPr kumimoji="1" lang="en-US" altLang="ja-JP" dirty="0"/>
          </a:p>
          <a:p>
            <a:pPr lvl="3"/>
            <a:endParaRPr kumimoji="1" lang="en-US" altLang="ja-JP" dirty="0"/>
          </a:p>
          <a:p>
            <a:pPr lvl="1"/>
            <a:endParaRPr kumimoji="1" lang="en-US" altLang="ja-JP" dirty="0"/>
          </a:p>
          <a:p>
            <a:pPr lvl="0"/>
            <a:endParaRPr kumimoji="1" lang="en-US" altLang="ja-JP" dirty="0"/>
          </a:p>
          <a:p>
            <a:pPr lvl="0"/>
            <a:endParaRPr kumimoji="1" lang="en-US" altLang="ja-JP" dirty="0"/>
          </a:p>
          <a:p>
            <a:pPr lvl="1"/>
            <a:endParaRPr kumimoji="1" lang="en-US" altLang="ja-JP" dirty="0"/>
          </a:p>
        </p:txBody>
      </p:sp>
      <p:sp>
        <p:nvSpPr>
          <p:cNvPr id="18" name="テキスト プレースホルダー 17"/>
          <p:cNvSpPr>
            <a:spLocks noGrp="1"/>
          </p:cNvSpPr>
          <p:nvPr>
            <p:ph type="body" sz="quarter" idx="11" hasCustomPrompt="1"/>
          </p:nvPr>
        </p:nvSpPr>
        <p:spPr>
          <a:xfrm>
            <a:off x="210574" y="83050"/>
            <a:ext cx="11455400" cy="469900"/>
          </a:xfrm>
        </p:spPr>
        <p:txBody>
          <a:bodyPr>
            <a:noAutofit/>
          </a:bodyPr>
          <a:lstStyle>
            <a:lvl1pPr marL="0" indent="0">
              <a:buNone/>
              <a:defRPr sz="2800" b="1">
                <a:latin typeface="メイリオ" panose="020B0604030504040204" pitchFamily="50" charset="-128"/>
                <a:ea typeface="メイリオ" panose="020B0604030504040204" pitchFamily="50" charset="-128"/>
              </a:defRPr>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スライドの話題＝問い</a:t>
            </a:r>
            <a:r>
              <a:rPr kumimoji="1" lang="en-US" altLang="ja-JP" dirty="0"/>
              <a:t>=</a:t>
            </a:r>
            <a:r>
              <a:rPr kumimoji="1" lang="ja-JP" altLang="en-US" dirty="0"/>
              <a:t>論点</a:t>
            </a:r>
            <a:endParaRPr kumimoji="1" lang="en-US" altLang="ja-JP" dirty="0"/>
          </a:p>
        </p:txBody>
      </p:sp>
      <p:sp>
        <p:nvSpPr>
          <p:cNvPr id="23" name="テキスト ボックス 22"/>
          <p:cNvSpPr txBox="1"/>
          <p:nvPr userDrawn="1"/>
        </p:nvSpPr>
        <p:spPr>
          <a:xfrm>
            <a:off x="11493500" y="32184"/>
            <a:ext cx="561372" cy="461665"/>
          </a:xfrm>
          <a:prstGeom prst="rect">
            <a:avLst/>
          </a:prstGeom>
          <a:noFill/>
        </p:spPr>
        <p:txBody>
          <a:bodyPr wrap="none" rtlCol="0">
            <a:spAutoFit/>
          </a:bodyPr>
          <a:lstStyle/>
          <a:p>
            <a:fld id="{86695743-78A6-41C5-8EC9-B94E39B9B94D}" type="slidenum">
              <a:rPr kumimoji="1" lang="ja-JP" altLang="en-US" sz="2400" smtClean="0">
                <a:solidFill>
                  <a:schemeClr val="tx1"/>
                </a:solidFill>
                <a:latin typeface="+mn-lt"/>
                <a:ea typeface="游ゴシック Medium" panose="020B0500000000000000" pitchFamily="50" charset="-128"/>
              </a:rPr>
              <a:t>‹#›</a:t>
            </a:fld>
            <a:endParaRPr kumimoji="1" lang="ja-JP" altLang="en-US" sz="2400" dirty="0">
              <a:solidFill>
                <a:schemeClr val="tx1"/>
              </a:solidFill>
              <a:latin typeface="+mn-lt"/>
              <a:ea typeface="游ゴシック Medium" panose="020B0500000000000000" pitchFamily="50" charset="-128"/>
            </a:endParaRPr>
          </a:p>
        </p:txBody>
      </p:sp>
      <p:cxnSp>
        <p:nvCxnSpPr>
          <p:cNvPr id="26" name="直線コネクタ 25"/>
          <p:cNvCxnSpPr/>
          <p:nvPr userDrawn="1"/>
        </p:nvCxnSpPr>
        <p:spPr>
          <a:xfrm>
            <a:off x="0" y="578612"/>
            <a:ext cx="12192000"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8" name="テキスト プレースホルダー 7">
            <a:extLst>
              <a:ext uri="{FF2B5EF4-FFF2-40B4-BE49-F238E27FC236}">
                <a16:creationId xmlns:a16="http://schemas.microsoft.com/office/drawing/2014/main" id="{13CD2DE4-FCAB-E7CE-1393-B8E40A37BA7F}"/>
              </a:ext>
            </a:extLst>
          </p:cNvPr>
          <p:cNvSpPr>
            <a:spLocks noGrp="1"/>
          </p:cNvSpPr>
          <p:nvPr>
            <p:ph type="body" sz="quarter" idx="12" hasCustomPrompt="1"/>
          </p:nvPr>
        </p:nvSpPr>
        <p:spPr>
          <a:xfrm>
            <a:off x="277813" y="6467672"/>
            <a:ext cx="11636374" cy="307778"/>
          </a:xfrm>
        </p:spPr>
        <p:txBody>
          <a:bodyPr>
            <a:noAutofit/>
          </a:bodyPr>
          <a:lstStyle>
            <a:lvl1pPr marL="0" indent="0">
              <a:buNone/>
              <a:defRPr sz="1600">
                <a:solidFill>
                  <a:srgbClr val="7030A0"/>
                </a:solidFill>
                <a:latin typeface="メイリオ" panose="020B0604030504040204" pitchFamily="50" charset="-128"/>
                <a:ea typeface="メイリオ" panose="020B0604030504040204" pitchFamily="50" charset="-128"/>
              </a:defRPr>
            </a:lvl1pPr>
          </a:lstStyle>
          <a:p>
            <a:pPr lvl="0"/>
            <a:r>
              <a:rPr kumimoji="1" lang="en-US" altLang="ja-JP" dirty="0"/>
              <a:t>[*]</a:t>
            </a:r>
            <a:r>
              <a:rPr kumimoji="1" lang="ja-JP" altLang="en-US" dirty="0"/>
              <a:t> 引用文献</a:t>
            </a:r>
          </a:p>
        </p:txBody>
      </p:sp>
    </p:spTree>
    <p:extLst>
      <p:ext uri="{BB962C8B-B14F-4D97-AF65-F5344CB8AC3E}">
        <p14:creationId xmlns:p14="http://schemas.microsoft.com/office/powerpoint/2010/main" val="30185848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カー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72136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70536709-7CA3-FFFF-C801-C9C86B9571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3FA7A7C-91C1-201A-7DE4-3BBBC92FD3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8A50A54-0FB9-B5C4-B2A4-17BCF15178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DC8BE36-1033-4103-81F0-B5740DADF330}" type="datetimeFigureOut">
              <a:rPr kumimoji="1" lang="ja-JP" altLang="en-US" smtClean="0"/>
              <a:t>2026/6/15</a:t>
            </a:fld>
            <a:endParaRPr kumimoji="1" lang="ja-JP" altLang="en-US"/>
          </a:p>
        </p:txBody>
      </p:sp>
      <p:sp>
        <p:nvSpPr>
          <p:cNvPr id="5" name="フッター プレースホルダー 4">
            <a:extLst>
              <a:ext uri="{FF2B5EF4-FFF2-40B4-BE49-F238E27FC236}">
                <a16:creationId xmlns:a16="http://schemas.microsoft.com/office/drawing/2014/main" id="{6766D1FD-2B16-96A0-EFC6-00E1417F82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1AA8F7C8-9146-DDB0-4E66-57F934AAA2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8A80E23-0F12-43E7-A994-EC0CE2D5ACA5}" type="slidenum">
              <a:rPr kumimoji="1" lang="ja-JP" altLang="en-US" smtClean="0"/>
              <a:t>‹#›</a:t>
            </a:fld>
            <a:endParaRPr kumimoji="1" lang="ja-JP" altLang="en-US"/>
          </a:p>
        </p:txBody>
      </p:sp>
    </p:spTree>
    <p:extLst>
      <p:ext uri="{BB962C8B-B14F-4D97-AF65-F5344CB8AC3E}">
        <p14:creationId xmlns:p14="http://schemas.microsoft.com/office/powerpoint/2010/main" val="6991249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BAF030-86AC-4BA0-B9C6-3243C593BCFC}" type="datetimeFigureOut">
              <a:rPr kumimoji="1" lang="ja-JP" altLang="en-US" smtClean="0"/>
              <a:t>2026/6/15</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1B92D0-3845-473E-8E13-C70357A36CF6}" type="slidenum">
              <a:rPr kumimoji="1" lang="ja-JP" altLang="en-US" smtClean="0"/>
              <a:t>‹#›</a:t>
            </a:fld>
            <a:endParaRPr kumimoji="1" lang="ja-JP" altLang="en-US"/>
          </a:p>
        </p:txBody>
      </p:sp>
    </p:spTree>
    <p:extLst>
      <p:ext uri="{BB962C8B-B14F-4D97-AF65-F5344CB8AC3E}">
        <p14:creationId xmlns:p14="http://schemas.microsoft.com/office/powerpoint/2010/main" val="19470210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446088" indent="-446088" algn="l" defTabSz="914400" rtl="0" eaLnBrk="1" latinLnBrk="0" hangingPunct="1">
        <a:lnSpc>
          <a:spcPct val="110000"/>
        </a:lnSpc>
        <a:spcBef>
          <a:spcPts val="1800"/>
        </a:spcBef>
        <a:buClr>
          <a:schemeClr val="accent4"/>
        </a:buClr>
        <a:buFont typeface="Wingdings" panose="05000000000000000000" pitchFamily="2" charset="2"/>
        <a:buChar char="l"/>
        <a:defRPr kumimoji="1" sz="2800" b="1" kern="1200">
          <a:solidFill>
            <a:schemeClr val="tx1"/>
          </a:solidFill>
          <a:latin typeface="游ゴシック" panose="020B0400000000000000" pitchFamily="50" charset="-128"/>
          <a:ea typeface="游ゴシック" panose="020B0400000000000000" pitchFamily="50" charset="-128"/>
          <a:cs typeface="+mn-cs"/>
        </a:defRPr>
      </a:lvl1pPr>
      <a:lvl2pPr marL="898525" indent="-441325" algn="l" defTabSz="914400" rtl="0" eaLnBrk="1" latinLnBrk="0" hangingPunct="1">
        <a:lnSpc>
          <a:spcPct val="110000"/>
        </a:lnSpc>
        <a:spcBef>
          <a:spcPts val="0"/>
        </a:spcBef>
        <a:buFont typeface="Wingdings" panose="05000000000000000000" pitchFamily="2" charset="2"/>
        <a:buChar char="l"/>
        <a:defRPr kumimoji="1" sz="2400" kern="1200">
          <a:solidFill>
            <a:schemeClr val="tx2"/>
          </a:solidFill>
          <a:latin typeface="+mn-lt"/>
          <a:ea typeface="+mn-ea"/>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2000" kern="1200">
          <a:solidFill>
            <a:schemeClr val="tx2"/>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minorasu.basf.co.jp/80045"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hyperlink" Target="https://www.sciencedirect.com/science/article/pii/S2405896320304699"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40.png"/><Relationship Id="rId7"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8.png"/><Relationship Id="rId11" Type="http://schemas.openxmlformats.org/officeDocument/2006/relationships/image" Target="../media/image22.png"/><Relationship Id="rId5" Type="http://schemas.openxmlformats.org/officeDocument/2006/relationships/image" Target="../media/image170.png"/><Relationship Id="rId10" Type="http://schemas.openxmlformats.org/officeDocument/2006/relationships/image" Target="../media/image21.png"/><Relationship Id="rId4" Type="http://schemas.openxmlformats.org/officeDocument/2006/relationships/image" Target="../media/image150.png"/><Relationship Id="rId9"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5.png"/><Relationship Id="rId7" Type="http://schemas.openxmlformats.org/officeDocument/2006/relationships/hyperlink" Target="https://www.sciencedirect.com/science/article/pii/S2405896320304699" TargetMode="External"/><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50A0D2-B245-C485-D66B-2FA12382EF12}"/>
              </a:ext>
            </a:extLst>
          </p:cNvPr>
          <p:cNvSpPr>
            <a:spLocks noGrp="1"/>
          </p:cNvSpPr>
          <p:nvPr>
            <p:ph type="ctrTitle"/>
          </p:nvPr>
        </p:nvSpPr>
        <p:spPr>
          <a:solidFill>
            <a:srgbClr val="0070C0"/>
          </a:solidFill>
        </p:spPr>
        <p:txBody>
          <a:bodyPr>
            <a:normAutofit/>
          </a:bodyPr>
          <a:lstStyle/>
          <a:p>
            <a:r>
              <a:rPr lang="ja-JP" altLang="en-US" sz="4000" dirty="0">
                <a:solidFill>
                  <a:schemeClr val="bg1"/>
                </a:solidFill>
              </a:rPr>
              <a:t>植物工場におけるレタス成長のための</a:t>
            </a:r>
            <a:br>
              <a:rPr lang="en-US" altLang="ja-JP" sz="4000" dirty="0">
                <a:solidFill>
                  <a:schemeClr val="bg1"/>
                </a:solidFill>
              </a:rPr>
            </a:br>
            <a:r>
              <a:rPr lang="ja-JP" altLang="en-US" sz="4000" dirty="0">
                <a:solidFill>
                  <a:schemeClr val="bg1"/>
                </a:solidFill>
              </a:rPr>
              <a:t>数理モデル化と数値実験による便益評価</a:t>
            </a:r>
            <a:endParaRPr kumimoji="1" lang="ja-JP" altLang="en-US" sz="4000" dirty="0">
              <a:solidFill>
                <a:schemeClr val="bg1"/>
              </a:solidFill>
            </a:endParaRPr>
          </a:p>
        </p:txBody>
      </p:sp>
      <p:sp>
        <p:nvSpPr>
          <p:cNvPr id="3" name="字幕 2">
            <a:extLst>
              <a:ext uri="{FF2B5EF4-FFF2-40B4-BE49-F238E27FC236}">
                <a16:creationId xmlns:a16="http://schemas.microsoft.com/office/drawing/2014/main" id="{222BDCE6-98B2-F53F-7860-AAD7BA0ED22A}"/>
              </a:ext>
            </a:extLst>
          </p:cNvPr>
          <p:cNvSpPr>
            <a:spLocks noGrp="1"/>
          </p:cNvSpPr>
          <p:nvPr>
            <p:ph type="subTitle" idx="1"/>
          </p:nvPr>
        </p:nvSpPr>
        <p:spPr/>
        <p:txBody>
          <a:bodyPr/>
          <a:lstStyle/>
          <a:p>
            <a:r>
              <a:rPr kumimoji="1" lang="ja-JP" altLang="en-US" dirty="0"/>
              <a:t>和佐研究室</a:t>
            </a:r>
            <a:endParaRPr kumimoji="1" lang="en-US" altLang="ja-JP" dirty="0"/>
          </a:p>
          <a:p>
            <a:r>
              <a:rPr kumimoji="1" lang="en-US" altLang="ja-JP" dirty="0"/>
              <a:t>B4 </a:t>
            </a:r>
            <a:r>
              <a:rPr kumimoji="1" lang="ja-JP" altLang="en-US" dirty="0"/>
              <a:t>大坂蒼翔</a:t>
            </a:r>
            <a:endParaRPr kumimoji="1" lang="en-US" altLang="ja-JP" dirty="0"/>
          </a:p>
        </p:txBody>
      </p:sp>
      <p:sp>
        <p:nvSpPr>
          <p:cNvPr id="4" name="テキスト ボックス 3">
            <a:extLst>
              <a:ext uri="{FF2B5EF4-FFF2-40B4-BE49-F238E27FC236}">
                <a16:creationId xmlns:a16="http://schemas.microsoft.com/office/drawing/2014/main" id="{BE4F4A2D-D971-A1B3-075B-DAE9FCD3B045}"/>
              </a:ext>
            </a:extLst>
          </p:cNvPr>
          <p:cNvSpPr txBox="1"/>
          <p:nvPr/>
        </p:nvSpPr>
        <p:spPr>
          <a:xfrm>
            <a:off x="338016" y="586709"/>
            <a:ext cx="3138714" cy="369332"/>
          </a:xfrm>
          <a:prstGeom prst="rect">
            <a:avLst/>
          </a:prstGeom>
          <a:noFill/>
        </p:spPr>
        <p:txBody>
          <a:bodyPr wrap="square" rtlCol="0">
            <a:spAutoFit/>
          </a:bodyPr>
          <a:lstStyle/>
          <a:p>
            <a:r>
              <a:rPr lang="ja-JP" altLang="en-US" dirty="0">
                <a:latin typeface="+mj-ea"/>
                <a:ea typeface="+mj-ea"/>
              </a:rPr>
              <a:t>　卒業研究</a:t>
            </a:r>
            <a:endParaRPr kumimoji="1" lang="ja-JP" altLang="en-US" sz="2000" dirty="0">
              <a:latin typeface="+mj-ea"/>
              <a:ea typeface="+mj-ea"/>
            </a:endParaRPr>
          </a:p>
        </p:txBody>
      </p:sp>
    </p:spTree>
    <p:extLst>
      <p:ext uri="{BB962C8B-B14F-4D97-AF65-F5344CB8AC3E}">
        <p14:creationId xmlns:p14="http://schemas.microsoft.com/office/powerpoint/2010/main" val="42727866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36F9E-3FBF-A44A-913D-AB1446EA0D41}"/>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CD89A0B3-42C6-4C4F-1ABF-50E33F695900}"/>
              </a:ext>
            </a:extLst>
          </p:cNvPr>
          <p:cNvSpPr>
            <a:spLocks noGrp="1"/>
          </p:cNvSpPr>
          <p:nvPr>
            <p:ph type="body" sz="quarter" idx="11"/>
          </p:nvPr>
        </p:nvSpPr>
        <p:spPr/>
        <p:txBody>
          <a:bodyPr/>
          <a:lstStyle/>
          <a:p>
            <a:r>
              <a:rPr kumimoji="1" lang="ja-JP" altLang="en-US" dirty="0"/>
              <a:t>背景と目的</a:t>
            </a:r>
          </a:p>
        </p:txBody>
      </p:sp>
      <p:sp>
        <p:nvSpPr>
          <p:cNvPr id="4" name="テキスト プレースホルダー 3">
            <a:extLst>
              <a:ext uri="{FF2B5EF4-FFF2-40B4-BE49-F238E27FC236}">
                <a16:creationId xmlns:a16="http://schemas.microsoft.com/office/drawing/2014/main" id="{166066DE-BA81-A5E2-1BDB-DCB2B2258FDD}"/>
              </a:ext>
            </a:extLst>
          </p:cNvPr>
          <p:cNvSpPr>
            <a:spLocks noGrp="1"/>
          </p:cNvSpPr>
          <p:nvPr>
            <p:ph type="body" sz="quarter" idx="12"/>
          </p:nvPr>
        </p:nvSpPr>
        <p:spPr/>
        <p:txBody>
          <a:bodyPr/>
          <a:lstStyle/>
          <a:p>
            <a:r>
              <a:rPr kumimoji="1" lang="en-US" altLang="ja-JP" sz="1400" dirty="0">
                <a:solidFill>
                  <a:schemeClr val="tx1"/>
                </a:solidFill>
              </a:rPr>
              <a:t>[1]</a:t>
            </a:r>
            <a:r>
              <a:rPr kumimoji="1" lang="en-US" altLang="ja-JP" sz="1400" dirty="0" err="1">
                <a:solidFill>
                  <a:schemeClr val="tx1"/>
                </a:solidFill>
              </a:rPr>
              <a:t>minorasu</a:t>
            </a:r>
            <a:r>
              <a:rPr kumimoji="1" lang="en-US" altLang="ja-JP" sz="1400" dirty="0">
                <a:solidFill>
                  <a:schemeClr val="tx1"/>
                </a:solidFill>
              </a:rPr>
              <a:t>,</a:t>
            </a:r>
            <a:r>
              <a:rPr lang="ja-JP" altLang="en-US" sz="1400" dirty="0">
                <a:solidFill>
                  <a:schemeClr val="tx1"/>
                </a:solidFill>
              </a:rPr>
              <a:t>植物工場とは？そのメリット・デメリットについて解説</a:t>
            </a:r>
            <a:r>
              <a:rPr lang="en-US" altLang="ja-JP" sz="1400" dirty="0">
                <a:solidFill>
                  <a:schemeClr val="tx1"/>
                </a:solidFill>
              </a:rPr>
              <a:t>. </a:t>
            </a:r>
            <a:r>
              <a:rPr lang="en-US" altLang="ja-JP" sz="1400" dirty="0">
                <a:solidFill>
                  <a:schemeClr val="tx1"/>
                </a:solidFill>
                <a:hlinkClick r:id="rId3">
                  <a:extLst>
                    <a:ext uri="{A12FA001-AC4F-418D-AE19-62706E023703}">
                      <ahyp:hlinkClr xmlns:ahyp="http://schemas.microsoft.com/office/drawing/2018/hyperlinkcolor" val="tx"/>
                    </a:ext>
                  </a:extLst>
                </a:hlinkClick>
              </a:rPr>
              <a:t>https://minorasu.basf.co.jp/80045</a:t>
            </a:r>
            <a:endParaRPr lang="ja-JP" altLang="en-US" sz="1400" dirty="0">
              <a:solidFill>
                <a:schemeClr val="tx1"/>
              </a:solidFill>
            </a:endParaRPr>
          </a:p>
          <a:p>
            <a:endParaRPr kumimoji="1" lang="ja-JP" altLang="en-US" dirty="0">
              <a:solidFill>
                <a:schemeClr val="tx1"/>
              </a:solidFill>
            </a:endParaRPr>
          </a:p>
        </p:txBody>
      </p:sp>
      <p:sp>
        <p:nvSpPr>
          <p:cNvPr id="7" name="テキスト ボックス 6">
            <a:extLst>
              <a:ext uri="{FF2B5EF4-FFF2-40B4-BE49-F238E27FC236}">
                <a16:creationId xmlns:a16="http://schemas.microsoft.com/office/drawing/2014/main" id="{8AA802AF-8517-0793-FC6C-348AEC0E3524}"/>
              </a:ext>
            </a:extLst>
          </p:cNvPr>
          <p:cNvSpPr txBox="1"/>
          <p:nvPr/>
        </p:nvSpPr>
        <p:spPr>
          <a:xfrm>
            <a:off x="461818" y="876963"/>
            <a:ext cx="1588655" cy="461665"/>
          </a:xfrm>
          <a:prstGeom prst="rect">
            <a:avLst/>
          </a:prstGeom>
          <a:noFill/>
          <a:ln>
            <a:noFill/>
          </a:ln>
        </p:spPr>
        <p:txBody>
          <a:bodyPr wrap="square" rtlCol="0">
            <a:spAutoFit/>
          </a:bodyPr>
          <a:lstStyle/>
          <a:p>
            <a:r>
              <a:rPr kumimoji="1" lang="ja-JP" altLang="en-US" sz="2400" b="1" dirty="0">
                <a:solidFill>
                  <a:schemeClr val="bg1">
                    <a:lumMod val="10000"/>
                  </a:schemeClr>
                </a:solidFill>
                <a:latin typeface="メイリオ" panose="020B0604030504040204" pitchFamily="50" charset="-128"/>
                <a:ea typeface="メイリオ" panose="020B0604030504040204" pitchFamily="50" charset="-128"/>
              </a:rPr>
              <a:t>植物工場</a:t>
            </a:r>
          </a:p>
        </p:txBody>
      </p:sp>
      <p:sp>
        <p:nvSpPr>
          <p:cNvPr id="9" name="テキスト ボックス 8">
            <a:extLst>
              <a:ext uri="{FF2B5EF4-FFF2-40B4-BE49-F238E27FC236}">
                <a16:creationId xmlns:a16="http://schemas.microsoft.com/office/drawing/2014/main" id="{221F35E5-3265-43F3-DCFA-ADB09CC3FABE}"/>
              </a:ext>
            </a:extLst>
          </p:cNvPr>
          <p:cNvSpPr txBox="1"/>
          <p:nvPr/>
        </p:nvSpPr>
        <p:spPr>
          <a:xfrm>
            <a:off x="1154545" y="1363756"/>
            <a:ext cx="7823200" cy="461665"/>
          </a:xfrm>
          <a:prstGeom prst="rect">
            <a:avLst/>
          </a:prstGeom>
          <a:noFill/>
          <a:ln>
            <a:noFill/>
          </a:ln>
        </p:spPr>
        <p:txBody>
          <a:bodyPr wrap="square" rtlCol="0">
            <a:spAutoFit/>
          </a:bodyPr>
          <a:lstStyle/>
          <a:p>
            <a:r>
              <a:rPr kumimoji="1" lang="ja-JP" altLang="en-US" sz="2400" b="1" dirty="0">
                <a:solidFill>
                  <a:schemeClr val="bg1">
                    <a:lumMod val="10000"/>
                  </a:schemeClr>
                </a:solidFill>
                <a:latin typeface="メイリオ" panose="020B0604030504040204" pitchFamily="50" charset="-128"/>
                <a:ea typeface="メイリオ" panose="020B0604030504040204" pitchFamily="50" charset="-128"/>
              </a:rPr>
              <a:t>・</a:t>
            </a:r>
            <a:r>
              <a:rPr kumimoji="1" lang="ja-JP" altLang="en-US" sz="2400" dirty="0">
                <a:solidFill>
                  <a:schemeClr val="bg1">
                    <a:lumMod val="10000"/>
                  </a:schemeClr>
                </a:solidFill>
                <a:latin typeface="メイリオ" panose="020B0604030504040204" pitchFamily="50" charset="-128"/>
                <a:ea typeface="メイリオ" panose="020B0604030504040204" pitchFamily="50" charset="-128"/>
              </a:rPr>
              <a:t>屋内で</a:t>
            </a:r>
            <a:r>
              <a:rPr kumimoji="1" lang="ja-JP" altLang="en-US" sz="2400" b="1" dirty="0">
                <a:solidFill>
                  <a:schemeClr val="bg1">
                    <a:lumMod val="10000"/>
                  </a:schemeClr>
                </a:solidFill>
                <a:latin typeface="メイリオ" panose="020B0604030504040204" pitchFamily="50" charset="-128"/>
                <a:ea typeface="メイリオ" panose="020B0604030504040204" pitchFamily="50" charset="-128"/>
              </a:rPr>
              <a:t>人工的</a:t>
            </a:r>
            <a:r>
              <a:rPr kumimoji="1" lang="ja-JP" altLang="en-US" sz="2400" dirty="0">
                <a:solidFill>
                  <a:schemeClr val="bg1">
                    <a:lumMod val="10000"/>
                  </a:schemeClr>
                </a:solidFill>
                <a:latin typeface="メイリオ" panose="020B0604030504040204" pitchFamily="50" charset="-128"/>
                <a:ea typeface="メイリオ" panose="020B0604030504040204" pitchFamily="50" charset="-128"/>
              </a:rPr>
              <a:t>に作物を大量生産するためのシステム</a:t>
            </a:r>
          </a:p>
        </p:txBody>
      </p:sp>
      <p:pic>
        <p:nvPicPr>
          <p:cNvPr id="11" name="図 10" descr="座る, 長い, グリーン, 表示 が含まれている画像&#10;&#10;AI 生成コンテンツは誤りを含む可能性があります。">
            <a:extLst>
              <a:ext uri="{FF2B5EF4-FFF2-40B4-BE49-F238E27FC236}">
                <a16:creationId xmlns:a16="http://schemas.microsoft.com/office/drawing/2014/main" id="{6D84DD54-98F4-4127-202E-A68E7D1AAF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95375" y="2309689"/>
            <a:ext cx="4051674" cy="2701116"/>
          </a:xfrm>
          <a:prstGeom prst="rect">
            <a:avLst/>
          </a:prstGeom>
        </p:spPr>
      </p:pic>
      <p:sp>
        <p:nvSpPr>
          <p:cNvPr id="12" name="テキスト ボックス 11">
            <a:extLst>
              <a:ext uri="{FF2B5EF4-FFF2-40B4-BE49-F238E27FC236}">
                <a16:creationId xmlns:a16="http://schemas.microsoft.com/office/drawing/2014/main" id="{AA95513C-0CA7-5E9C-7C22-A028A989138B}"/>
              </a:ext>
            </a:extLst>
          </p:cNvPr>
          <p:cNvSpPr txBox="1"/>
          <p:nvPr/>
        </p:nvSpPr>
        <p:spPr>
          <a:xfrm>
            <a:off x="1154545" y="1870976"/>
            <a:ext cx="8626764" cy="461665"/>
          </a:xfrm>
          <a:prstGeom prst="rect">
            <a:avLst/>
          </a:prstGeom>
          <a:noFill/>
          <a:ln>
            <a:noFill/>
          </a:ln>
        </p:spPr>
        <p:txBody>
          <a:bodyPr wrap="square" rtlCol="0">
            <a:spAutoFit/>
          </a:bodyPr>
          <a:lstStyle/>
          <a:p>
            <a:r>
              <a:rPr kumimoji="1" lang="ja-JP" altLang="en-US" sz="2400" b="1" dirty="0">
                <a:solidFill>
                  <a:schemeClr val="bg1">
                    <a:lumMod val="10000"/>
                  </a:schemeClr>
                </a:solidFill>
                <a:latin typeface="メイリオ" panose="020B0604030504040204" pitchFamily="50" charset="-128"/>
                <a:ea typeface="メイリオ" panose="020B0604030504040204" pitchFamily="50" charset="-128"/>
              </a:rPr>
              <a:t>・</a:t>
            </a:r>
            <a:r>
              <a:rPr kumimoji="1" lang="ja-JP" altLang="en-US" sz="2400" b="1" u="sng" dirty="0">
                <a:solidFill>
                  <a:schemeClr val="bg1">
                    <a:lumMod val="10000"/>
                  </a:schemeClr>
                </a:solidFill>
                <a:latin typeface="メイリオ" panose="020B0604030504040204" pitchFamily="50" charset="-128"/>
                <a:ea typeface="メイリオ" panose="020B0604030504040204" pitchFamily="50" charset="-128"/>
              </a:rPr>
              <a:t>光や水の量を調整（制御）</a:t>
            </a:r>
            <a:r>
              <a:rPr kumimoji="1" lang="ja-JP" altLang="en-US" sz="2400" dirty="0">
                <a:solidFill>
                  <a:schemeClr val="bg1">
                    <a:lumMod val="10000"/>
                  </a:schemeClr>
                </a:solidFill>
                <a:latin typeface="メイリオ" panose="020B0604030504040204" pitchFamily="50" charset="-128"/>
                <a:ea typeface="メイリオ" panose="020B0604030504040204" pitchFamily="50" charset="-128"/>
              </a:rPr>
              <a:t>しながら安定した作物の供給</a:t>
            </a:r>
          </a:p>
        </p:txBody>
      </p:sp>
      <p:sp>
        <p:nvSpPr>
          <p:cNvPr id="13" name="テキスト ボックス 12">
            <a:extLst>
              <a:ext uri="{FF2B5EF4-FFF2-40B4-BE49-F238E27FC236}">
                <a16:creationId xmlns:a16="http://schemas.microsoft.com/office/drawing/2014/main" id="{49C61DFC-E350-931F-66B2-80F36F153472}"/>
              </a:ext>
            </a:extLst>
          </p:cNvPr>
          <p:cNvSpPr txBox="1"/>
          <p:nvPr/>
        </p:nvSpPr>
        <p:spPr>
          <a:xfrm>
            <a:off x="1060198" y="2477425"/>
            <a:ext cx="1588655" cy="461665"/>
          </a:xfrm>
          <a:prstGeom prst="rect">
            <a:avLst/>
          </a:prstGeom>
          <a:noFill/>
          <a:ln>
            <a:noFill/>
          </a:ln>
        </p:spPr>
        <p:txBody>
          <a:bodyPr wrap="square" rtlCol="0">
            <a:spAutoFit/>
          </a:bodyPr>
          <a:lstStyle/>
          <a:p>
            <a:r>
              <a:rPr kumimoji="1" lang="ja-JP" altLang="en-US" sz="2400" b="1" dirty="0">
                <a:solidFill>
                  <a:schemeClr val="bg1">
                    <a:lumMod val="10000"/>
                  </a:schemeClr>
                </a:solidFill>
                <a:latin typeface="メイリオ" panose="020B0604030504040204" pitchFamily="50" charset="-128"/>
                <a:ea typeface="メイリオ" panose="020B0604030504040204" pitchFamily="50" charset="-128"/>
              </a:rPr>
              <a:t>メリット</a:t>
            </a:r>
          </a:p>
        </p:txBody>
      </p:sp>
      <p:sp>
        <p:nvSpPr>
          <p:cNvPr id="14" name="テキスト ボックス 13">
            <a:extLst>
              <a:ext uri="{FF2B5EF4-FFF2-40B4-BE49-F238E27FC236}">
                <a16:creationId xmlns:a16="http://schemas.microsoft.com/office/drawing/2014/main" id="{36CAA05E-8D47-2C0B-63E5-CDDD2ACDC228}"/>
              </a:ext>
            </a:extLst>
          </p:cNvPr>
          <p:cNvSpPr txBox="1"/>
          <p:nvPr/>
        </p:nvSpPr>
        <p:spPr>
          <a:xfrm>
            <a:off x="1158716" y="2897864"/>
            <a:ext cx="3907429" cy="830997"/>
          </a:xfrm>
          <a:prstGeom prst="rect">
            <a:avLst/>
          </a:prstGeom>
          <a:noFill/>
          <a:ln>
            <a:noFill/>
          </a:ln>
        </p:spPr>
        <p:txBody>
          <a:bodyPr wrap="square" rtlCol="0">
            <a:spAutoFit/>
          </a:bodyPr>
          <a:lstStyle/>
          <a:p>
            <a:r>
              <a:rPr kumimoji="1" lang="ja-JP" altLang="en-US" sz="2400" dirty="0">
                <a:solidFill>
                  <a:schemeClr val="bg1">
                    <a:lumMod val="10000"/>
                  </a:schemeClr>
                </a:solidFill>
                <a:latin typeface="メイリオ" panose="020B0604030504040204" pitchFamily="50" charset="-128"/>
                <a:ea typeface="メイリオ" panose="020B0604030504040204" pitchFamily="50" charset="-128"/>
              </a:rPr>
              <a:t>・周年栽培ができる</a:t>
            </a:r>
            <a:endParaRPr kumimoji="1" lang="en-US" altLang="ja-JP" sz="2400" dirty="0">
              <a:solidFill>
                <a:schemeClr val="bg1">
                  <a:lumMod val="10000"/>
                </a:schemeClr>
              </a:solidFill>
              <a:latin typeface="メイリオ" panose="020B0604030504040204" pitchFamily="50" charset="-128"/>
              <a:ea typeface="メイリオ" panose="020B0604030504040204" pitchFamily="50" charset="-128"/>
            </a:endParaRPr>
          </a:p>
          <a:p>
            <a:r>
              <a:rPr kumimoji="1" lang="ja-JP" altLang="en-US" sz="2400" dirty="0">
                <a:solidFill>
                  <a:schemeClr val="bg1">
                    <a:lumMod val="10000"/>
                  </a:schemeClr>
                </a:solidFill>
                <a:latin typeface="メイリオ" panose="020B0604030504040204" pitchFamily="50" charset="-128"/>
                <a:ea typeface="メイリオ" panose="020B0604030504040204" pitchFamily="50" charset="-128"/>
              </a:rPr>
              <a:t>・高機能野菜を生産できる</a:t>
            </a:r>
          </a:p>
        </p:txBody>
      </p:sp>
      <p:sp>
        <p:nvSpPr>
          <p:cNvPr id="15" name="テキスト ボックス 14">
            <a:extLst>
              <a:ext uri="{FF2B5EF4-FFF2-40B4-BE49-F238E27FC236}">
                <a16:creationId xmlns:a16="http://schemas.microsoft.com/office/drawing/2014/main" id="{59010DE6-A8AB-AA62-7C61-643BCD4EF376}"/>
              </a:ext>
            </a:extLst>
          </p:cNvPr>
          <p:cNvSpPr txBox="1"/>
          <p:nvPr/>
        </p:nvSpPr>
        <p:spPr>
          <a:xfrm>
            <a:off x="1060198" y="3930731"/>
            <a:ext cx="1939639" cy="461665"/>
          </a:xfrm>
          <a:prstGeom prst="rect">
            <a:avLst/>
          </a:prstGeom>
          <a:noFill/>
          <a:ln>
            <a:noFill/>
          </a:ln>
        </p:spPr>
        <p:txBody>
          <a:bodyPr wrap="square" rtlCol="0">
            <a:spAutoFit/>
          </a:bodyPr>
          <a:lstStyle/>
          <a:p>
            <a:r>
              <a:rPr lang="ja-JP" altLang="en-US" sz="2400" b="1" dirty="0">
                <a:solidFill>
                  <a:schemeClr val="bg1">
                    <a:lumMod val="10000"/>
                  </a:schemeClr>
                </a:solidFill>
                <a:latin typeface="メイリオ" panose="020B0604030504040204" pitchFamily="50" charset="-128"/>
                <a:ea typeface="メイリオ" panose="020B0604030504040204" pitchFamily="50" charset="-128"/>
              </a:rPr>
              <a:t>デメリット</a:t>
            </a:r>
            <a:endParaRPr lang="en-US" altLang="ja-JP" sz="2400" b="1" dirty="0">
              <a:solidFill>
                <a:schemeClr val="bg1">
                  <a:lumMod val="10000"/>
                </a:schemeClr>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81B7190D-F55B-C9E5-5E83-58DA3BFBB07E}"/>
              </a:ext>
            </a:extLst>
          </p:cNvPr>
          <p:cNvSpPr txBox="1"/>
          <p:nvPr/>
        </p:nvSpPr>
        <p:spPr>
          <a:xfrm>
            <a:off x="1144951" y="4437951"/>
            <a:ext cx="4516584" cy="461665"/>
          </a:xfrm>
          <a:prstGeom prst="rect">
            <a:avLst/>
          </a:prstGeom>
          <a:noFill/>
          <a:ln>
            <a:noFill/>
          </a:ln>
        </p:spPr>
        <p:txBody>
          <a:bodyPr wrap="square" rtlCol="0">
            <a:spAutoFit/>
          </a:bodyPr>
          <a:lstStyle/>
          <a:p>
            <a:r>
              <a:rPr lang="ja-JP" altLang="en-US" sz="2400" b="1" dirty="0">
                <a:solidFill>
                  <a:schemeClr val="bg1">
                    <a:lumMod val="10000"/>
                  </a:schemeClr>
                </a:solidFill>
                <a:latin typeface="メイリオ" panose="020B0604030504040204" pitchFamily="50" charset="-128"/>
                <a:ea typeface="メイリオ" panose="020B0604030504040204" pitchFamily="50" charset="-128"/>
              </a:rPr>
              <a:t>・コスト</a:t>
            </a:r>
            <a:r>
              <a:rPr lang="en-US" altLang="ja-JP" sz="2400" b="1" dirty="0">
                <a:solidFill>
                  <a:schemeClr val="bg1">
                    <a:lumMod val="10000"/>
                  </a:schemeClr>
                </a:solidFill>
                <a:latin typeface="メイリオ" panose="020B0604030504040204" pitchFamily="50" charset="-128"/>
                <a:ea typeface="メイリオ" panose="020B0604030504040204" pitchFamily="50" charset="-128"/>
              </a:rPr>
              <a:t>(</a:t>
            </a:r>
            <a:r>
              <a:rPr lang="ja-JP" altLang="en-US" sz="2400" b="1" dirty="0">
                <a:solidFill>
                  <a:schemeClr val="bg1">
                    <a:lumMod val="10000"/>
                  </a:schemeClr>
                </a:solidFill>
                <a:latin typeface="メイリオ" panose="020B0604030504040204" pitchFamily="50" charset="-128"/>
                <a:ea typeface="メイリオ" panose="020B0604030504040204" pitchFamily="50" charset="-128"/>
              </a:rPr>
              <a:t>初期費用、</a:t>
            </a:r>
            <a:r>
              <a:rPr lang="ja-JP" altLang="en-US" sz="2400" b="1" u="sng" dirty="0">
                <a:solidFill>
                  <a:srgbClr val="FF0000"/>
                </a:solidFill>
                <a:latin typeface="メイリオ" panose="020B0604030504040204" pitchFamily="50" charset="-128"/>
                <a:ea typeface="メイリオ" panose="020B0604030504040204" pitchFamily="50" charset="-128"/>
              </a:rPr>
              <a:t>光熱費</a:t>
            </a:r>
            <a:r>
              <a:rPr lang="en-US" altLang="ja-JP" sz="2400" b="1" dirty="0">
                <a:solidFill>
                  <a:schemeClr val="bg1">
                    <a:lumMod val="10000"/>
                  </a:schemeClr>
                </a:solidFill>
                <a:latin typeface="メイリオ" panose="020B0604030504040204" pitchFamily="50" charset="-128"/>
                <a:ea typeface="メイリオ" panose="020B0604030504040204" pitchFamily="50" charset="-128"/>
              </a:rPr>
              <a:t>)</a:t>
            </a:r>
          </a:p>
        </p:txBody>
      </p:sp>
      <p:sp>
        <p:nvSpPr>
          <p:cNvPr id="5" name="テキスト ボックス 4">
            <a:extLst>
              <a:ext uri="{FF2B5EF4-FFF2-40B4-BE49-F238E27FC236}">
                <a16:creationId xmlns:a16="http://schemas.microsoft.com/office/drawing/2014/main" id="{A4F776BC-78A7-8D39-3890-57D1D90046CE}"/>
              </a:ext>
            </a:extLst>
          </p:cNvPr>
          <p:cNvSpPr txBox="1"/>
          <p:nvPr/>
        </p:nvSpPr>
        <p:spPr>
          <a:xfrm>
            <a:off x="461818" y="5834159"/>
            <a:ext cx="1220366" cy="461665"/>
          </a:xfrm>
          <a:prstGeom prst="rect">
            <a:avLst/>
          </a:prstGeom>
          <a:solidFill>
            <a:srgbClr val="FFFFFF"/>
          </a:solidFill>
          <a:ln w="38100">
            <a:noFill/>
          </a:ln>
        </p:spPr>
        <p:txBody>
          <a:bodyPr wrap="square" rtlCol="0">
            <a:spAutoFit/>
          </a:bodyPr>
          <a:lstStyle/>
          <a:p>
            <a:r>
              <a:rPr lang="ja-JP" altLang="en-US" sz="2400" b="1" dirty="0">
                <a:solidFill>
                  <a:schemeClr val="bg1">
                    <a:lumMod val="10000"/>
                  </a:schemeClr>
                </a:solidFill>
                <a:latin typeface="メイリオ" panose="020B0604030504040204" pitchFamily="50" charset="-128"/>
                <a:ea typeface="メイリオ" panose="020B0604030504040204" pitchFamily="50" charset="-128"/>
              </a:rPr>
              <a:t>目的：</a:t>
            </a:r>
            <a:endParaRPr kumimoji="1" lang="ja-JP" altLang="en-US" sz="2400" b="1" dirty="0">
              <a:solidFill>
                <a:schemeClr val="bg1">
                  <a:lumMod val="10000"/>
                </a:schemeClr>
              </a:solidFill>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CD18D2BB-C35F-E302-2B5E-C1ACF5972430}"/>
              </a:ext>
            </a:extLst>
          </p:cNvPr>
          <p:cNvSpPr txBox="1"/>
          <p:nvPr/>
        </p:nvSpPr>
        <p:spPr>
          <a:xfrm>
            <a:off x="1517551" y="5840122"/>
            <a:ext cx="9270423" cy="461665"/>
          </a:xfrm>
          <a:prstGeom prst="rect">
            <a:avLst/>
          </a:prstGeom>
          <a:noFill/>
          <a:ln>
            <a:noFill/>
          </a:ln>
        </p:spPr>
        <p:txBody>
          <a:bodyPr wrap="square" rtlCol="0">
            <a:spAutoFit/>
          </a:bodyPr>
          <a:lstStyle/>
          <a:p>
            <a:r>
              <a:rPr lang="ja-JP" altLang="en-US" sz="2400" b="1" dirty="0">
                <a:solidFill>
                  <a:schemeClr val="bg1">
                    <a:lumMod val="10000"/>
                  </a:schemeClr>
                </a:solidFill>
                <a:latin typeface="メイリオ" panose="020B0604030504040204" pitchFamily="50" charset="-128"/>
                <a:ea typeface="メイリオ" panose="020B0604030504040204" pitchFamily="50" charset="-128"/>
              </a:rPr>
              <a:t>制御を用いた植物工場におけるレタス成長の数値実験と便益評価</a:t>
            </a:r>
            <a:endParaRPr lang="en-US" altLang="ja-JP" sz="2400" b="1" dirty="0">
              <a:solidFill>
                <a:schemeClr val="bg1">
                  <a:lumMod val="10000"/>
                </a:schemeClr>
              </a:solidFill>
              <a:latin typeface="メイリオ" panose="020B0604030504040204" pitchFamily="50" charset="-128"/>
              <a:ea typeface="メイリオ" panose="020B0604030504040204" pitchFamily="50" charset="-128"/>
            </a:endParaRPr>
          </a:p>
        </p:txBody>
      </p:sp>
      <p:sp>
        <p:nvSpPr>
          <p:cNvPr id="2" name="テキスト ボックス 1">
            <a:extLst>
              <a:ext uri="{FF2B5EF4-FFF2-40B4-BE49-F238E27FC236}">
                <a16:creationId xmlns:a16="http://schemas.microsoft.com/office/drawing/2014/main" id="{82CC7817-56BE-C493-4169-D14DC5E6964E}"/>
              </a:ext>
            </a:extLst>
          </p:cNvPr>
          <p:cNvSpPr txBox="1"/>
          <p:nvPr/>
        </p:nvSpPr>
        <p:spPr>
          <a:xfrm>
            <a:off x="1590226" y="5170678"/>
            <a:ext cx="9684132" cy="461665"/>
          </a:xfrm>
          <a:prstGeom prst="rect">
            <a:avLst/>
          </a:prstGeom>
          <a:noFill/>
          <a:ln>
            <a:noFill/>
          </a:ln>
        </p:spPr>
        <p:txBody>
          <a:bodyPr wrap="square" rtlCol="0">
            <a:spAutoFit/>
          </a:bodyPr>
          <a:lstStyle/>
          <a:p>
            <a:r>
              <a:rPr lang="ja-JP" altLang="en-US" sz="2400" dirty="0">
                <a:solidFill>
                  <a:schemeClr val="bg1">
                    <a:lumMod val="10000"/>
                  </a:schemeClr>
                </a:solidFill>
                <a:latin typeface="メイリオ" panose="020B0604030504040204" pitchFamily="50" charset="-128"/>
                <a:ea typeface="メイリオ" panose="020B0604030504040204" pitchFamily="50" charset="-128"/>
              </a:rPr>
              <a:t>収益や品質を確保しながら光熱費を削減するための制御技術が必要</a:t>
            </a:r>
            <a:endParaRPr lang="en-US" altLang="ja-JP" sz="2400" dirty="0">
              <a:solidFill>
                <a:schemeClr val="bg1">
                  <a:lumMod val="10000"/>
                </a:schemeClr>
              </a:solidFill>
              <a:latin typeface="メイリオ" panose="020B0604030504040204" pitchFamily="50" charset="-128"/>
              <a:ea typeface="メイリオ" panose="020B0604030504040204" pitchFamily="50" charset="-128"/>
            </a:endParaRPr>
          </a:p>
        </p:txBody>
      </p:sp>
      <p:sp>
        <p:nvSpPr>
          <p:cNvPr id="6" name="二等辺三角形 5">
            <a:extLst>
              <a:ext uri="{FF2B5EF4-FFF2-40B4-BE49-F238E27FC236}">
                <a16:creationId xmlns:a16="http://schemas.microsoft.com/office/drawing/2014/main" id="{E541E284-E6AF-A279-134D-B4441035910A}"/>
              </a:ext>
            </a:extLst>
          </p:cNvPr>
          <p:cNvSpPr/>
          <p:nvPr/>
        </p:nvSpPr>
        <p:spPr>
          <a:xfrm rot="5400000">
            <a:off x="1267409" y="5245653"/>
            <a:ext cx="377420" cy="268214"/>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733678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F5207F63-1CAD-C3D7-11A9-AD580A74EA69}"/>
              </a:ext>
            </a:extLst>
          </p:cNvPr>
          <p:cNvSpPr>
            <a:spLocks noGrp="1"/>
          </p:cNvSpPr>
          <p:nvPr>
            <p:ph idx="1"/>
          </p:nvPr>
        </p:nvSpPr>
        <p:spPr/>
        <p:txBody>
          <a:bodyPr>
            <a:normAutofit/>
          </a:bodyPr>
          <a:lstStyle/>
          <a:p>
            <a:pPr marL="0" indent="0">
              <a:buNone/>
            </a:pPr>
            <a:r>
              <a:rPr kumimoji="1" lang="en-US" altLang="ja-JP" sz="2800" dirty="0"/>
              <a:t>1. </a:t>
            </a:r>
            <a:r>
              <a:rPr kumimoji="1" lang="ja-JP" altLang="en-US" sz="2800" dirty="0"/>
              <a:t>背景と目的</a:t>
            </a:r>
            <a:endParaRPr kumimoji="1" lang="en-US" altLang="ja-JP" sz="2800" dirty="0"/>
          </a:p>
          <a:p>
            <a:pPr marL="0" indent="0">
              <a:buNone/>
            </a:pPr>
            <a:r>
              <a:rPr lang="en-US" altLang="ja-JP" sz="2800" dirty="0"/>
              <a:t>2. </a:t>
            </a:r>
            <a:r>
              <a:rPr lang="ja-JP" altLang="en-US" sz="2800" dirty="0"/>
              <a:t>概要</a:t>
            </a:r>
            <a:endParaRPr lang="en-US" altLang="ja-JP" sz="2800" dirty="0"/>
          </a:p>
          <a:p>
            <a:pPr marL="0" indent="0">
              <a:buNone/>
            </a:pPr>
            <a:r>
              <a:rPr lang="en-US" altLang="ja-JP" sz="2800" dirty="0"/>
              <a:t>3. </a:t>
            </a:r>
            <a:r>
              <a:rPr lang="ja-JP" altLang="en-US" sz="2800" dirty="0"/>
              <a:t>制御手法</a:t>
            </a:r>
            <a:endParaRPr lang="en-US" altLang="ja-JP" sz="2800" dirty="0"/>
          </a:p>
          <a:p>
            <a:pPr marL="0" indent="0">
              <a:buNone/>
            </a:pPr>
            <a:r>
              <a:rPr lang="en-US" altLang="ja-JP" sz="2800" dirty="0"/>
              <a:t>4. </a:t>
            </a:r>
            <a:r>
              <a:rPr lang="ja-JP" altLang="en-US" sz="2800" dirty="0"/>
              <a:t>数値実験</a:t>
            </a:r>
            <a:endParaRPr lang="en-US" altLang="ja-JP" sz="2800" dirty="0"/>
          </a:p>
          <a:p>
            <a:pPr marL="0" indent="0">
              <a:buNone/>
            </a:pPr>
            <a:r>
              <a:rPr lang="en-US" altLang="ja-JP" sz="2800" dirty="0"/>
              <a:t>5. </a:t>
            </a:r>
            <a:r>
              <a:rPr lang="ja-JP" altLang="en-US" sz="2800" dirty="0"/>
              <a:t>まとめと今後の展望</a:t>
            </a:r>
            <a:endParaRPr kumimoji="1" lang="en-US" altLang="ja-JP" sz="2800" dirty="0"/>
          </a:p>
          <a:p>
            <a:pPr marL="514350" indent="-514350">
              <a:buFont typeface="+mj-lt"/>
              <a:buAutoNum type="arabicPeriod"/>
            </a:pPr>
            <a:endParaRPr kumimoji="1" lang="en-US" altLang="ja-JP" dirty="0"/>
          </a:p>
          <a:p>
            <a:pPr marL="514350" indent="-514350">
              <a:buFont typeface="+mj-lt"/>
              <a:buAutoNum type="arabicPeriod"/>
            </a:pPr>
            <a:endParaRPr kumimoji="1" lang="ja-JP" altLang="en-US" dirty="0"/>
          </a:p>
        </p:txBody>
      </p:sp>
      <p:sp>
        <p:nvSpPr>
          <p:cNvPr id="3" name="テキスト プレースホルダー 2">
            <a:extLst>
              <a:ext uri="{FF2B5EF4-FFF2-40B4-BE49-F238E27FC236}">
                <a16:creationId xmlns:a16="http://schemas.microsoft.com/office/drawing/2014/main" id="{7F4B7CAB-21F5-2EF0-C1A9-8C2F1090C210}"/>
              </a:ext>
            </a:extLst>
          </p:cNvPr>
          <p:cNvSpPr>
            <a:spLocks noGrp="1"/>
          </p:cNvSpPr>
          <p:nvPr>
            <p:ph type="body" sz="quarter" idx="11"/>
          </p:nvPr>
        </p:nvSpPr>
        <p:spPr/>
        <p:txBody>
          <a:bodyPr/>
          <a:lstStyle/>
          <a:p>
            <a:r>
              <a:rPr kumimoji="1" lang="ja-JP" altLang="en-US" dirty="0"/>
              <a:t>アウトライン</a:t>
            </a:r>
          </a:p>
        </p:txBody>
      </p:sp>
      <p:sp>
        <p:nvSpPr>
          <p:cNvPr id="4" name="テキスト プレースホルダー 3">
            <a:extLst>
              <a:ext uri="{FF2B5EF4-FFF2-40B4-BE49-F238E27FC236}">
                <a16:creationId xmlns:a16="http://schemas.microsoft.com/office/drawing/2014/main" id="{A2DA0A64-38B3-EFA9-4A9B-03FE90FCB0A2}"/>
              </a:ext>
            </a:extLst>
          </p:cNvPr>
          <p:cNvSpPr>
            <a:spLocks noGrp="1"/>
          </p:cNvSpPr>
          <p:nvPr>
            <p:ph type="body" sz="quarter" idx="12"/>
          </p:nvPr>
        </p:nvSpPr>
        <p:spPr/>
        <p:txBody>
          <a:bodyPr/>
          <a:lstStyle/>
          <a:p>
            <a:endParaRPr kumimoji="1" lang="ja-JP" altLang="en-US"/>
          </a:p>
        </p:txBody>
      </p:sp>
    </p:spTree>
    <p:extLst>
      <p:ext uri="{BB962C8B-B14F-4D97-AF65-F5344CB8AC3E}">
        <p14:creationId xmlns:p14="http://schemas.microsoft.com/office/powerpoint/2010/main" val="9177112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A10E402F-9BF8-14DC-8D69-E8D3137D2410}"/>
              </a:ext>
            </a:extLst>
          </p:cNvPr>
          <p:cNvSpPr>
            <a:spLocks noGrp="1"/>
          </p:cNvSpPr>
          <p:nvPr>
            <p:ph type="body" sz="quarter" idx="11"/>
          </p:nvPr>
        </p:nvSpPr>
        <p:spPr/>
        <p:txBody>
          <a:bodyPr/>
          <a:lstStyle/>
          <a:p>
            <a:r>
              <a:rPr kumimoji="1" lang="ja-JP" altLang="en-US" dirty="0"/>
              <a:t>概要</a:t>
            </a:r>
          </a:p>
        </p:txBody>
      </p:sp>
      <p:sp>
        <p:nvSpPr>
          <p:cNvPr id="4" name="テキスト プレースホルダー 3">
            <a:extLst>
              <a:ext uri="{FF2B5EF4-FFF2-40B4-BE49-F238E27FC236}">
                <a16:creationId xmlns:a16="http://schemas.microsoft.com/office/drawing/2014/main" id="{CE95B3F8-9D5C-4826-58B9-BE829000906C}"/>
              </a:ext>
            </a:extLst>
          </p:cNvPr>
          <p:cNvSpPr>
            <a:spLocks noGrp="1"/>
          </p:cNvSpPr>
          <p:nvPr>
            <p:ph type="body" sz="quarter" idx="12"/>
          </p:nvPr>
        </p:nvSpPr>
        <p:spPr>
          <a:xfrm>
            <a:off x="277813" y="6359886"/>
            <a:ext cx="11636374" cy="307778"/>
          </a:xfrm>
        </p:spPr>
        <p:txBody>
          <a:bodyPr/>
          <a:lstStyle/>
          <a:p>
            <a:r>
              <a:rPr lang="en-US" altLang="ja-JP" sz="1200" dirty="0">
                <a:solidFill>
                  <a:schemeClr val="tx1"/>
                </a:solidFill>
                <a:hlinkClick r:id="rId3">
                  <a:extLst>
                    <a:ext uri="{A12FA001-AC4F-418D-AE19-62706E023703}">
                      <ahyp:hlinkClr xmlns:ahyp="http://schemas.microsoft.com/office/drawing/2018/hyperlinkcolor" val="tx"/>
                    </a:ext>
                  </a:extLst>
                </a:hlinkClick>
              </a:rPr>
              <a:t>[2]Murali Padmanabha</a:t>
            </a:r>
            <a:r>
              <a:rPr lang="ja-JP" altLang="en-US" sz="1200" dirty="0">
                <a:solidFill>
                  <a:schemeClr val="tx1"/>
                </a:solidFill>
                <a:hlinkClick r:id="rId3">
                  <a:extLst>
                    <a:ext uri="{A12FA001-AC4F-418D-AE19-62706E023703}">
                      <ahyp:hlinkClr xmlns:ahyp="http://schemas.microsoft.com/office/drawing/2018/hyperlinkcolor" val="tx"/>
                    </a:ext>
                  </a:extLst>
                </a:hlinkClick>
              </a:rPr>
              <a:t> </a:t>
            </a:r>
            <a:r>
              <a:rPr lang="en-US" altLang="ja-JP" sz="1200" dirty="0">
                <a:solidFill>
                  <a:schemeClr val="tx1"/>
                </a:solidFill>
                <a:hlinkClick r:id="rId3">
                  <a:extLst>
                    <a:ext uri="{A12FA001-AC4F-418D-AE19-62706E023703}">
                      <ahyp:hlinkClr xmlns:ahyp="http://schemas.microsoft.com/office/drawing/2018/hyperlinkcolor" val="tx"/>
                    </a:ext>
                  </a:extLst>
                </a:hlinkClick>
              </a:rPr>
              <a:t>et</a:t>
            </a:r>
            <a:r>
              <a:rPr lang="ja-JP" altLang="en-US" sz="1200" dirty="0">
                <a:solidFill>
                  <a:schemeClr val="tx1"/>
                </a:solidFill>
                <a:hlinkClick r:id="rId3">
                  <a:extLst>
                    <a:ext uri="{A12FA001-AC4F-418D-AE19-62706E023703}">
                      <ahyp:hlinkClr xmlns:ahyp="http://schemas.microsoft.com/office/drawing/2018/hyperlinkcolor" val="tx"/>
                    </a:ext>
                  </a:extLst>
                </a:hlinkClick>
              </a:rPr>
              <a:t> </a:t>
            </a:r>
            <a:r>
              <a:rPr lang="en-US" altLang="ja-JP" sz="1200" dirty="0">
                <a:solidFill>
                  <a:schemeClr val="tx1"/>
                </a:solidFill>
                <a:hlinkClick r:id="rId3">
                  <a:extLst>
                    <a:ext uri="{A12FA001-AC4F-418D-AE19-62706E023703}">
                      <ahyp:hlinkClr xmlns:ahyp="http://schemas.microsoft.com/office/drawing/2018/hyperlinkcolor" val="tx"/>
                    </a:ext>
                  </a:extLst>
                </a:hlinkClick>
              </a:rPr>
              <a:t>al,</a:t>
            </a:r>
            <a:r>
              <a:rPr lang="ja-JP" altLang="en-US" sz="1200" dirty="0">
                <a:solidFill>
                  <a:schemeClr val="tx1"/>
                </a:solidFill>
                <a:hlinkClick r:id="rId3">
                  <a:extLst>
                    <a:ext uri="{A12FA001-AC4F-418D-AE19-62706E023703}">
                      <ahyp:hlinkClr xmlns:ahyp="http://schemas.microsoft.com/office/drawing/2018/hyperlinkcolor" val="tx"/>
                    </a:ext>
                  </a:extLst>
                </a:hlinkClick>
              </a:rPr>
              <a:t> </a:t>
            </a:r>
            <a:r>
              <a:rPr lang="en-US" altLang="ja-JP" sz="1200" dirty="0">
                <a:solidFill>
                  <a:schemeClr val="tx1"/>
                </a:solidFill>
                <a:hlinkClick r:id="rId3">
                  <a:extLst>
                    <a:ext uri="{A12FA001-AC4F-418D-AE19-62706E023703}">
                      <ahyp:hlinkClr xmlns:ahyp="http://schemas.microsoft.com/office/drawing/2018/hyperlinkcolor" val="tx"/>
                    </a:ext>
                  </a:extLst>
                </a:hlinkClick>
              </a:rPr>
              <a:t>“Model Predictive Control of a Food Production Unit: A Case Study for Lettuce Production” IFAC-</a:t>
            </a:r>
            <a:r>
              <a:rPr lang="en-US" altLang="ja-JP" sz="1200" dirty="0" err="1">
                <a:solidFill>
                  <a:schemeClr val="tx1"/>
                </a:solidFill>
                <a:hlinkClick r:id="rId3">
                  <a:extLst>
                    <a:ext uri="{A12FA001-AC4F-418D-AE19-62706E023703}">
                      <ahyp:hlinkClr xmlns:ahyp="http://schemas.microsoft.com/office/drawing/2018/hyperlinkcolor" val="tx"/>
                    </a:ext>
                  </a:extLst>
                </a:hlinkClick>
              </a:rPr>
              <a:t>PapersOnLine</a:t>
            </a:r>
            <a:r>
              <a:rPr lang="en-US" altLang="ja-JP" sz="1200" dirty="0">
                <a:solidFill>
                  <a:schemeClr val="tx1"/>
                </a:solidFill>
                <a:hlinkClick r:id="rId3">
                  <a:extLst>
                    <a:ext uri="{A12FA001-AC4F-418D-AE19-62706E023703}">
                      <ahyp:hlinkClr xmlns:ahyp="http://schemas.microsoft.com/office/drawing/2018/hyperlinkcolor" val="tx"/>
                    </a:ext>
                  </a:extLst>
                </a:hlinkClick>
              </a:rPr>
              <a:t>, Volume 53, Issue 2, 2020</a:t>
            </a:r>
            <a:endParaRPr kumimoji="1" lang="ja-JP" altLang="en-US" sz="1200" dirty="0">
              <a:solidFill>
                <a:schemeClr val="tx1"/>
              </a:solidFill>
            </a:endParaRPr>
          </a:p>
        </p:txBody>
      </p:sp>
      <p:sp>
        <p:nvSpPr>
          <p:cNvPr id="10" name="テキスト ボックス 9">
            <a:extLst>
              <a:ext uri="{FF2B5EF4-FFF2-40B4-BE49-F238E27FC236}">
                <a16:creationId xmlns:a16="http://schemas.microsoft.com/office/drawing/2014/main" id="{0ED5D54E-BD6C-DCA8-D8A2-09BE44A002AA}"/>
              </a:ext>
            </a:extLst>
          </p:cNvPr>
          <p:cNvSpPr txBox="1"/>
          <p:nvPr/>
        </p:nvSpPr>
        <p:spPr>
          <a:xfrm>
            <a:off x="547787" y="916360"/>
            <a:ext cx="5403519" cy="461665"/>
          </a:xfrm>
          <a:prstGeom prst="rect">
            <a:avLst/>
          </a:prstGeom>
          <a:noFill/>
          <a:ln>
            <a:noFill/>
          </a:ln>
        </p:spPr>
        <p:txBody>
          <a:bodyPr wrap="square" rtlCol="0">
            <a:spAutoFit/>
          </a:bodyPr>
          <a:lstStyle/>
          <a:p>
            <a:r>
              <a:rPr lang="ja-JP" altLang="en-US" sz="2400" dirty="0">
                <a:solidFill>
                  <a:schemeClr val="bg1">
                    <a:lumMod val="10000"/>
                  </a:schemeClr>
                </a:solidFill>
                <a:latin typeface="メイリオ" panose="020B0604030504040204" pitchFamily="50" charset="-128"/>
                <a:ea typeface="メイリオ" panose="020B0604030504040204" pitchFamily="50" charset="-128"/>
              </a:rPr>
              <a:t>コスト削減のカギは</a:t>
            </a:r>
            <a:r>
              <a:rPr lang="ja-JP" altLang="en-US" sz="2400" b="1" dirty="0">
                <a:solidFill>
                  <a:schemeClr val="bg1">
                    <a:lumMod val="10000"/>
                  </a:schemeClr>
                </a:solidFill>
                <a:latin typeface="メイリオ" panose="020B0604030504040204" pitchFamily="50" charset="-128"/>
                <a:ea typeface="メイリオ" panose="020B0604030504040204" pitchFamily="50" charset="-128"/>
              </a:rPr>
              <a:t>植物の成長最適化</a:t>
            </a:r>
            <a:endParaRPr lang="en-US" altLang="ja-JP" sz="2400" dirty="0">
              <a:solidFill>
                <a:schemeClr val="bg1">
                  <a:lumMod val="10000"/>
                </a:schemeClr>
              </a:solidFill>
              <a:latin typeface="メイリオ" panose="020B0604030504040204" pitchFamily="50" charset="-128"/>
              <a:ea typeface="メイリオ" panose="020B0604030504040204" pitchFamily="50" charset="-128"/>
            </a:endParaRPr>
          </a:p>
        </p:txBody>
      </p:sp>
      <p:sp>
        <p:nvSpPr>
          <p:cNvPr id="13" name="テキスト ボックス 12">
            <a:extLst>
              <a:ext uri="{FF2B5EF4-FFF2-40B4-BE49-F238E27FC236}">
                <a16:creationId xmlns:a16="http://schemas.microsoft.com/office/drawing/2014/main" id="{C43916FA-83C6-76F3-E479-33387CA33F46}"/>
              </a:ext>
            </a:extLst>
          </p:cNvPr>
          <p:cNvSpPr txBox="1"/>
          <p:nvPr/>
        </p:nvSpPr>
        <p:spPr>
          <a:xfrm>
            <a:off x="426631" y="3292300"/>
            <a:ext cx="4269062" cy="830997"/>
          </a:xfrm>
          <a:prstGeom prst="rect">
            <a:avLst/>
          </a:prstGeom>
          <a:noFill/>
          <a:ln>
            <a:noFill/>
          </a:ln>
        </p:spPr>
        <p:txBody>
          <a:bodyPr wrap="square" rtlCol="0">
            <a:spAutoFit/>
          </a:bodyPr>
          <a:lstStyle/>
          <a:p>
            <a:r>
              <a:rPr lang="ja-JP" altLang="en-US" sz="2400" dirty="0">
                <a:solidFill>
                  <a:schemeClr val="bg1">
                    <a:lumMod val="10000"/>
                  </a:schemeClr>
                </a:solidFill>
                <a:latin typeface="メイリオ" panose="020B0604030504040204" pitchFamily="50" charset="-128"/>
                <a:ea typeface="メイリオ" panose="020B0604030504040204" pitchFamily="50" charset="-128"/>
              </a:rPr>
              <a:t>温度、二酸化炭素、水の流動を微分方程式により数式化</a:t>
            </a:r>
            <a:endParaRPr lang="en-US" altLang="ja-JP" sz="2400" dirty="0">
              <a:solidFill>
                <a:schemeClr val="bg1">
                  <a:lumMod val="10000"/>
                </a:schemeClr>
              </a:solidFill>
              <a:latin typeface="メイリオ" panose="020B0604030504040204" pitchFamily="50" charset="-128"/>
              <a:ea typeface="メイリオ" panose="020B0604030504040204" pitchFamily="50" charset="-128"/>
            </a:endParaRPr>
          </a:p>
        </p:txBody>
      </p:sp>
      <p:sp>
        <p:nvSpPr>
          <p:cNvPr id="2" name="二等辺三角形 1">
            <a:extLst>
              <a:ext uri="{FF2B5EF4-FFF2-40B4-BE49-F238E27FC236}">
                <a16:creationId xmlns:a16="http://schemas.microsoft.com/office/drawing/2014/main" id="{58BCE06C-4F0B-2B9F-C334-9384A73BE07C}"/>
              </a:ext>
            </a:extLst>
          </p:cNvPr>
          <p:cNvSpPr/>
          <p:nvPr/>
        </p:nvSpPr>
        <p:spPr>
          <a:xfrm rot="5400000">
            <a:off x="951300" y="1460666"/>
            <a:ext cx="383908" cy="29589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9330D37F-5CBC-74F5-5C2A-451391F9840F}"/>
              </a:ext>
            </a:extLst>
          </p:cNvPr>
          <p:cNvSpPr txBox="1"/>
          <p:nvPr/>
        </p:nvSpPr>
        <p:spPr>
          <a:xfrm>
            <a:off x="1324542" y="1425045"/>
            <a:ext cx="6471922" cy="461665"/>
          </a:xfrm>
          <a:prstGeom prst="rect">
            <a:avLst/>
          </a:prstGeom>
          <a:noFill/>
          <a:ln>
            <a:noFill/>
          </a:ln>
        </p:spPr>
        <p:txBody>
          <a:bodyPr wrap="square" rtlCol="0">
            <a:spAutoFit/>
          </a:bodyPr>
          <a:lstStyle/>
          <a:p>
            <a:r>
              <a:rPr lang="ja-JP" altLang="en-US" sz="2400" b="1" dirty="0">
                <a:solidFill>
                  <a:schemeClr val="bg1">
                    <a:lumMod val="10000"/>
                  </a:schemeClr>
                </a:solidFill>
                <a:latin typeface="メイリオ" panose="020B0604030504040204" pitchFamily="50" charset="-128"/>
                <a:ea typeface="メイリオ" panose="020B0604030504040204" pitchFamily="50" charset="-128"/>
              </a:rPr>
              <a:t>植物工場、植物の成長の数理モデル化が必要</a:t>
            </a:r>
            <a:endParaRPr lang="en-US" altLang="ja-JP" sz="2400" b="1" dirty="0">
              <a:solidFill>
                <a:schemeClr val="bg1">
                  <a:lumMod val="10000"/>
                </a:schemeClr>
              </a:solidFill>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9B56528F-10E3-DD4D-760B-86E78B5E40CE}"/>
              </a:ext>
            </a:extLst>
          </p:cNvPr>
          <p:cNvSpPr txBox="1"/>
          <p:nvPr/>
        </p:nvSpPr>
        <p:spPr>
          <a:xfrm>
            <a:off x="115456" y="2548549"/>
            <a:ext cx="3879028" cy="461665"/>
          </a:xfrm>
          <a:prstGeom prst="rect">
            <a:avLst/>
          </a:prstGeom>
          <a:noFill/>
          <a:ln>
            <a:noFill/>
          </a:ln>
        </p:spPr>
        <p:txBody>
          <a:bodyPr wrap="square" rtlCol="0">
            <a:spAutoFit/>
          </a:bodyPr>
          <a:lstStyle/>
          <a:p>
            <a:r>
              <a:rPr lang="ja-JP" altLang="en-US" sz="2400" b="1" u="sng" dirty="0">
                <a:solidFill>
                  <a:schemeClr val="bg1">
                    <a:lumMod val="10000"/>
                  </a:schemeClr>
                </a:solidFill>
                <a:latin typeface="メイリオ" panose="020B0604030504040204" pitchFamily="50" charset="-128"/>
                <a:ea typeface="メイリオ" panose="020B0604030504040204" pitchFamily="50" charset="-128"/>
              </a:rPr>
              <a:t>植物工場の数理モデル</a:t>
            </a:r>
            <a:r>
              <a:rPr lang="en-US" altLang="ja-JP" sz="2400" b="1" baseline="30000" dirty="0">
                <a:solidFill>
                  <a:schemeClr val="bg1">
                    <a:lumMod val="10000"/>
                  </a:schemeClr>
                </a:solidFill>
                <a:latin typeface="メイリオ" panose="020B0604030504040204" pitchFamily="50" charset="-128"/>
                <a:ea typeface="メイリオ" panose="020B0604030504040204" pitchFamily="50" charset="-128"/>
              </a:rPr>
              <a:t>[2]</a:t>
            </a:r>
          </a:p>
        </p:txBody>
      </p:sp>
      <p:sp>
        <p:nvSpPr>
          <p:cNvPr id="6" name="テキスト ボックス 5">
            <a:extLst>
              <a:ext uri="{FF2B5EF4-FFF2-40B4-BE49-F238E27FC236}">
                <a16:creationId xmlns:a16="http://schemas.microsoft.com/office/drawing/2014/main" id="{ED10EA09-338E-EDFB-D7B7-5B257F39AF2F}"/>
              </a:ext>
            </a:extLst>
          </p:cNvPr>
          <p:cNvSpPr txBox="1"/>
          <p:nvPr/>
        </p:nvSpPr>
        <p:spPr>
          <a:xfrm>
            <a:off x="661161" y="4771637"/>
            <a:ext cx="3800002" cy="830997"/>
          </a:xfrm>
          <a:prstGeom prst="rect">
            <a:avLst/>
          </a:prstGeom>
          <a:noFill/>
          <a:ln>
            <a:noFill/>
          </a:ln>
        </p:spPr>
        <p:txBody>
          <a:bodyPr wrap="square" rtlCol="0">
            <a:spAutoFit/>
          </a:bodyPr>
          <a:lstStyle/>
          <a:p>
            <a:r>
              <a:rPr lang="ja-JP" altLang="en-US" sz="2400" dirty="0">
                <a:solidFill>
                  <a:schemeClr val="bg1">
                    <a:lumMod val="10000"/>
                  </a:schemeClr>
                </a:solidFill>
                <a:latin typeface="メイリオ" panose="020B0604030504040204" pitchFamily="50" charset="-128"/>
                <a:ea typeface="メイリオ" panose="020B0604030504040204" pitchFamily="50" charset="-128"/>
              </a:rPr>
              <a:t>今回は簡単のため温度と　二酸化炭素のみを考慮</a:t>
            </a:r>
            <a:endParaRPr lang="en-US" altLang="ja-JP" sz="2400" dirty="0">
              <a:solidFill>
                <a:schemeClr val="bg1">
                  <a:lumMod val="10000"/>
                </a:schemeClr>
              </a:solidFill>
              <a:latin typeface="メイリオ" panose="020B0604030504040204" pitchFamily="50" charset="-128"/>
              <a:ea typeface="メイリオ" panose="020B0604030504040204" pitchFamily="50" charset="-128"/>
            </a:endParaRPr>
          </a:p>
        </p:txBody>
      </p:sp>
      <p:sp>
        <p:nvSpPr>
          <p:cNvPr id="11" name="テキスト ボックス 10">
            <a:extLst>
              <a:ext uri="{FF2B5EF4-FFF2-40B4-BE49-F238E27FC236}">
                <a16:creationId xmlns:a16="http://schemas.microsoft.com/office/drawing/2014/main" id="{92ED9E64-6481-CBB4-A667-9809CC11EBD1}"/>
              </a:ext>
            </a:extLst>
          </p:cNvPr>
          <p:cNvSpPr txBox="1"/>
          <p:nvPr/>
        </p:nvSpPr>
        <p:spPr>
          <a:xfrm>
            <a:off x="277813" y="4771637"/>
            <a:ext cx="512384" cy="461665"/>
          </a:xfrm>
          <a:prstGeom prst="rect">
            <a:avLst/>
          </a:prstGeom>
          <a:noFill/>
          <a:ln>
            <a:noFill/>
          </a:ln>
        </p:spPr>
        <p:txBody>
          <a:bodyPr wrap="square" rtlCol="0">
            <a:spAutoFit/>
          </a:bodyPr>
          <a:lstStyle/>
          <a:p>
            <a:r>
              <a:rPr lang="en-US" altLang="ja-JP" sz="2400" dirty="0">
                <a:solidFill>
                  <a:schemeClr val="bg1">
                    <a:lumMod val="10000"/>
                  </a:schemeClr>
                </a:solidFill>
                <a:latin typeface="メイリオ" panose="020B0604030504040204" pitchFamily="50" charset="-128"/>
                <a:ea typeface="メイリオ" panose="020B0604030504040204" pitchFamily="50" charset="-128"/>
              </a:rPr>
              <a:t>※</a:t>
            </a:r>
          </a:p>
        </p:txBody>
      </p:sp>
      <p:pic>
        <p:nvPicPr>
          <p:cNvPr id="50" name="図 49">
            <a:extLst>
              <a:ext uri="{FF2B5EF4-FFF2-40B4-BE49-F238E27FC236}">
                <a16:creationId xmlns:a16="http://schemas.microsoft.com/office/drawing/2014/main" id="{8F33BB4F-FE17-5099-2D09-21B3FE357AEB}"/>
              </a:ext>
            </a:extLst>
          </p:cNvPr>
          <p:cNvPicPr>
            <a:picLocks noChangeAspect="1"/>
          </p:cNvPicPr>
          <p:nvPr/>
        </p:nvPicPr>
        <p:blipFill>
          <a:blip r:embed="rId4"/>
          <a:stretch>
            <a:fillRect/>
          </a:stretch>
        </p:blipFill>
        <p:spPr>
          <a:xfrm>
            <a:off x="4678216" y="2073490"/>
            <a:ext cx="7235971" cy="4099613"/>
          </a:xfrm>
          <a:prstGeom prst="rect">
            <a:avLst/>
          </a:prstGeom>
        </p:spPr>
      </p:pic>
      <mc:AlternateContent xmlns:mc="http://schemas.openxmlformats.org/markup-compatibility/2006" xmlns:a14="http://schemas.microsoft.com/office/drawing/2010/main">
        <mc:Choice Requires="a14">
          <p:sp>
            <p:nvSpPr>
              <p:cNvPr id="51" name="テキスト ボックス 50">
                <a:extLst>
                  <a:ext uri="{FF2B5EF4-FFF2-40B4-BE49-F238E27FC236}">
                    <a16:creationId xmlns:a16="http://schemas.microsoft.com/office/drawing/2014/main" id="{EC8BD1DE-736A-2508-EFE6-9C8C267C451D}"/>
                  </a:ext>
                </a:extLst>
              </p:cNvPr>
              <p:cNvSpPr txBox="1"/>
              <p:nvPr/>
            </p:nvSpPr>
            <p:spPr>
              <a:xfrm>
                <a:off x="10396498" y="3938523"/>
                <a:ext cx="1155040" cy="584775"/>
              </a:xfrm>
              <a:prstGeom prst="rect">
                <a:avLst/>
              </a:prstGeom>
              <a:noFill/>
            </p:spPr>
            <p:txBody>
              <a:bodyPr wrap="square" rtlCol="0">
                <a:spAutoFit/>
              </a:bodyPr>
              <a:lstStyle/>
              <a:p>
                <a:r>
                  <a:rPr kumimoji="1" lang="ja-JP" altLang="en-US" sz="2400" b="1" dirty="0">
                    <a:solidFill>
                      <a:srgbClr val="0070C0"/>
                    </a:solidFill>
                    <a:latin typeface="メイリオ" panose="020B0604030504040204" pitchFamily="50" charset="-128"/>
                    <a:ea typeface="メイリオ" panose="020B0604030504040204" pitchFamily="50" charset="-128"/>
                  </a:rPr>
                  <a:t>入力 </a:t>
                </a:r>
                <a14:m>
                  <m:oMath xmlns:m="http://schemas.openxmlformats.org/officeDocument/2006/math">
                    <m:r>
                      <a:rPr kumimoji="1" lang="en-US" altLang="ja-JP" sz="3200" b="1" i="0" smtClean="0">
                        <a:solidFill>
                          <a:srgbClr val="0070C0"/>
                        </a:solidFill>
                        <a:latin typeface="Cambria Math" panose="02040503050406030204" pitchFamily="18" charset="0"/>
                        <a:ea typeface="メイリオ" panose="020B0604030504040204" pitchFamily="50" charset="-128"/>
                      </a:rPr>
                      <m:t>𝐮</m:t>
                    </m:r>
                  </m:oMath>
                </a14:m>
                <a:endParaRPr kumimoji="1" lang="ja-JP" altLang="en-US" sz="2400" b="1" dirty="0">
                  <a:solidFill>
                    <a:srgbClr val="0070C0"/>
                  </a:solidFill>
                  <a:latin typeface="メイリオ" panose="020B0604030504040204" pitchFamily="50" charset="-128"/>
                  <a:ea typeface="メイリオ" panose="020B0604030504040204" pitchFamily="50" charset="-128"/>
                </a:endParaRPr>
              </a:p>
            </p:txBody>
          </p:sp>
        </mc:Choice>
        <mc:Fallback xmlns="">
          <p:sp>
            <p:nvSpPr>
              <p:cNvPr id="51" name="テキスト ボックス 50">
                <a:extLst>
                  <a:ext uri="{FF2B5EF4-FFF2-40B4-BE49-F238E27FC236}">
                    <a16:creationId xmlns:a16="http://schemas.microsoft.com/office/drawing/2014/main" id="{EC8BD1DE-736A-2508-EFE6-9C8C267C451D}"/>
                  </a:ext>
                </a:extLst>
              </p:cNvPr>
              <p:cNvSpPr txBox="1">
                <a:spLocks noRot="1" noChangeAspect="1" noMove="1" noResize="1" noEditPoints="1" noAdjustHandles="1" noChangeArrowheads="1" noChangeShapeType="1" noTextEdit="1"/>
              </p:cNvSpPr>
              <p:nvPr/>
            </p:nvSpPr>
            <p:spPr>
              <a:xfrm>
                <a:off x="10396498" y="3938523"/>
                <a:ext cx="1155040" cy="584775"/>
              </a:xfrm>
              <a:prstGeom prst="rect">
                <a:avLst/>
              </a:prstGeom>
              <a:blipFill>
                <a:blip r:embed="rId5"/>
                <a:stretch>
                  <a:fillRect l="-7895" b="-1875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2" name="テキスト ボックス 51">
                <a:extLst>
                  <a:ext uri="{FF2B5EF4-FFF2-40B4-BE49-F238E27FC236}">
                    <a16:creationId xmlns:a16="http://schemas.microsoft.com/office/drawing/2014/main" id="{A29A7027-3B9D-BA90-CB29-7CF257AD245E}"/>
                  </a:ext>
                </a:extLst>
              </p:cNvPr>
              <p:cNvSpPr txBox="1"/>
              <p:nvPr/>
            </p:nvSpPr>
            <p:spPr>
              <a:xfrm>
                <a:off x="10437897" y="4417694"/>
                <a:ext cx="1113641" cy="584775"/>
              </a:xfrm>
              <a:prstGeom prst="rect">
                <a:avLst/>
              </a:prstGeom>
              <a:noFill/>
            </p:spPr>
            <p:txBody>
              <a:bodyPr wrap="square" rtlCol="0">
                <a:spAutoFit/>
              </a:bodyPr>
              <a:lstStyle/>
              <a:p>
                <a:r>
                  <a:rPr kumimoji="1" lang="ja-JP" altLang="en-US" sz="2400" b="1" dirty="0">
                    <a:solidFill>
                      <a:srgbClr val="00B050"/>
                    </a:solidFill>
                    <a:ea typeface="メイリオ" panose="020B0604030504040204" pitchFamily="50" charset="-128"/>
                  </a:rPr>
                  <a:t>状態 </a:t>
                </a:r>
                <a14:m>
                  <m:oMath xmlns:m="http://schemas.openxmlformats.org/officeDocument/2006/math">
                    <m:r>
                      <a:rPr kumimoji="1" lang="en-US" altLang="ja-JP" sz="3200" b="1" i="0" smtClean="0">
                        <a:solidFill>
                          <a:srgbClr val="00B050"/>
                        </a:solidFill>
                        <a:latin typeface="Cambria Math" panose="02040503050406030204" pitchFamily="18" charset="0"/>
                        <a:ea typeface="メイリオ" panose="020B0604030504040204" pitchFamily="50" charset="-128"/>
                      </a:rPr>
                      <m:t>𝐱</m:t>
                    </m:r>
                  </m:oMath>
                </a14:m>
                <a:endParaRPr kumimoji="1" lang="ja-JP" altLang="en-US" sz="2400" b="1" dirty="0">
                  <a:solidFill>
                    <a:srgbClr val="00B050"/>
                  </a:solidFill>
                  <a:latin typeface="メイリオ" panose="020B0604030504040204" pitchFamily="50" charset="-128"/>
                  <a:ea typeface="メイリオ" panose="020B0604030504040204" pitchFamily="50" charset="-128"/>
                </a:endParaRPr>
              </a:p>
            </p:txBody>
          </p:sp>
        </mc:Choice>
        <mc:Fallback xmlns="">
          <p:sp>
            <p:nvSpPr>
              <p:cNvPr id="52" name="テキスト ボックス 51">
                <a:extLst>
                  <a:ext uri="{FF2B5EF4-FFF2-40B4-BE49-F238E27FC236}">
                    <a16:creationId xmlns:a16="http://schemas.microsoft.com/office/drawing/2014/main" id="{A29A7027-3B9D-BA90-CB29-7CF257AD245E}"/>
                  </a:ext>
                </a:extLst>
              </p:cNvPr>
              <p:cNvSpPr txBox="1">
                <a:spLocks noRot="1" noChangeAspect="1" noMove="1" noResize="1" noEditPoints="1" noAdjustHandles="1" noChangeArrowheads="1" noChangeShapeType="1" noTextEdit="1"/>
              </p:cNvSpPr>
              <p:nvPr/>
            </p:nvSpPr>
            <p:spPr>
              <a:xfrm>
                <a:off x="10437897" y="4417694"/>
                <a:ext cx="1113641" cy="584775"/>
              </a:xfrm>
              <a:prstGeom prst="rect">
                <a:avLst/>
              </a:prstGeom>
              <a:blipFill>
                <a:blip r:embed="rId6"/>
                <a:stretch>
                  <a:fillRect l="-8197" b="-1875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504252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グループ化 12">
            <a:extLst>
              <a:ext uri="{FF2B5EF4-FFF2-40B4-BE49-F238E27FC236}">
                <a16:creationId xmlns:a16="http://schemas.microsoft.com/office/drawing/2014/main" id="{AA9A69AC-8EBE-5388-9A25-7D7BF1419353}"/>
              </a:ext>
            </a:extLst>
          </p:cNvPr>
          <p:cNvGrpSpPr/>
          <p:nvPr/>
        </p:nvGrpSpPr>
        <p:grpSpPr>
          <a:xfrm>
            <a:off x="5938274" y="1117674"/>
            <a:ext cx="5974590" cy="3713195"/>
            <a:chOff x="-1376210" y="-350976"/>
            <a:chExt cx="9559629" cy="5237878"/>
          </a:xfrm>
          <a:solidFill>
            <a:srgbClr val="FFFFFF"/>
          </a:solidFill>
        </p:grpSpPr>
        <p:cxnSp>
          <p:nvCxnSpPr>
            <p:cNvPr id="14" name="直線コネクタ 13">
              <a:extLst>
                <a:ext uri="{FF2B5EF4-FFF2-40B4-BE49-F238E27FC236}">
                  <a16:creationId xmlns:a16="http://schemas.microsoft.com/office/drawing/2014/main" id="{2233627E-6BF5-01A5-52F8-CBE80CB80315}"/>
                </a:ext>
              </a:extLst>
            </p:cNvPr>
            <p:cNvCxnSpPr>
              <a:cxnSpLocks/>
            </p:cNvCxnSpPr>
            <p:nvPr/>
          </p:nvCxnSpPr>
          <p:spPr>
            <a:xfrm flipV="1">
              <a:off x="2476501" y="4877666"/>
              <a:ext cx="5706918" cy="9236"/>
            </a:xfrm>
            <a:prstGeom prst="line">
              <a:avLst/>
            </a:prstGeom>
            <a:grpFill/>
            <a:ln w="38100">
              <a:solidFill>
                <a:schemeClr val="bg1">
                  <a:lumMod val="10000"/>
                </a:schemeClr>
              </a:solidFill>
            </a:ln>
          </p:spPr>
          <p:style>
            <a:lnRef idx="2">
              <a:schemeClr val="accent1"/>
            </a:lnRef>
            <a:fillRef idx="0">
              <a:schemeClr val="accent1"/>
            </a:fillRef>
            <a:effectRef idx="1">
              <a:schemeClr val="accent1"/>
            </a:effectRef>
            <a:fontRef idx="minor">
              <a:schemeClr val="tx1"/>
            </a:fontRef>
          </p:style>
        </p:cxnSp>
        <p:cxnSp>
          <p:nvCxnSpPr>
            <p:cNvPr id="16" name="直線コネクタ 15">
              <a:extLst>
                <a:ext uri="{FF2B5EF4-FFF2-40B4-BE49-F238E27FC236}">
                  <a16:creationId xmlns:a16="http://schemas.microsoft.com/office/drawing/2014/main" id="{3247422C-5776-78CC-C911-55A9AD10A3B1}"/>
                </a:ext>
              </a:extLst>
            </p:cNvPr>
            <p:cNvCxnSpPr>
              <a:cxnSpLocks/>
            </p:cNvCxnSpPr>
            <p:nvPr/>
          </p:nvCxnSpPr>
          <p:spPr>
            <a:xfrm flipV="1">
              <a:off x="2476501" y="1662544"/>
              <a:ext cx="0" cy="3215122"/>
            </a:xfrm>
            <a:prstGeom prst="line">
              <a:avLst/>
            </a:prstGeom>
            <a:grpFill/>
            <a:ln w="38100">
              <a:solidFill>
                <a:schemeClr val="bg1">
                  <a:lumMod val="10000"/>
                </a:schemeClr>
              </a:solidFill>
            </a:ln>
          </p:spPr>
          <p:style>
            <a:lnRef idx="2">
              <a:schemeClr val="accent1"/>
            </a:lnRef>
            <a:fillRef idx="0">
              <a:schemeClr val="accent1"/>
            </a:fillRef>
            <a:effectRef idx="1">
              <a:schemeClr val="accent1"/>
            </a:effectRef>
            <a:fontRef idx="minor">
              <a:schemeClr val="tx1"/>
            </a:fontRef>
          </p:style>
        </p:cxnSp>
        <p:sp>
          <p:nvSpPr>
            <p:cNvPr id="19" name="円弧 18">
              <a:extLst>
                <a:ext uri="{FF2B5EF4-FFF2-40B4-BE49-F238E27FC236}">
                  <a16:creationId xmlns:a16="http://schemas.microsoft.com/office/drawing/2014/main" id="{212809A5-C86E-9968-B040-87976AFB6CBD}"/>
                </a:ext>
              </a:extLst>
            </p:cNvPr>
            <p:cNvSpPr/>
            <p:nvPr/>
          </p:nvSpPr>
          <p:spPr>
            <a:xfrm rot="5400000">
              <a:off x="574980" y="-2302166"/>
              <a:ext cx="4862938" cy="8765317"/>
            </a:xfrm>
            <a:prstGeom prst="arc">
              <a:avLst/>
            </a:prstGeom>
            <a:grpFill/>
            <a:ln w="38100">
              <a:solidFill>
                <a:schemeClr val="bg1">
                  <a:lumMod val="1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5C56F4DD-986A-73F2-0746-747B282A3634}"/>
                </a:ext>
              </a:extLst>
            </p:cNvPr>
            <p:cNvSpPr/>
            <p:nvPr/>
          </p:nvSpPr>
          <p:spPr>
            <a:xfrm>
              <a:off x="6927273" y="1771073"/>
              <a:ext cx="1256146" cy="618837"/>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 name="テキスト プレースホルダー 2">
            <a:extLst>
              <a:ext uri="{FF2B5EF4-FFF2-40B4-BE49-F238E27FC236}">
                <a16:creationId xmlns:a16="http://schemas.microsoft.com/office/drawing/2014/main" id="{A4FC33B0-BA14-4381-18F1-B769B24B1D29}"/>
              </a:ext>
            </a:extLst>
          </p:cNvPr>
          <p:cNvSpPr>
            <a:spLocks noGrp="1"/>
          </p:cNvSpPr>
          <p:nvPr>
            <p:ph type="body" sz="quarter" idx="11"/>
          </p:nvPr>
        </p:nvSpPr>
        <p:spPr/>
        <p:txBody>
          <a:bodyPr/>
          <a:lstStyle/>
          <a:p>
            <a:r>
              <a:rPr kumimoji="1" lang="ja-JP" altLang="en-US" dirty="0"/>
              <a:t>評価関数</a:t>
            </a:r>
          </a:p>
        </p:txBody>
      </p:sp>
      <p:sp>
        <p:nvSpPr>
          <p:cNvPr id="8" name="テキスト ボックス 7">
            <a:extLst>
              <a:ext uri="{FF2B5EF4-FFF2-40B4-BE49-F238E27FC236}">
                <a16:creationId xmlns:a16="http://schemas.microsoft.com/office/drawing/2014/main" id="{675132FD-7569-8D13-C185-FE1051CD8BAB}"/>
              </a:ext>
            </a:extLst>
          </p:cNvPr>
          <p:cNvSpPr txBox="1"/>
          <p:nvPr/>
        </p:nvSpPr>
        <p:spPr>
          <a:xfrm>
            <a:off x="1219742" y="5902698"/>
            <a:ext cx="5122881" cy="461665"/>
          </a:xfrm>
          <a:prstGeom prst="rect">
            <a:avLst/>
          </a:prstGeom>
          <a:noFill/>
          <a:ln>
            <a:noFill/>
          </a:ln>
        </p:spPr>
        <p:txBody>
          <a:bodyPr wrap="square" rtlCol="0">
            <a:spAutoFit/>
          </a:bodyPr>
          <a:lstStyle/>
          <a:p>
            <a:r>
              <a:rPr lang="ja-JP" altLang="en-US" sz="2400" b="1" dirty="0">
                <a:solidFill>
                  <a:schemeClr val="bg1">
                    <a:lumMod val="10000"/>
                  </a:schemeClr>
                </a:solidFill>
                <a:latin typeface="メイリオ" panose="020B0604030504040204" pitchFamily="50" charset="-128"/>
                <a:ea typeface="メイリオ" panose="020B0604030504040204" pitchFamily="50" charset="-128"/>
              </a:rPr>
              <a:t>成長速度最大化（栽培期間最小化）</a:t>
            </a:r>
            <a:endParaRPr lang="en-US" altLang="ja-JP" sz="2400" b="1" dirty="0">
              <a:solidFill>
                <a:schemeClr val="bg1">
                  <a:lumMod val="10000"/>
                </a:schemeClr>
              </a:solidFill>
              <a:latin typeface="メイリオ" panose="020B0604030504040204" pitchFamily="50" charset="-128"/>
              <a:ea typeface="メイリオ" panose="020B0604030504040204" pitchFamily="50" charset="-128"/>
            </a:endParaRPr>
          </a:p>
        </p:txBody>
      </p:sp>
      <p:sp>
        <p:nvSpPr>
          <p:cNvPr id="9" name="テキスト ボックス 8">
            <a:extLst>
              <a:ext uri="{FF2B5EF4-FFF2-40B4-BE49-F238E27FC236}">
                <a16:creationId xmlns:a16="http://schemas.microsoft.com/office/drawing/2014/main" id="{F6DB6C2A-060F-8446-8755-C57E66A9A386}"/>
              </a:ext>
            </a:extLst>
          </p:cNvPr>
          <p:cNvSpPr txBox="1"/>
          <p:nvPr/>
        </p:nvSpPr>
        <p:spPr>
          <a:xfrm>
            <a:off x="402131" y="1655355"/>
            <a:ext cx="7409819" cy="461665"/>
          </a:xfrm>
          <a:prstGeom prst="rect">
            <a:avLst/>
          </a:prstGeom>
          <a:noFill/>
          <a:ln>
            <a:noFill/>
          </a:ln>
        </p:spPr>
        <p:txBody>
          <a:bodyPr wrap="square" rtlCol="0">
            <a:spAutoFit/>
          </a:bodyPr>
          <a:lstStyle/>
          <a:p>
            <a:r>
              <a:rPr lang="ja-JP" altLang="en-US" sz="2400" dirty="0">
                <a:solidFill>
                  <a:schemeClr val="bg1">
                    <a:lumMod val="10000"/>
                  </a:schemeClr>
                </a:solidFill>
                <a:latin typeface="メイリオ" panose="020B0604030504040204" pitchFamily="50" charset="-128"/>
                <a:ea typeface="メイリオ" panose="020B0604030504040204" pitchFamily="50" charset="-128"/>
              </a:rPr>
              <a:t>成長指標として</a:t>
            </a:r>
            <a:r>
              <a:rPr lang="ja-JP" altLang="en-US" sz="2400" b="1" u="sng" dirty="0">
                <a:solidFill>
                  <a:schemeClr val="bg1">
                    <a:lumMod val="10000"/>
                  </a:schemeClr>
                </a:solidFill>
                <a:latin typeface="メイリオ" panose="020B0604030504040204" pitchFamily="50" charset="-128"/>
                <a:ea typeface="メイリオ" panose="020B0604030504040204" pitchFamily="50" charset="-128"/>
              </a:rPr>
              <a:t>乾燥重量</a:t>
            </a:r>
            <a:r>
              <a:rPr lang="ja-JP" altLang="en-US" sz="2400" dirty="0">
                <a:solidFill>
                  <a:schemeClr val="bg1">
                    <a:lumMod val="10000"/>
                  </a:schemeClr>
                </a:solidFill>
                <a:latin typeface="メイリオ" panose="020B0604030504040204" pitchFamily="50" charset="-128"/>
                <a:ea typeface="メイリオ" panose="020B0604030504040204" pitchFamily="50" charset="-128"/>
              </a:rPr>
              <a:t>（水分以外の重さ）を採用</a:t>
            </a:r>
            <a:endParaRPr lang="en-US" altLang="ja-JP" sz="2400" dirty="0">
              <a:solidFill>
                <a:schemeClr val="bg1">
                  <a:lumMod val="10000"/>
                </a:schemeClr>
              </a:solidFill>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7392852D-D3B2-AB2C-D1CF-C2B74D5C60F9}"/>
              </a:ext>
            </a:extLst>
          </p:cNvPr>
          <p:cNvSpPr txBox="1"/>
          <p:nvPr/>
        </p:nvSpPr>
        <p:spPr>
          <a:xfrm>
            <a:off x="379650" y="2175657"/>
            <a:ext cx="2292042" cy="461665"/>
          </a:xfrm>
          <a:prstGeom prst="rect">
            <a:avLst/>
          </a:prstGeom>
          <a:solidFill>
            <a:srgbClr val="FFFFFF"/>
          </a:solidFill>
          <a:ln>
            <a:noFill/>
          </a:ln>
        </p:spPr>
        <p:txBody>
          <a:bodyPr wrap="square" rtlCol="0">
            <a:spAutoFit/>
          </a:bodyPr>
          <a:lstStyle/>
          <a:p>
            <a:r>
              <a:rPr lang="ja-JP" altLang="en-US" sz="2400" b="1" dirty="0">
                <a:solidFill>
                  <a:schemeClr val="bg1">
                    <a:lumMod val="10000"/>
                  </a:schemeClr>
                </a:solidFill>
                <a:latin typeface="メイリオ" panose="020B0604030504040204" pitchFamily="50" charset="-128"/>
                <a:ea typeface="メイリオ" panose="020B0604030504040204" pitchFamily="50" charset="-128"/>
              </a:rPr>
              <a:t>植物の成長</a:t>
            </a:r>
            <a:endParaRPr lang="en-US" altLang="ja-JP" sz="2400" b="1" dirty="0">
              <a:solidFill>
                <a:schemeClr val="bg1">
                  <a:lumMod val="10000"/>
                </a:schemeClr>
              </a:solidFill>
              <a:latin typeface="メイリオ" panose="020B0604030504040204" pitchFamily="50" charset="-128"/>
              <a:ea typeface="メイリオ" panose="020B0604030504040204" pitchFamily="50" charset="-128"/>
            </a:endParaRPr>
          </a:p>
        </p:txBody>
      </p:sp>
      <p:pic>
        <p:nvPicPr>
          <p:cNvPr id="15" name="図 14">
            <a:extLst>
              <a:ext uri="{FF2B5EF4-FFF2-40B4-BE49-F238E27FC236}">
                <a16:creationId xmlns:a16="http://schemas.microsoft.com/office/drawing/2014/main" id="{D7BBF54D-4435-A4A1-8F0D-3083D84F9C4C}"/>
              </a:ext>
            </a:extLst>
          </p:cNvPr>
          <p:cNvPicPr>
            <a:picLocks noChangeAspect="1"/>
          </p:cNvPicPr>
          <p:nvPr/>
        </p:nvPicPr>
        <p:blipFill>
          <a:blip r:embed="rId3"/>
          <a:stretch>
            <a:fillRect/>
          </a:stretch>
        </p:blipFill>
        <p:spPr>
          <a:xfrm>
            <a:off x="1547426" y="3622396"/>
            <a:ext cx="5262003" cy="686882"/>
          </a:xfrm>
          <a:prstGeom prst="rect">
            <a:avLst/>
          </a:prstGeom>
        </p:spPr>
      </p:pic>
      <p:cxnSp>
        <p:nvCxnSpPr>
          <p:cNvPr id="17" name="直線コネクタ 16">
            <a:extLst>
              <a:ext uri="{FF2B5EF4-FFF2-40B4-BE49-F238E27FC236}">
                <a16:creationId xmlns:a16="http://schemas.microsoft.com/office/drawing/2014/main" id="{9EB23234-4BFA-B4A3-E32F-956AB36F4B8C}"/>
              </a:ext>
            </a:extLst>
          </p:cNvPr>
          <p:cNvCxnSpPr>
            <a:cxnSpLocks/>
          </p:cNvCxnSpPr>
          <p:nvPr/>
        </p:nvCxnSpPr>
        <p:spPr>
          <a:xfrm flipV="1">
            <a:off x="3255214" y="4306641"/>
            <a:ext cx="1051938" cy="263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1A90331A-86DE-4A83-C795-1FF36D257056}"/>
              </a:ext>
            </a:extLst>
          </p:cNvPr>
          <p:cNvCxnSpPr>
            <a:cxnSpLocks/>
          </p:cNvCxnSpPr>
          <p:nvPr/>
        </p:nvCxnSpPr>
        <p:spPr>
          <a:xfrm>
            <a:off x="5866762" y="4284904"/>
            <a:ext cx="106269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8D52661F-B068-28E7-1BBC-0D68DC9A21F4}"/>
              </a:ext>
            </a:extLst>
          </p:cNvPr>
          <p:cNvSpPr txBox="1"/>
          <p:nvPr/>
        </p:nvSpPr>
        <p:spPr>
          <a:xfrm>
            <a:off x="2987797" y="4415765"/>
            <a:ext cx="1794559" cy="461665"/>
          </a:xfrm>
          <a:prstGeom prst="rect">
            <a:avLst/>
          </a:prstGeom>
          <a:noFill/>
          <a:ln>
            <a:noFill/>
          </a:ln>
        </p:spPr>
        <p:txBody>
          <a:bodyPr wrap="square" rtlCol="0">
            <a:spAutoFit/>
          </a:bodyPr>
          <a:lstStyle/>
          <a:p>
            <a:r>
              <a:rPr lang="ja-JP" altLang="en-US" sz="2400" b="1" dirty="0">
                <a:solidFill>
                  <a:srgbClr val="FF0000"/>
                </a:solidFill>
                <a:latin typeface="メイリオ" panose="020B0604030504040204" pitchFamily="50" charset="-128"/>
                <a:ea typeface="メイリオ" panose="020B0604030504040204" pitchFamily="50" charset="-128"/>
              </a:rPr>
              <a:t>光合成速度</a:t>
            </a:r>
            <a:endParaRPr lang="en-US" altLang="ja-JP" sz="2400" b="1" dirty="0">
              <a:solidFill>
                <a:srgbClr val="FF0000"/>
              </a:solidFill>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1CB8656B-3B27-CB25-12C7-7F5B877AACAE}"/>
              </a:ext>
            </a:extLst>
          </p:cNvPr>
          <p:cNvSpPr txBox="1"/>
          <p:nvPr/>
        </p:nvSpPr>
        <p:spPr>
          <a:xfrm>
            <a:off x="5683794" y="4401434"/>
            <a:ext cx="1428627" cy="461665"/>
          </a:xfrm>
          <a:prstGeom prst="rect">
            <a:avLst/>
          </a:prstGeom>
          <a:noFill/>
          <a:ln>
            <a:noFill/>
          </a:ln>
        </p:spPr>
        <p:txBody>
          <a:bodyPr wrap="square" rtlCol="0">
            <a:spAutoFit/>
          </a:bodyPr>
          <a:lstStyle/>
          <a:p>
            <a:r>
              <a:rPr lang="ja-JP" altLang="en-US" sz="2400" b="1" dirty="0">
                <a:solidFill>
                  <a:schemeClr val="accent1"/>
                </a:solidFill>
                <a:latin typeface="メイリオ" panose="020B0604030504040204" pitchFamily="50" charset="-128"/>
                <a:ea typeface="メイリオ" panose="020B0604030504040204" pitchFamily="50" charset="-128"/>
              </a:rPr>
              <a:t>呼吸速度</a:t>
            </a:r>
            <a:endParaRPr lang="en-US" altLang="ja-JP" sz="2400" b="1" dirty="0">
              <a:solidFill>
                <a:schemeClr val="accent1"/>
              </a:solidFill>
              <a:latin typeface="メイリオ" panose="020B0604030504040204" pitchFamily="50" charset="-128"/>
              <a:ea typeface="メイリオ" panose="020B0604030504040204" pitchFamily="50" charset="-128"/>
            </a:endParaRPr>
          </a:p>
        </p:txBody>
      </p:sp>
      <p:cxnSp>
        <p:nvCxnSpPr>
          <p:cNvPr id="31" name="直線コネクタ 30">
            <a:extLst>
              <a:ext uri="{FF2B5EF4-FFF2-40B4-BE49-F238E27FC236}">
                <a16:creationId xmlns:a16="http://schemas.microsoft.com/office/drawing/2014/main" id="{50B957F4-461E-5513-28D1-272683087D02}"/>
              </a:ext>
            </a:extLst>
          </p:cNvPr>
          <p:cNvCxnSpPr>
            <a:cxnSpLocks/>
          </p:cNvCxnSpPr>
          <p:nvPr/>
        </p:nvCxnSpPr>
        <p:spPr>
          <a:xfrm>
            <a:off x="1573086" y="4284904"/>
            <a:ext cx="403060" cy="0"/>
          </a:xfrm>
          <a:prstGeom prst="line">
            <a:avLst/>
          </a:prstGeom>
          <a:ln w="38100">
            <a:solidFill>
              <a:schemeClr val="bg1">
                <a:lumMod val="10000"/>
              </a:schemeClr>
            </a:solidFill>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0B0346C1-B6EE-D5DC-B688-C651577B6C7B}"/>
              </a:ext>
            </a:extLst>
          </p:cNvPr>
          <p:cNvSpPr txBox="1"/>
          <p:nvPr/>
        </p:nvSpPr>
        <p:spPr>
          <a:xfrm>
            <a:off x="1132289" y="4415764"/>
            <a:ext cx="1500756" cy="461665"/>
          </a:xfrm>
          <a:prstGeom prst="rect">
            <a:avLst/>
          </a:prstGeom>
          <a:noFill/>
          <a:ln>
            <a:noFill/>
          </a:ln>
        </p:spPr>
        <p:txBody>
          <a:bodyPr wrap="square" rtlCol="0">
            <a:spAutoFit/>
          </a:bodyPr>
          <a:lstStyle/>
          <a:p>
            <a:r>
              <a:rPr lang="ja-JP" altLang="en-US" sz="2400" b="1" dirty="0">
                <a:solidFill>
                  <a:schemeClr val="bg1">
                    <a:lumMod val="10000"/>
                  </a:schemeClr>
                </a:solidFill>
                <a:latin typeface="メイリオ" panose="020B0604030504040204" pitchFamily="50" charset="-128"/>
                <a:ea typeface="メイリオ" panose="020B0604030504040204" pitchFamily="50" charset="-128"/>
              </a:rPr>
              <a:t>乾燥重量</a:t>
            </a:r>
            <a:endParaRPr lang="en-US" altLang="ja-JP" sz="2400" b="1" dirty="0">
              <a:solidFill>
                <a:schemeClr val="bg1">
                  <a:lumMod val="10000"/>
                </a:schemeClr>
              </a:solidFill>
              <a:latin typeface="メイリオ" panose="020B0604030504040204" pitchFamily="50" charset="-128"/>
              <a:ea typeface="メイリオ" panose="020B0604030504040204" pitchFamily="50" charset="-128"/>
            </a:endParaRPr>
          </a:p>
        </p:txBody>
      </p:sp>
      <p:cxnSp>
        <p:nvCxnSpPr>
          <p:cNvPr id="34" name="直線コネクタ 33">
            <a:extLst>
              <a:ext uri="{FF2B5EF4-FFF2-40B4-BE49-F238E27FC236}">
                <a16:creationId xmlns:a16="http://schemas.microsoft.com/office/drawing/2014/main" id="{6B45DB81-40CD-76E9-9C88-CA0F70C9F50B}"/>
              </a:ext>
            </a:extLst>
          </p:cNvPr>
          <p:cNvCxnSpPr>
            <a:cxnSpLocks/>
          </p:cNvCxnSpPr>
          <p:nvPr/>
        </p:nvCxnSpPr>
        <p:spPr>
          <a:xfrm>
            <a:off x="4178427" y="4863099"/>
            <a:ext cx="749880" cy="337776"/>
          </a:xfrm>
          <a:prstGeom prst="line">
            <a:avLst/>
          </a:prstGeom>
          <a:ln w="38100">
            <a:solidFill>
              <a:schemeClr val="bg1">
                <a:lumMod val="10000"/>
              </a:schemeClr>
            </a:solidFill>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C067CD7C-0A01-8848-6528-D9A46B675406}"/>
              </a:ext>
            </a:extLst>
          </p:cNvPr>
          <p:cNvCxnSpPr>
            <a:cxnSpLocks/>
          </p:cNvCxnSpPr>
          <p:nvPr/>
        </p:nvCxnSpPr>
        <p:spPr>
          <a:xfrm flipV="1">
            <a:off x="5389795" y="4764906"/>
            <a:ext cx="587997" cy="435969"/>
          </a:xfrm>
          <a:prstGeom prst="line">
            <a:avLst/>
          </a:prstGeom>
          <a:ln w="38100">
            <a:solidFill>
              <a:schemeClr val="bg1">
                <a:lumMod val="1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テキスト ボックス 38">
                <a:extLst>
                  <a:ext uri="{FF2B5EF4-FFF2-40B4-BE49-F238E27FC236}">
                    <a16:creationId xmlns:a16="http://schemas.microsoft.com/office/drawing/2014/main" id="{E5D4E0D0-3108-3F81-D5DE-211D9235C571}"/>
                  </a:ext>
                </a:extLst>
              </p:cNvPr>
              <p:cNvSpPr txBox="1"/>
              <p:nvPr/>
            </p:nvSpPr>
            <p:spPr>
              <a:xfrm>
                <a:off x="4497300" y="5222912"/>
                <a:ext cx="1341423" cy="461665"/>
              </a:xfrm>
              <a:prstGeom prst="rect">
                <a:avLst/>
              </a:prstGeom>
              <a:noFill/>
              <a:ln>
                <a:noFill/>
              </a:ln>
            </p:spPr>
            <p:txBody>
              <a:bodyPr wrap="square" rtlCol="0">
                <a:spAutoFit/>
              </a:bodyPr>
              <a:lstStyle/>
              <a:p>
                <a14:m>
                  <m:oMath xmlns:m="http://schemas.openxmlformats.org/officeDocument/2006/math">
                    <m:r>
                      <a:rPr lang="en-US" altLang="ja-JP" sz="2400" b="0" i="1" smtClean="0">
                        <a:solidFill>
                          <a:schemeClr val="bg1">
                            <a:lumMod val="10000"/>
                          </a:schemeClr>
                        </a:solidFill>
                        <a:latin typeface="Cambria Math" panose="02040503050406030204" pitchFamily="18" charset="0"/>
                        <a:ea typeface="メイリオ" panose="020B0604030504040204" pitchFamily="50" charset="-128"/>
                      </a:rPr>
                      <m:t>𝐵</m:t>
                    </m:r>
                  </m:oMath>
                </a14:m>
                <a:r>
                  <a:rPr lang="ja-JP" altLang="en-US" sz="2400" dirty="0">
                    <a:solidFill>
                      <a:schemeClr val="bg1">
                        <a:lumMod val="10000"/>
                      </a:schemeClr>
                    </a:solidFill>
                    <a:latin typeface="メイリオ" panose="020B0604030504040204" pitchFamily="50" charset="-128"/>
                    <a:ea typeface="メイリオ" panose="020B0604030504040204" pitchFamily="50" charset="-128"/>
                  </a:rPr>
                  <a:t>に依存</a:t>
                </a:r>
                <a:endParaRPr lang="en-US" altLang="ja-JP" sz="2400" dirty="0">
                  <a:solidFill>
                    <a:schemeClr val="bg1">
                      <a:lumMod val="10000"/>
                    </a:schemeClr>
                  </a:solidFill>
                  <a:latin typeface="メイリオ" panose="020B0604030504040204" pitchFamily="50" charset="-128"/>
                  <a:ea typeface="メイリオ" panose="020B0604030504040204" pitchFamily="50" charset="-128"/>
                </a:endParaRPr>
              </a:p>
            </p:txBody>
          </p:sp>
        </mc:Choice>
        <mc:Fallback xmlns="">
          <p:sp>
            <p:nvSpPr>
              <p:cNvPr id="39" name="テキスト ボックス 38">
                <a:extLst>
                  <a:ext uri="{FF2B5EF4-FFF2-40B4-BE49-F238E27FC236}">
                    <a16:creationId xmlns:a16="http://schemas.microsoft.com/office/drawing/2014/main" id="{E5D4E0D0-3108-3F81-D5DE-211D9235C571}"/>
                  </a:ext>
                </a:extLst>
              </p:cNvPr>
              <p:cNvSpPr txBox="1">
                <a:spLocks noRot="1" noChangeAspect="1" noMove="1" noResize="1" noEditPoints="1" noAdjustHandles="1" noChangeArrowheads="1" noChangeShapeType="1" noTextEdit="1"/>
              </p:cNvSpPr>
              <p:nvPr/>
            </p:nvSpPr>
            <p:spPr>
              <a:xfrm>
                <a:off x="4497300" y="5222912"/>
                <a:ext cx="1341423" cy="461665"/>
              </a:xfrm>
              <a:prstGeom prst="rect">
                <a:avLst/>
              </a:prstGeom>
              <a:blipFill>
                <a:blip r:embed="rId4"/>
                <a:stretch>
                  <a:fillRect l="-1364" t="-7895" r="-4091" b="-31579"/>
                </a:stretch>
              </a:blipFill>
              <a:ln>
                <a:noFill/>
              </a:ln>
            </p:spPr>
            <p:txBody>
              <a:bodyPr/>
              <a:lstStyle/>
              <a:p>
                <a:r>
                  <a:rPr lang="ja-JP" altLang="en-US">
                    <a:noFill/>
                  </a:rPr>
                  <a:t> </a:t>
                </a:r>
              </a:p>
            </p:txBody>
          </p:sp>
        </mc:Fallback>
      </mc:AlternateContent>
      <p:sp>
        <p:nvSpPr>
          <p:cNvPr id="51" name="テキスト ボックス 50">
            <a:extLst>
              <a:ext uri="{FF2B5EF4-FFF2-40B4-BE49-F238E27FC236}">
                <a16:creationId xmlns:a16="http://schemas.microsoft.com/office/drawing/2014/main" id="{E474C858-96AE-7870-8E37-AAFB7012065F}"/>
              </a:ext>
            </a:extLst>
          </p:cNvPr>
          <p:cNvSpPr txBox="1"/>
          <p:nvPr/>
        </p:nvSpPr>
        <p:spPr>
          <a:xfrm>
            <a:off x="210574" y="5902698"/>
            <a:ext cx="1108087" cy="461665"/>
          </a:xfrm>
          <a:prstGeom prst="rect">
            <a:avLst/>
          </a:prstGeom>
          <a:solidFill>
            <a:srgbClr val="FFFFFF"/>
          </a:solidFill>
          <a:ln>
            <a:noFill/>
          </a:ln>
        </p:spPr>
        <p:txBody>
          <a:bodyPr wrap="square" rtlCol="0">
            <a:spAutoFit/>
          </a:bodyPr>
          <a:lstStyle/>
          <a:p>
            <a:r>
              <a:rPr lang="ja-JP" altLang="en-US" sz="2400" b="1" dirty="0">
                <a:solidFill>
                  <a:schemeClr val="bg1">
                    <a:lumMod val="10000"/>
                  </a:schemeClr>
                </a:solidFill>
                <a:latin typeface="メイリオ" panose="020B0604030504040204" pitchFamily="50" charset="-128"/>
                <a:ea typeface="メイリオ" panose="020B0604030504040204" pitchFamily="50" charset="-128"/>
              </a:rPr>
              <a:t>目標：</a:t>
            </a:r>
            <a:endParaRPr lang="en-US" altLang="ja-JP" sz="2400" b="1" dirty="0">
              <a:solidFill>
                <a:schemeClr val="bg1">
                  <a:lumMod val="10000"/>
                </a:schemeClr>
              </a:solidFill>
              <a:latin typeface="メイリオ" panose="020B0604030504040204" pitchFamily="50" charset="-128"/>
              <a:ea typeface="メイリオ" panose="020B0604030504040204" pitchFamily="50" charset="-128"/>
            </a:endParaRPr>
          </a:p>
        </p:txBody>
      </p:sp>
      <p:sp>
        <p:nvSpPr>
          <p:cNvPr id="2" name="テキスト ボックス 1">
            <a:extLst>
              <a:ext uri="{FF2B5EF4-FFF2-40B4-BE49-F238E27FC236}">
                <a16:creationId xmlns:a16="http://schemas.microsoft.com/office/drawing/2014/main" id="{955496C2-75CE-5E07-E760-7C0F616E9823}"/>
              </a:ext>
            </a:extLst>
          </p:cNvPr>
          <p:cNvSpPr txBox="1"/>
          <p:nvPr/>
        </p:nvSpPr>
        <p:spPr>
          <a:xfrm>
            <a:off x="730408" y="2669158"/>
            <a:ext cx="5794996" cy="830997"/>
          </a:xfrm>
          <a:prstGeom prst="rect">
            <a:avLst/>
          </a:prstGeom>
          <a:noFill/>
          <a:ln>
            <a:noFill/>
          </a:ln>
        </p:spPr>
        <p:txBody>
          <a:bodyPr wrap="square" rtlCol="0">
            <a:spAutoFit/>
          </a:bodyPr>
          <a:lstStyle/>
          <a:p>
            <a:r>
              <a:rPr lang="ja-JP" altLang="en-US" sz="2400" dirty="0">
                <a:solidFill>
                  <a:schemeClr val="bg1">
                    <a:lumMod val="10000"/>
                  </a:schemeClr>
                </a:solidFill>
                <a:latin typeface="メイリオ" panose="020B0604030504040204" pitchFamily="50" charset="-128"/>
                <a:ea typeface="メイリオ" panose="020B0604030504040204" pitchFamily="50" charset="-128"/>
              </a:rPr>
              <a:t>・</a:t>
            </a:r>
            <a:r>
              <a:rPr lang="ja-JP" altLang="en-US" sz="2400" b="1" dirty="0">
                <a:solidFill>
                  <a:srgbClr val="FF0000"/>
                </a:solidFill>
                <a:latin typeface="メイリオ" panose="020B0604030504040204" pitchFamily="50" charset="-128"/>
                <a:ea typeface="メイリオ" panose="020B0604030504040204" pitchFamily="50" charset="-128"/>
              </a:rPr>
              <a:t>光合成</a:t>
            </a:r>
            <a:r>
              <a:rPr lang="ja-JP" altLang="en-US" sz="2400" dirty="0">
                <a:solidFill>
                  <a:schemeClr val="bg1">
                    <a:lumMod val="10000"/>
                  </a:schemeClr>
                </a:solidFill>
                <a:latin typeface="メイリオ" panose="020B0604030504040204" pitchFamily="50" charset="-128"/>
                <a:ea typeface="メイリオ" panose="020B0604030504040204" pitchFamily="50" charset="-128"/>
              </a:rPr>
              <a:t>によってエネルギーを生成</a:t>
            </a:r>
            <a:endParaRPr lang="en-US" altLang="ja-JP" sz="2400" dirty="0">
              <a:solidFill>
                <a:schemeClr val="bg1">
                  <a:lumMod val="10000"/>
                </a:schemeClr>
              </a:solidFill>
              <a:latin typeface="メイリオ" panose="020B0604030504040204" pitchFamily="50" charset="-128"/>
              <a:ea typeface="メイリオ" panose="020B0604030504040204" pitchFamily="50" charset="-128"/>
            </a:endParaRPr>
          </a:p>
          <a:p>
            <a:r>
              <a:rPr lang="ja-JP" altLang="en-US" sz="2400" b="1" dirty="0">
                <a:solidFill>
                  <a:schemeClr val="bg1">
                    <a:lumMod val="10000"/>
                  </a:schemeClr>
                </a:solidFill>
                <a:latin typeface="メイリオ" panose="020B0604030504040204" pitchFamily="50" charset="-128"/>
                <a:ea typeface="メイリオ" panose="020B0604030504040204" pitchFamily="50" charset="-128"/>
              </a:rPr>
              <a:t>・</a:t>
            </a:r>
            <a:r>
              <a:rPr lang="ja-JP" altLang="en-US" sz="2400" b="1" dirty="0">
                <a:solidFill>
                  <a:schemeClr val="accent1"/>
                </a:solidFill>
                <a:latin typeface="メイリオ" panose="020B0604030504040204" pitchFamily="50" charset="-128"/>
                <a:ea typeface="メイリオ" panose="020B0604030504040204" pitchFamily="50" charset="-128"/>
              </a:rPr>
              <a:t>呼吸</a:t>
            </a:r>
            <a:r>
              <a:rPr lang="ja-JP" altLang="en-US" sz="2400" dirty="0">
                <a:solidFill>
                  <a:schemeClr val="bg1">
                    <a:lumMod val="10000"/>
                  </a:schemeClr>
                </a:solidFill>
                <a:latin typeface="メイリオ" panose="020B0604030504040204" pitchFamily="50" charset="-128"/>
                <a:ea typeface="メイリオ" panose="020B0604030504040204" pitchFamily="50" charset="-128"/>
              </a:rPr>
              <a:t>によってエネルギーを消費</a:t>
            </a:r>
            <a:endParaRPr lang="en-US" altLang="ja-JP" sz="2400" dirty="0">
              <a:solidFill>
                <a:schemeClr val="bg1">
                  <a:lumMod val="10000"/>
                </a:schemeClr>
              </a:solidFill>
              <a:latin typeface="メイリオ" panose="020B0604030504040204" pitchFamily="50" charset="-128"/>
              <a:ea typeface="メイリオ" panose="020B0604030504040204" pitchFamily="50" charset="-128"/>
            </a:endParaRPr>
          </a:p>
        </p:txBody>
      </p:sp>
      <p:sp>
        <p:nvSpPr>
          <p:cNvPr id="24" name="テキスト ボックス 23">
            <a:extLst>
              <a:ext uri="{FF2B5EF4-FFF2-40B4-BE49-F238E27FC236}">
                <a16:creationId xmlns:a16="http://schemas.microsoft.com/office/drawing/2014/main" id="{8EC10DB3-7958-2740-A26C-74D3C619F3BE}"/>
              </a:ext>
            </a:extLst>
          </p:cNvPr>
          <p:cNvSpPr txBox="1"/>
          <p:nvPr/>
        </p:nvSpPr>
        <p:spPr>
          <a:xfrm>
            <a:off x="9754564" y="5084914"/>
            <a:ext cx="749881" cy="400110"/>
          </a:xfrm>
          <a:prstGeom prst="rect">
            <a:avLst/>
          </a:prstGeom>
          <a:solidFill>
            <a:srgbClr val="FFFFFF"/>
          </a:solidFill>
          <a:ln>
            <a:noFill/>
          </a:ln>
        </p:spPr>
        <p:txBody>
          <a:bodyPr wrap="square" rtlCol="0">
            <a:spAutoFit/>
          </a:bodyPr>
          <a:lstStyle/>
          <a:p>
            <a:r>
              <a:rPr lang="ja-JP" altLang="en-US" sz="2000" b="1" dirty="0">
                <a:solidFill>
                  <a:schemeClr val="bg1">
                    <a:lumMod val="10000"/>
                  </a:schemeClr>
                </a:solidFill>
                <a:latin typeface="メイリオ" panose="020B0604030504040204" pitchFamily="50" charset="-128"/>
                <a:ea typeface="メイリオ" panose="020B0604030504040204" pitchFamily="50" charset="-128"/>
              </a:rPr>
              <a:t>時間</a:t>
            </a:r>
            <a:endParaRPr lang="en-US" altLang="ja-JP" sz="2000" b="1" dirty="0">
              <a:solidFill>
                <a:schemeClr val="bg1">
                  <a:lumMod val="10000"/>
                </a:schemeClr>
              </a:solidFill>
              <a:latin typeface="メイリオ" panose="020B0604030504040204" pitchFamily="50" charset="-128"/>
              <a:ea typeface="メイリオ" panose="020B0604030504040204" pitchFamily="50" charset="-128"/>
            </a:endParaRPr>
          </a:p>
        </p:txBody>
      </p:sp>
      <p:sp>
        <p:nvSpPr>
          <p:cNvPr id="25" name="テキスト ボックス 24">
            <a:extLst>
              <a:ext uri="{FF2B5EF4-FFF2-40B4-BE49-F238E27FC236}">
                <a16:creationId xmlns:a16="http://schemas.microsoft.com/office/drawing/2014/main" id="{AE5104FA-4F44-78BB-B4B7-B341BB4D60AF}"/>
              </a:ext>
            </a:extLst>
          </p:cNvPr>
          <p:cNvSpPr txBox="1"/>
          <p:nvPr/>
        </p:nvSpPr>
        <p:spPr>
          <a:xfrm>
            <a:off x="7588309" y="3270488"/>
            <a:ext cx="492443" cy="1195638"/>
          </a:xfrm>
          <a:prstGeom prst="rect">
            <a:avLst/>
          </a:prstGeom>
          <a:noFill/>
        </p:spPr>
        <p:txBody>
          <a:bodyPr vert="eaVert" wrap="square" rtlCol="0">
            <a:spAutoFit/>
          </a:bodyPr>
          <a:lstStyle/>
          <a:p>
            <a:r>
              <a:rPr kumimoji="1" lang="ja-JP" altLang="en-US" sz="2000" b="1" dirty="0">
                <a:solidFill>
                  <a:schemeClr val="bg1">
                    <a:lumMod val="10000"/>
                  </a:schemeClr>
                </a:solidFill>
                <a:latin typeface="メイリオ" panose="020B0604030504040204" pitchFamily="50" charset="-128"/>
                <a:ea typeface="メイリオ" panose="020B0604030504040204" pitchFamily="50" charset="-128"/>
              </a:rPr>
              <a:t>乾燥重量</a:t>
            </a:r>
          </a:p>
        </p:txBody>
      </p:sp>
      <p:sp>
        <p:nvSpPr>
          <p:cNvPr id="6" name="テキスト ボックス 5">
            <a:extLst>
              <a:ext uri="{FF2B5EF4-FFF2-40B4-BE49-F238E27FC236}">
                <a16:creationId xmlns:a16="http://schemas.microsoft.com/office/drawing/2014/main" id="{258D66CC-A050-7F2C-71C5-826CB1E7FB62}"/>
              </a:ext>
            </a:extLst>
          </p:cNvPr>
          <p:cNvSpPr txBox="1"/>
          <p:nvPr/>
        </p:nvSpPr>
        <p:spPr>
          <a:xfrm>
            <a:off x="210574" y="866557"/>
            <a:ext cx="10072864" cy="461665"/>
          </a:xfrm>
          <a:prstGeom prst="rect">
            <a:avLst/>
          </a:prstGeom>
          <a:noFill/>
          <a:ln>
            <a:noFill/>
          </a:ln>
        </p:spPr>
        <p:txBody>
          <a:bodyPr wrap="square" rtlCol="0">
            <a:spAutoFit/>
          </a:bodyPr>
          <a:lstStyle/>
          <a:p>
            <a:r>
              <a:rPr lang="ja-JP" altLang="en-US" sz="2400" dirty="0">
                <a:solidFill>
                  <a:schemeClr val="bg1">
                    <a:lumMod val="10000"/>
                  </a:schemeClr>
                </a:solidFill>
                <a:latin typeface="メイリオ" panose="020B0604030504040204" pitchFamily="50" charset="-128"/>
                <a:ea typeface="メイリオ" panose="020B0604030504040204" pitchFamily="50" charset="-128"/>
              </a:rPr>
              <a:t>評価関数は主に</a:t>
            </a:r>
            <a:r>
              <a:rPr lang="ja-JP" altLang="en-US" sz="2400" u="sng" dirty="0">
                <a:solidFill>
                  <a:schemeClr val="bg1">
                    <a:lumMod val="10000"/>
                  </a:schemeClr>
                </a:solidFill>
                <a:latin typeface="メイリオ" panose="020B0604030504040204" pitchFamily="50" charset="-128"/>
                <a:ea typeface="メイリオ" panose="020B0604030504040204" pitchFamily="50" charset="-128"/>
              </a:rPr>
              <a:t>成長速度最大化</a:t>
            </a:r>
            <a:r>
              <a:rPr lang="ja-JP" altLang="en-US" sz="2400" dirty="0">
                <a:solidFill>
                  <a:schemeClr val="bg1">
                    <a:lumMod val="10000"/>
                  </a:schemeClr>
                </a:solidFill>
                <a:latin typeface="メイリオ" panose="020B0604030504040204" pitchFamily="50" charset="-128"/>
                <a:ea typeface="メイリオ" panose="020B0604030504040204" pitchFamily="50" charset="-128"/>
              </a:rPr>
              <a:t>、</a:t>
            </a:r>
            <a:r>
              <a:rPr lang="ja-JP" altLang="en-US" sz="2400" u="sng" dirty="0">
                <a:solidFill>
                  <a:schemeClr val="bg1">
                    <a:lumMod val="10000"/>
                  </a:schemeClr>
                </a:solidFill>
                <a:latin typeface="メイリオ" panose="020B0604030504040204" pitchFamily="50" charset="-128"/>
                <a:ea typeface="メイリオ" panose="020B0604030504040204" pitchFamily="50" charset="-128"/>
              </a:rPr>
              <a:t>電気代抑制</a:t>
            </a:r>
            <a:r>
              <a:rPr lang="ja-JP" altLang="en-US" sz="2400" dirty="0">
                <a:solidFill>
                  <a:schemeClr val="bg1">
                    <a:lumMod val="10000"/>
                  </a:schemeClr>
                </a:solidFill>
                <a:latin typeface="メイリオ" panose="020B0604030504040204" pitchFamily="50" charset="-128"/>
                <a:ea typeface="メイリオ" panose="020B0604030504040204" pitchFamily="50" charset="-128"/>
              </a:rPr>
              <a:t>、</a:t>
            </a:r>
            <a:r>
              <a:rPr lang="ja-JP" altLang="en-US" sz="2400" u="sng" dirty="0">
                <a:solidFill>
                  <a:schemeClr val="bg1">
                    <a:lumMod val="10000"/>
                  </a:schemeClr>
                </a:solidFill>
                <a:latin typeface="メイリオ" panose="020B0604030504040204" pitchFamily="50" charset="-128"/>
                <a:ea typeface="メイリオ" panose="020B0604030504040204" pitchFamily="50" charset="-128"/>
              </a:rPr>
              <a:t>入力変化抑制</a:t>
            </a:r>
            <a:r>
              <a:rPr lang="ja-JP" altLang="en-US" sz="2400" dirty="0">
                <a:solidFill>
                  <a:schemeClr val="bg1">
                    <a:lumMod val="10000"/>
                  </a:schemeClr>
                </a:solidFill>
                <a:latin typeface="メイリオ" panose="020B0604030504040204" pitchFamily="50" charset="-128"/>
                <a:ea typeface="メイリオ" panose="020B0604030504040204" pitchFamily="50" charset="-128"/>
              </a:rPr>
              <a:t>の項で構成</a:t>
            </a:r>
            <a:endParaRPr lang="en-US" altLang="ja-JP" sz="2400" dirty="0">
              <a:solidFill>
                <a:schemeClr val="bg1">
                  <a:lumMod val="10000"/>
                </a:schemeClr>
              </a:solidFill>
              <a:latin typeface="メイリオ" panose="020B0604030504040204" pitchFamily="50" charset="-128"/>
              <a:ea typeface="メイリオ" panose="020B0604030504040204" pitchFamily="50" charset="-128"/>
            </a:endParaRPr>
          </a:p>
        </p:txBody>
      </p:sp>
      <p:sp>
        <p:nvSpPr>
          <p:cNvPr id="12" name="矢印: 左右 11">
            <a:extLst>
              <a:ext uri="{FF2B5EF4-FFF2-40B4-BE49-F238E27FC236}">
                <a16:creationId xmlns:a16="http://schemas.microsoft.com/office/drawing/2014/main" id="{162CB687-157D-C9C2-70EA-C4E2A7A799F2}"/>
              </a:ext>
            </a:extLst>
          </p:cNvPr>
          <p:cNvSpPr/>
          <p:nvPr/>
        </p:nvSpPr>
        <p:spPr>
          <a:xfrm>
            <a:off x="6433093" y="5902698"/>
            <a:ext cx="1378857" cy="344098"/>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1" name="テキスト ボックス 20">
            <a:extLst>
              <a:ext uri="{FF2B5EF4-FFF2-40B4-BE49-F238E27FC236}">
                <a16:creationId xmlns:a16="http://schemas.microsoft.com/office/drawing/2014/main" id="{044ADC2D-7A93-C2CE-47CD-643435D722AF}"/>
              </a:ext>
            </a:extLst>
          </p:cNvPr>
          <p:cNvSpPr txBox="1"/>
          <p:nvPr/>
        </p:nvSpPr>
        <p:spPr>
          <a:xfrm>
            <a:off x="6244851" y="5564922"/>
            <a:ext cx="1755339" cy="400110"/>
          </a:xfrm>
          <a:prstGeom prst="rect">
            <a:avLst/>
          </a:prstGeom>
          <a:noFill/>
          <a:ln>
            <a:noFill/>
          </a:ln>
        </p:spPr>
        <p:txBody>
          <a:bodyPr wrap="square" rtlCol="0">
            <a:spAutoFit/>
          </a:bodyPr>
          <a:lstStyle/>
          <a:p>
            <a:r>
              <a:rPr lang="ja-JP" altLang="en-US" sz="2000" b="1" dirty="0">
                <a:solidFill>
                  <a:schemeClr val="bg1">
                    <a:lumMod val="10000"/>
                  </a:schemeClr>
                </a:solidFill>
                <a:latin typeface="メイリオ" panose="020B0604030504040204" pitchFamily="50" charset="-128"/>
                <a:ea typeface="メイリオ" panose="020B0604030504040204" pitchFamily="50" charset="-128"/>
              </a:rPr>
              <a:t>トレードオフ</a:t>
            </a:r>
            <a:endParaRPr lang="en-US" altLang="ja-JP" sz="2000" b="1" dirty="0">
              <a:solidFill>
                <a:schemeClr val="bg1">
                  <a:lumMod val="10000"/>
                </a:schemeClr>
              </a:solidFill>
              <a:latin typeface="メイリオ" panose="020B0604030504040204" pitchFamily="50" charset="-128"/>
              <a:ea typeface="メイリオ" panose="020B0604030504040204" pitchFamily="50" charset="-128"/>
            </a:endParaRPr>
          </a:p>
        </p:txBody>
      </p:sp>
      <p:sp>
        <p:nvSpPr>
          <p:cNvPr id="22" name="テキスト ボックス 21">
            <a:extLst>
              <a:ext uri="{FF2B5EF4-FFF2-40B4-BE49-F238E27FC236}">
                <a16:creationId xmlns:a16="http://schemas.microsoft.com/office/drawing/2014/main" id="{29AF8A67-09D1-3530-532A-8EE45478A6EE}"/>
              </a:ext>
            </a:extLst>
          </p:cNvPr>
          <p:cNvSpPr txBox="1"/>
          <p:nvPr/>
        </p:nvSpPr>
        <p:spPr>
          <a:xfrm>
            <a:off x="8285421" y="5867004"/>
            <a:ext cx="1998017" cy="461665"/>
          </a:xfrm>
          <a:prstGeom prst="rect">
            <a:avLst/>
          </a:prstGeom>
          <a:noFill/>
          <a:ln>
            <a:noFill/>
          </a:ln>
        </p:spPr>
        <p:txBody>
          <a:bodyPr wrap="square" rtlCol="0">
            <a:spAutoFit/>
          </a:bodyPr>
          <a:lstStyle/>
          <a:p>
            <a:r>
              <a:rPr lang="ja-JP" altLang="en-US" sz="2400" b="1" dirty="0">
                <a:solidFill>
                  <a:schemeClr val="bg1">
                    <a:lumMod val="10000"/>
                  </a:schemeClr>
                </a:solidFill>
                <a:latin typeface="メイリオ" panose="020B0604030504040204" pitchFamily="50" charset="-128"/>
                <a:ea typeface="メイリオ" panose="020B0604030504040204" pitchFamily="50" charset="-128"/>
              </a:rPr>
              <a:t>電気代抑制</a:t>
            </a:r>
            <a:endParaRPr lang="en-US" altLang="ja-JP" sz="2400" b="1" dirty="0">
              <a:solidFill>
                <a:schemeClr val="bg1">
                  <a:lumMod val="10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4820758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9C841C22-AD46-527E-086E-40A53835DC52}"/>
              </a:ext>
            </a:extLst>
          </p:cNvPr>
          <p:cNvSpPr>
            <a:spLocks noGrp="1"/>
          </p:cNvSpPr>
          <p:nvPr>
            <p:ph type="body" sz="quarter" idx="11"/>
          </p:nvPr>
        </p:nvSpPr>
        <p:spPr/>
        <p:txBody>
          <a:bodyPr/>
          <a:lstStyle/>
          <a:p>
            <a:r>
              <a:rPr kumimoji="1" lang="ja-JP" altLang="en-US" dirty="0"/>
              <a:t>制御手法</a:t>
            </a:r>
            <a:r>
              <a:rPr kumimoji="1" lang="en-US" altLang="ja-JP" dirty="0"/>
              <a:t>-</a:t>
            </a:r>
            <a:r>
              <a:rPr kumimoji="1" lang="ja-JP" altLang="en-US" dirty="0"/>
              <a:t>モデル予測制御（</a:t>
            </a:r>
            <a:r>
              <a:rPr kumimoji="1" lang="en-US" altLang="ja-JP" dirty="0"/>
              <a:t>MPC</a:t>
            </a:r>
            <a:r>
              <a:rPr kumimoji="1" lang="ja-JP" altLang="en-US" dirty="0"/>
              <a:t>）</a:t>
            </a:r>
            <a:endParaRPr kumimoji="1" lang="en-US" altLang="ja-JP" dirty="0"/>
          </a:p>
        </p:txBody>
      </p:sp>
      <p:sp>
        <p:nvSpPr>
          <p:cNvPr id="5" name="テキスト ボックス 4">
            <a:extLst>
              <a:ext uri="{FF2B5EF4-FFF2-40B4-BE49-F238E27FC236}">
                <a16:creationId xmlns:a16="http://schemas.microsoft.com/office/drawing/2014/main" id="{5F8B8404-1197-9EA4-820F-92FEBAC62221}"/>
              </a:ext>
            </a:extLst>
          </p:cNvPr>
          <p:cNvSpPr txBox="1"/>
          <p:nvPr/>
        </p:nvSpPr>
        <p:spPr>
          <a:xfrm>
            <a:off x="230015" y="858773"/>
            <a:ext cx="11731970" cy="461665"/>
          </a:xfrm>
          <a:prstGeom prst="rect">
            <a:avLst/>
          </a:prstGeom>
          <a:noFill/>
          <a:ln>
            <a:noFill/>
          </a:ln>
        </p:spPr>
        <p:txBody>
          <a:bodyPr wrap="square" rtlCol="0">
            <a:spAutoFit/>
          </a:bodyPr>
          <a:lstStyle/>
          <a:p>
            <a:r>
              <a:rPr lang="ja-JP" altLang="en-US" sz="2400" dirty="0">
                <a:solidFill>
                  <a:schemeClr val="bg1">
                    <a:lumMod val="10000"/>
                  </a:schemeClr>
                </a:solidFill>
                <a:latin typeface="メイリオ" panose="020B0604030504040204" pitchFamily="50" charset="-128"/>
                <a:ea typeface="メイリオ" panose="020B0604030504040204" pitchFamily="50" charset="-128"/>
              </a:rPr>
              <a:t>目的：予測区間内での</a:t>
            </a:r>
            <a:r>
              <a:rPr lang="ja-JP" altLang="en-US" sz="2400" u="sng" dirty="0">
                <a:solidFill>
                  <a:schemeClr val="bg1">
                    <a:lumMod val="10000"/>
                  </a:schemeClr>
                </a:solidFill>
                <a:latin typeface="メイリオ" panose="020B0604030504040204" pitchFamily="50" charset="-128"/>
                <a:ea typeface="メイリオ" panose="020B0604030504040204" pitchFamily="50" charset="-128"/>
              </a:rPr>
              <a:t>電気代を削減しつつ成長量を最大化</a:t>
            </a:r>
            <a:r>
              <a:rPr lang="ja-JP" altLang="en-US" sz="2400" dirty="0">
                <a:solidFill>
                  <a:schemeClr val="bg1">
                    <a:lumMod val="10000"/>
                  </a:schemeClr>
                </a:solidFill>
                <a:latin typeface="メイリオ" panose="020B0604030504040204" pitchFamily="50" charset="-128"/>
                <a:ea typeface="メイリオ" panose="020B0604030504040204" pitchFamily="50" charset="-128"/>
              </a:rPr>
              <a:t>させる制御入力の決定</a:t>
            </a:r>
            <a:endParaRPr lang="en-US" altLang="ja-JP" sz="2400" dirty="0">
              <a:solidFill>
                <a:schemeClr val="bg1">
                  <a:lumMod val="10000"/>
                </a:schemeClr>
              </a:solidFill>
              <a:latin typeface="メイリオ" panose="020B0604030504040204" pitchFamily="50" charset="-128"/>
              <a:ea typeface="メイリオ" panose="020B0604030504040204" pitchFamily="50" charset="-128"/>
            </a:endParaRPr>
          </a:p>
        </p:txBody>
      </p:sp>
      <p:sp>
        <p:nvSpPr>
          <p:cNvPr id="2" name="テキスト ボックス 1">
            <a:extLst>
              <a:ext uri="{FF2B5EF4-FFF2-40B4-BE49-F238E27FC236}">
                <a16:creationId xmlns:a16="http://schemas.microsoft.com/office/drawing/2014/main" id="{2E2A4CC9-AD4A-ACBC-D871-E3B72FAF4368}"/>
              </a:ext>
            </a:extLst>
          </p:cNvPr>
          <p:cNvSpPr txBox="1"/>
          <p:nvPr/>
        </p:nvSpPr>
        <p:spPr>
          <a:xfrm>
            <a:off x="210574" y="1626571"/>
            <a:ext cx="1800369" cy="492443"/>
          </a:xfrm>
          <a:prstGeom prst="rect">
            <a:avLst/>
          </a:prstGeom>
          <a:noFill/>
          <a:ln>
            <a:noFill/>
          </a:ln>
        </p:spPr>
        <p:txBody>
          <a:bodyPr wrap="square" rtlCol="0">
            <a:spAutoFit/>
          </a:bodyPr>
          <a:lstStyle/>
          <a:p>
            <a:r>
              <a:rPr lang="ja-JP" altLang="en-US" sz="2600" b="1" u="sng" dirty="0">
                <a:solidFill>
                  <a:schemeClr val="bg1">
                    <a:lumMod val="10000"/>
                  </a:schemeClr>
                </a:solidFill>
                <a:latin typeface="メイリオ" panose="020B0604030504040204" pitchFamily="50" charset="-128"/>
                <a:ea typeface="メイリオ" panose="020B0604030504040204" pitchFamily="50" charset="-128"/>
              </a:rPr>
              <a:t>評価関数</a:t>
            </a:r>
            <a:endParaRPr lang="en-US" altLang="ja-JP" sz="2600" b="1" dirty="0">
              <a:solidFill>
                <a:schemeClr val="bg1">
                  <a:lumMod val="10000"/>
                </a:schemeClr>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983B1F8C-8B94-BA70-B85D-28F24B018F7E}"/>
              </a:ext>
            </a:extLst>
          </p:cNvPr>
          <p:cNvSpPr txBox="1"/>
          <p:nvPr/>
        </p:nvSpPr>
        <p:spPr>
          <a:xfrm>
            <a:off x="210574" y="4984478"/>
            <a:ext cx="1624878" cy="492443"/>
          </a:xfrm>
          <a:prstGeom prst="rect">
            <a:avLst/>
          </a:prstGeom>
          <a:noFill/>
          <a:ln>
            <a:noFill/>
          </a:ln>
        </p:spPr>
        <p:txBody>
          <a:bodyPr wrap="square" rtlCol="0">
            <a:spAutoFit/>
          </a:bodyPr>
          <a:lstStyle/>
          <a:p>
            <a:r>
              <a:rPr lang="ja-JP" altLang="en-US" sz="2600" b="1" u="sng" dirty="0">
                <a:solidFill>
                  <a:schemeClr val="bg1">
                    <a:lumMod val="10000"/>
                  </a:schemeClr>
                </a:solidFill>
                <a:latin typeface="メイリオ" panose="020B0604030504040204" pitchFamily="50" charset="-128"/>
                <a:ea typeface="メイリオ" panose="020B0604030504040204" pitchFamily="50" charset="-128"/>
              </a:rPr>
              <a:t>制約条件</a:t>
            </a:r>
            <a:endParaRPr lang="en-US" altLang="ja-JP" sz="2600" b="1" dirty="0">
              <a:solidFill>
                <a:schemeClr val="bg1">
                  <a:lumMod val="10000"/>
                </a:schemeClr>
              </a:solidFill>
              <a:latin typeface="メイリオ" panose="020B0604030504040204" pitchFamily="50" charset="-128"/>
              <a:ea typeface="メイリオ" panose="020B0604030504040204" pitchFamily="50" charset="-128"/>
            </a:endParaRPr>
          </a:p>
        </p:txBody>
      </p:sp>
      <p:pic>
        <p:nvPicPr>
          <p:cNvPr id="16" name="図 15" descr="テキスト が含まれている画像&#10;&#10;AI 生成コンテンツは誤りを含む可能性があります。">
            <a:extLst>
              <a:ext uri="{FF2B5EF4-FFF2-40B4-BE49-F238E27FC236}">
                <a16:creationId xmlns:a16="http://schemas.microsoft.com/office/drawing/2014/main" id="{19EBECC2-9EBE-100C-C7A6-47FBB95AF162}"/>
              </a:ext>
            </a:extLst>
          </p:cNvPr>
          <p:cNvPicPr>
            <a:picLocks noChangeAspect="1"/>
          </p:cNvPicPr>
          <p:nvPr/>
        </p:nvPicPr>
        <p:blipFill>
          <a:blip r:embed="rId3"/>
          <a:stretch>
            <a:fillRect/>
          </a:stretch>
        </p:blipFill>
        <p:spPr>
          <a:xfrm>
            <a:off x="2010943" y="1636153"/>
            <a:ext cx="1231278" cy="540470"/>
          </a:xfrm>
          <a:prstGeom prst="rect">
            <a:avLst/>
          </a:prstGeom>
        </p:spPr>
      </p:pic>
      <p:pic>
        <p:nvPicPr>
          <p:cNvPr id="11" name="図 10" descr="テキスト, 手紙&#10;&#10;AI 生成コンテンツは誤りを含む可能性があります。">
            <a:extLst>
              <a:ext uri="{FF2B5EF4-FFF2-40B4-BE49-F238E27FC236}">
                <a16:creationId xmlns:a16="http://schemas.microsoft.com/office/drawing/2014/main" id="{2283A6FA-E774-7341-97BB-ACB67131F83D}"/>
              </a:ext>
            </a:extLst>
          </p:cNvPr>
          <p:cNvPicPr>
            <a:picLocks noChangeAspect="1"/>
          </p:cNvPicPr>
          <p:nvPr/>
        </p:nvPicPr>
        <p:blipFill>
          <a:blip r:embed="rId4"/>
          <a:stretch>
            <a:fillRect/>
          </a:stretch>
        </p:blipFill>
        <p:spPr>
          <a:xfrm>
            <a:off x="1859183" y="4871639"/>
            <a:ext cx="3604101" cy="1813906"/>
          </a:xfrm>
          <a:prstGeom prst="rect">
            <a:avLst/>
          </a:prstGeom>
        </p:spPr>
      </p:pic>
      <p:sp>
        <p:nvSpPr>
          <p:cNvPr id="25" name="左中かっこ 24">
            <a:extLst>
              <a:ext uri="{FF2B5EF4-FFF2-40B4-BE49-F238E27FC236}">
                <a16:creationId xmlns:a16="http://schemas.microsoft.com/office/drawing/2014/main" id="{DEBEC979-29F6-8054-85DD-7DA1EF3B1122}"/>
              </a:ext>
            </a:extLst>
          </p:cNvPr>
          <p:cNvSpPr/>
          <p:nvPr/>
        </p:nvSpPr>
        <p:spPr>
          <a:xfrm>
            <a:off x="712949" y="2616224"/>
            <a:ext cx="528916" cy="1948007"/>
          </a:xfrm>
          <a:prstGeom prst="leftBrace">
            <a:avLst/>
          </a:prstGeom>
          <a:ln w="38100">
            <a:solidFill>
              <a:schemeClr val="bg1">
                <a:lumMod val="1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pic>
        <p:nvPicPr>
          <p:cNvPr id="27" name="図 26" descr="ダイアグラム&#10;&#10;AI 生成コンテンツは誤りを含む可能性があります。">
            <a:extLst>
              <a:ext uri="{FF2B5EF4-FFF2-40B4-BE49-F238E27FC236}">
                <a16:creationId xmlns:a16="http://schemas.microsoft.com/office/drawing/2014/main" id="{CC45C80A-CAB3-36D3-E903-43FB2CBDFB12}"/>
              </a:ext>
            </a:extLst>
          </p:cNvPr>
          <p:cNvPicPr>
            <a:picLocks noChangeAspect="1"/>
          </p:cNvPicPr>
          <p:nvPr/>
        </p:nvPicPr>
        <p:blipFill>
          <a:blip r:embed="rId5"/>
          <a:stretch>
            <a:fillRect/>
          </a:stretch>
        </p:blipFill>
        <p:spPr>
          <a:xfrm>
            <a:off x="5680330" y="5107565"/>
            <a:ext cx="2825712" cy="1327464"/>
          </a:xfrm>
          <a:prstGeom prst="rect">
            <a:avLst/>
          </a:prstGeom>
        </p:spPr>
      </p:pic>
      <p:pic>
        <p:nvPicPr>
          <p:cNvPr id="29" name="図 28" descr="ダイアグラム&#10;&#10;AI 生成コンテンツは誤りを含む可能性があります。">
            <a:extLst>
              <a:ext uri="{FF2B5EF4-FFF2-40B4-BE49-F238E27FC236}">
                <a16:creationId xmlns:a16="http://schemas.microsoft.com/office/drawing/2014/main" id="{08D971DA-9B7B-4449-145C-7AB63DAC777D}"/>
              </a:ext>
            </a:extLst>
          </p:cNvPr>
          <p:cNvPicPr>
            <a:picLocks noChangeAspect="1"/>
          </p:cNvPicPr>
          <p:nvPr/>
        </p:nvPicPr>
        <p:blipFill>
          <a:blip r:embed="rId6"/>
          <a:stretch>
            <a:fillRect/>
          </a:stretch>
        </p:blipFill>
        <p:spPr>
          <a:xfrm>
            <a:off x="8723089" y="5230699"/>
            <a:ext cx="3219455" cy="1129337"/>
          </a:xfrm>
          <a:prstGeom prst="rect">
            <a:avLst/>
          </a:prstGeom>
        </p:spPr>
      </p:pic>
      <p:sp>
        <p:nvSpPr>
          <p:cNvPr id="30" name="テキスト ボックス 29">
            <a:extLst>
              <a:ext uri="{FF2B5EF4-FFF2-40B4-BE49-F238E27FC236}">
                <a16:creationId xmlns:a16="http://schemas.microsoft.com/office/drawing/2014/main" id="{F7E5167F-D50E-4E4A-EFF6-FE63F1C08FAF}"/>
              </a:ext>
            </a:extLst>
          </p:cNvPr>
          <p:cNvSpPr txBox="1"/>
          <p:nvPr/>
        </p:nvSpPr>
        <p:spPr>
          <a:xfrm>
            <a:off x="7490688" y="2549592"/>
            <a:ext cx="3029192" cy="492443"/>
          </a:xfrm>
          <a:prstGeom prst="rect">
            <a:avLst/>
          </a:prstGeom>
          <a:noFill/>
          <a:ln>
            <a:noFill/>
          </a:ln>
        </p:spPr>
        <p:txBody>
          <a:bodyPr wrap="square" rtlCol="0">
            <a:spAutoFit/>
          </a:bodyPr>
          <a:lstStyle/>
          <a:p>
            <a:r>
              <a:rPr lang="ja-JP" altLang="en-US" sz="2600" dirty="0">
                <a:solidFill>
                  <a:srgbClr val="FF0000"/>
                </a:solidFill>
                <a:latin typeface="メイリオ" panose="020B0604030504040204" pitchFamily="50" charset="-128"/>
                <a:ea typeface="メイリオ" panose="020B0604030504040204" pitchFamily="50" charset="-128"/>
              </a:rPr>
              <a:t>成長速度の最大化</a:t>
            </a:r>
            <a:endParaRPr lang="en-US" altLang="ja-JP" sz="2600" dirty="0">
              <a:solidFill>
                <a:srgbClr val="FF0000"/>
              </a:solidFill>
              <a:latin typeface="メイリオ" panose="020B0604030504040204" pitchFamily="50" charset="-128"/>
              <a:ea typeface="メイリオ" panose="020B0604030504040204" pitchFamily="50" charset="-128"/>
            </a:endParaRPr>
          </a:p>
        </p:txBody>
      </p:sp>
      <p:sp>
        <p:nvSpPr>
          <p:cNvPr id="31" name="テキスト ボックス 30">
            <a:extLst>
              <a:ext uri="{FF2B5EF4-FFF2-40B4-BE49-F238E27FC236}">
                <a16:creationId xmlns:a16="http://schemas.microsoft.com/office/drawing/2014/main" id="{ABA680DC-11FF-1598-AD3C-5126F4065D58}"/>
              </a:ext>
            </a:extLst>
          </p:cNvPr>
          <p:cNvSpPr txBox="1"/>
          <p:nvPr/>
        </p:nvSpPr>
        <p:spPr>
          <a:xfrm>
            <a:off x="7490688" y="3039291"/>
            <a:ext cx="3324923" cy="492443"/>
          </a:xfrm>
          <a:prstGeom prst="rect">
            <a:avLst/>
          </a:prstGeom>
          <a:noFill/>
          <a:ln>
            <a:noFill/>
          </a:ln>
        </p:spPr>
        <p:txBody>
          <a:bodyPr wrap="square" rtlCol="0">
            <a:spAutoFit/>
          </a:bodyPr>
          <a:lstStyle/>
          <a:p>
            <a:r>
              <a:rPr lang="ja-JP" altLang="en-US" sz="2600" dirty="0">
                <a:solidFill>
                  <a:srgbClr val="0070C0"/>
                </a:solidFill>
                <a:latin typeface="メイリオ" panose="020B0604030504040204" pitchFamily="50" charset="-128"/>
                <a:ea typeface="メイリオ" panose="020B0604030504040204" pitchFamily="50" charset="-128"/>
              </a:rPr>
              <a:t>電気代消費抑制</a:t>
            </a:r>
            <a:endParaRPr lang="en-US" altLang="ja-JP" sz="2600" dirty="0">
              <a:solidFill>
                <a:srgbClr val="0070C0"/>
              </a:solidFill>
              <a:latin typeface="メイリオ" panose="020B0604030504040204" pitchFamily="50" charset="-128"/>
              <a:ea typeface="メイリオ" panose="020B0604030504040204" pitchFamily="50" charset="-128"/>
            </a:endParaRPr>
          </a:p>
        </p:txBody>
      </p:sp>
      <p:sp>
        <p:nvSpPr>
          <p:cNvPr id="32" name="テキスト ボックス 31">
            <a:extLst>
              <a:ext uri="{FF2B5EF4-FFF2-40B4-BE49-F238E27FC236}">
                <a16:creationId xmlns:a16="http://schemas.microsoft.com/office/drawing/2014/main" id="{936493AD-5655-1087-7D5A-00A9F39AEDEA}"/>
              </a:ext>
            </a:extLst>
          </p:cNvPr>
          <p:cNvSpPr txBox="1"/>
          <p:nvPr/>
        </p:nvSpPr>
        <p:spPr>
          <a:xfrm>
            <a:off x="7490688" y="3558111"/>
            <a:ext cx="2299687" cy="492443"/>
          </a:xfrm>
          <a:prstGeom prst="rect">
            <a:avLst/>
          </a:prstGeom>
          <a:noFill/>
          <a:ln>
            <a:noFill/>
          </a:ln>
        </p:spPr>
        <p:txBody>
          <a:bodyPr wrap="square" rtlCol="0">
            <a:spAutoFit/>
          </a:bodyPr>
          <a:lstStyle/>
          <a:p>
            <a:r>
              <a:rPr lang="ja-JP" altLang="en-US" sz="2600" dirty="0">
                <a:solidFill>
                  <a:srgbClr val="0070C0"/>
                </a:solidFill>
                <a:latin typeface="メイリオ" panose="020B0604030504040204" pitchFamily="50" charset="-128"/>
                <a:ea typeface="メイリオ" panose="020B0604030504040204" pitchFamily="50" charset="-128"/>
              </a:rPr>
              <a:t>入力変化抑制</a:t>
            </a:r>
            <a:endParaRPr lang="en-US" altLang="ja-JP" sz="2600" dirty="0">
              <a:solidFill>
                <a:srgbClr val="0070C0"/>
              </a:solidFill>
              <a:latin typeface="メイリオ" panose="020B0604030504040204" pitchFamily="50" charset="-128"/>
              <a:ea typeface="メイリオ" panose="020B0604030504040204" pitchFamily="50" charset="-128"/>
            </a:endParaRPr>
          </a:p>
        </p:txBody>
      </p:sp>
      <p:sp>
        <p:nvSpPr>
          <p:cNvPr id="33" name="テキスト ボックス 32">
            <a:extLst>
              <a:ext uri="{FF2B5EF4-FFF2-40B4-BE49-F238E27FC236}">
                <a16:creationId xmlns:a16="http://schemas.microsoft.com/office/drawing/2014/main" id="{C8C5BCAB-CB5C-0D83-A8BB-620CE3560586}"/>
              </a:ext>
            </a:extLst>
          </p:cNvPr>
          <p:cNvSpPr txBox="1"/>
          <p:nvPr/>
        </p:nvSpPr>
        <p:spPr>
          <a:xfrm>
            <a:off x="7490688" y="4061535"/>
            <a:ext cx="1856511" cy="492443"/>
          </a:xfrm>
          <a:prstGeom prst="rect">
            <a:avLst/>
          </a:prstGeom>
          <a:noFill/>
          <a:ln>
            <a:noFill/>
          </a:ln>
        </p:spPr>
        <p:txBody>
          <a:bodyPr wrap="square" rtlCol="0">
            <a:spAutoFit/>
          </a:bodyPr>
          <a:lstStyle/>
          <a:p>
            <a:r>
              <a:rPr lang="ja-JP" altLang="en-US" sz="2600" dirty="0">
                <a:solidFill>
                  <a:schemeClr val="bg1">
                    <a:lumMod val="10000"/>
                  </a:schemeClr>
                </a:solidFill>
                <a:latin typeface="メイリオ" panose="020B0604030504040204" pitchFamily="50" charset="-128"/>
                <a:ea typeface="メイリオ" panose="020B0604030504040204" pitchFamily="50" charset="-128"/>
              </a:rPr>
              <a:t>終端コスト</a:t>
            </a:r>
            <a:endParaRPr lang="en-US" altLang="ja-JP" sz="2600" dirty="0">
              <a:solidFill>
                <a:schemeClr val="bg1">
                  <a:lumMod val="10000"/>
                </a:schemeClr>
              </a:solidFill>
              <a:latin typeface="メイリオ" panose="020B0604030504040204" pitchFamily="50" charset="-128"/>
              <a:ea typeface="メイリオ" panose="020B0604030504040204" pitchFamily="50" charset="-128"/>
            </a:endParaRPr>
          </a:p>
        </p:txBody>
      </p:sp>
      <p:pic>
        <p:nvPicPr>
          <p:cNvPr id="8" name="図 7" descr="ロゴ&#10;&#10;AI 生成コンテンツは誤りを含む可能性があります。">
            <a:extLst>
              <a:ext uri="{FF2B5EF4-FFF2-40B4-BE49-F238E27FC236}">
                <a16:creationId xmlns:a16="http://schemas.microsoft.com/office/drawing/2014/main" id="{F5094BCC-A10B-0956-D809-EE4AA7CEB452}"/>
              </a:ext>
            </a:extLst>
          </p:cNvPr>
          <p:cNvPicPr>
            <a:picLocks noChangeAspect="1"/>
          </p:cNvPicPr>
          <p:nvPr/>
        </p:nvPicPr>
        <p:blipFill>
          <a:blip r:embed="rId7"/>
          <a:stretch>
            <a:fillRect/>
          </a:stretch>
        </p:blipFill>
        <p:spPr>
          <a:xfrm>
            <a:off x="3242221" y="1396485"/>
            <a:ext cx="8405091" cy="1059054"/>
          </a:xfrm>
          <a:prstGeom prst="rect">
            <a:avLst/>
          </a:prstGeom>
        </p:spPr>
      </p:pic>
      <p:pic>
        <p:nvPicPr>
          <p:cNvPr id="10" name="図 9">
            <a:extLst>
              <a:ext uri="{FF2B5EF4-FFF2-40B4-BE49-F238E27FC236}">
                <a16:creationId xmlns:a16="http://schemas.microsoft.com/office/drawing/2014/main" id="{12B5FC32-FE2E-5155-5155-FCEFE1E6935F}"/>
              </a:ext>
            </a:extLst>
          </p:cNvPr>
          <p:cNvPicPr>
            <a:picLocks noChangeAspect="1"/>
          </p:cNvPicPr>
          <p:nvPr/>
        </p:nvPicPr>
        <p:blipFill>
          <a:blip r:embed="rId8"/>
          <a:stretch>
            <a:fillRect/>
          </a:stretch>
        </p:blipFill>
        <p:spPr>
          <a:xfrm>
            <a:off x="1531276" y="2531586"/>
            <a:ext cx="4952651" cy="528367"/>
          </a:xfrm>
          <a:prstGeom prst="rect">
            <a:avLst/>
          </a:prstGeom>
        </p:spPr>
      </p:pic>
      <p:pic>
        <p:nvPicPr>
          <p:cNvPr id="14" name="図 13" descr="テキスト&#10;&#10;AI 生成コンテンツは誤りを含む可能性があります。">
            <a:extLst>
              <a:ext uri="{FF2B5EF4-FFF2-40B4-BE49-F238E27FC236}">
                <a16:creationId xmlns:a16="http://schemas.microsoft.com/office/drawing/2014/main" id="{A05026A9-0F61-282C-E85B-F860F3E5916B}"/>
              </a:ext>
            </a:extLst>
          </p:cNvPr>
          <p:cNvPicPr>
            <a:picLocks noChangeAspect="1"/>
          </p:cNvPicPr>
          <p:nvPr/>
        </p:nvPicPr>
        <p:blipFill>
          <a:blip r:embed="rId9"/>
          <a:stretch>
            <a:fillRect/>
          </a:stretch>
        </p:blipFill>
        <p:spPr>
          <a:xfrm>
            <a:off x="1485910" y="3031911"/>
            <a:ext cx="1858469" cy="497249"/>
          </a:xfrm>
          <a:prstGeom prst="rect">
            <a:avLst/>
          </a:prstGeom>
        </p:spPr>
      </p:pic>
      <p:pic>
        <p:nvPicPr>
          <p:cNvPr id="17" name="図 16" descr="グラフ が含まれている画像&#10;&#10;AI 生成コンテンツは誤りを含む可能性があります。">
            <a:extLst>
              <a:ext uri="{FF2B5EF4-FFF2-40B4-BE49-F238E27FC236}">
                <a16:creationId xmlns:a16="http://schemas.microsoft.com/office/drawing/2014/main" id="{5DA9CB0A-8B6E-DF1A-54BF-05113BCA9E2F}"/>
              </a:ext>
            </a:extLst>
          </p:cNvPr>
          <p:cNvPicPr>
            <a:picLocks noChangeAspect="1"/>
          </p:cNvPicPr>
          <p:nvPr/>
        </p:nvPicPr>
        <p:blipFill>
          <a:blip r:embed="rId10"/>
          <a:stretch>
            <a:fillRect/>
          </a:stretch>
        </p:blipFill>
        <p:spPr>
          <a:xfrm>
            <a:off x="3344379" y="3039860"/>
            <a:ext cx="3604101" cy="481349"/>
          </a:xfrm>
          <a:prstGeom prst="rect">
            <a:avLst/>
          </a:prstGeom>
        </p:spPr>
      </p:pic>
      <p:pic>
        <p:nvPicPr>
          <p:cNvPr id="20" name="図 19" descr="アイコン が含まれている画像&#10;&#10;AI 生成コンテンツは誤りを含む可能性があります。">
            <a:extLst>
              <a:ext uri="{FF2B5EF4-FFF2-40B4-BE49-F238E27FC236}">
                <a16:creationId xmlns:a16="http://schemas.microsoft.com/office/drawing/2014/main" id="{B6C84B0D-134C-FE21-5CC3-2F16E6343496}"/>
              </a:ext>
            </a:extLst>
          </p:cNvPr>
          <p:cNvPicPr>
            <a:picLocks noChangeAspect="1"/>
          </p:cNvPicPr>
          <p:nvPr/>
        </p:nvPicPr>
        <p:blipFill>
          <a:blip r:embed="rId11"/>
          <a:stretch>
            <a:fillRect/>
          </a:stretch>
        </p:blipFill>
        <p:spPr>
          <a:xfrm>
            <a:off x="1485910" y="3527053"/>
            <a:ext cx="2052906" cy="482658"/>
          </a:xfrm>
          <a:prstGeom prst="rect">
            <a:avLst/>
          </a:prstGeom>
        </p:spPr>
      </p:pic>
      <p:pic>
        <p:nvPicPr>
          <p:cNvPr id="24" name="図 23" descr="テキスト&#10;&#10;AI 生成コンテンツは誤りを含む可能性があります。">
            <a:extLst>
              <a:ext uri="{FF2B5EF4-FFF2-40B4-BE49-F238E27FC236}">
                <a16:creationId xmlns:a16="http://schemas.microsoft.com/office/drawing/2014/main" id="{28AD6278-3D2C-471A-341D-B653C7139741}"/>
              </a:ext>
            </a:extLst>
          </p:cNvPr>
          <p:cNvPicPr>
            <a:picLocks noChangeAspect="1"/>
          </p:cNvPicPr>
          <p:nvPr/>
        </p:nvPicPr>
        <p:blipFill>
          <a:blip r:embed="rId12"/>
          <a:stretch>
            <a:fillRect/>
          </a:stretch>
        </p:blipFill>
        <p:spPr>
          <a:xfrm>
            <a:off x="3543759" y="3540811"/>
            <a:ext cx="1919525" cy="481349"/>
          </a:xfrm>
          <a:prstGeom prst="rect">
            <a:avLst/>
          </a:prstGeom>
        </p:spPr>
      </p:pic>
      <p:pic>
        <p:nvPicPr>
          <p:cNvPr id="28" name="図 27">
            <a:extLst>
              <a:ext uri="{FF2B5EF4-FFF2-40B4-BE49-F238E27FC236}">
                <a16:creationId xmlns:a16="http://schemas.microsoft.com/office/drawing/2014/main" id="{68966052-224A-34F9-7083-4988E094260D}"/>
              </a:ext>
            </a:extLst>
          </p:cNvPr>
          <p:cNvPicPr>
            <a:picLocks noChangeAspect="1"/>
          </p:cNvPicPr>
          <p:nvPr/>
        </p:nvPicPr>
        <p:blipFill>
          <a:blip r:embed="rId13"/>
          <a:stretch>
            <a:fillRect/>
          </a:stretch>
        </p:blipFill>
        <p:spPr>
          <a:xfrm>
            <a:off x="1485910" y="4023469"/>
            <a:ext cx="5788567" cy="487333"/>
          </a:xfrm>
          <a:prstGeom prst="rect">
            <a:avLst/>
          </a:prstGeom>
        </p:spPr>
      </p:pic>
    </p:spTree>
    <p:extLst>
      <p:ext uri="{BB962C8B-B14F-4D97-AF65-F5344CB8AC3E}">
        <p14:creationId xmlns:p14="http://schemas.microsoft.com/office/powerpoint/2010/main" val="23835162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四角形: 角を丸くする 10">
            <a:extLst>
              <a:ext uri="{FF2B5EF4-FFF2-40B4-BE49-F238E27FC236}">
                <a16:creationId xmlns:a16="http://schemas.microsoft.com/office/drawing/2014/main" id="{69327903-A2D4-4128-ECB6-B3BC8AD337E0}"/>
              </a:ext>
            </a:extLst>
          </p:cNvPr>
          <p:cNvSpPr/>
          <p:nvPr/>
        </p:nvSpPr>
        <p:spPr>
          <a:xfrm>
            <a:off x="346949" y="2386379"/>
            <a:ext cx="6336424" cy="2857238"/>
          </a:xfrm>
          <a:prstGeom prst="round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プレースホルダー 2">
            <a:extLst>
              <a:ext uri="{FF2B5EF4-FFF2-40B4-BE49-F238E27FC236}">
                <a16:creationId xmlns:a16="http://schemas.microsoft.com/office/drawing/2014/main" id="{B075922A-E00C-6690-1E70-D8C892ACB11C}"/>
              </a:ext>
            </a:extLst>
          </p:cNvPr>
          <p:cNvSpPr>
            <a:spLocks noGrp="1"/>
          </p:cNvSpPr>
          <p:nvPr>
            <p:ph type="body" sz="quarter" idx="11"/>
          </p:nvPr>
        </p:nvSpPr>
        <p:spPr/>
        <p:txBody>
          <a:bodyPr/>
          <a:lstStyle/>
          <a:p>
            <a:r>
              <a:rPr lang="ja-JP" altLang="en-US" dirty="0"/>
              <a:t>数値実験</a:t>
            </a:r>
            <a:r>
              <a:rPr kumimoji="1" lang="ja-JP" altLang="en-US" dirty="0"/>
              <a:t>（設定）</a:t>
            </a:r>
          </a:p>
        </p:txBody>
      </p:sp>
      <p:sp>
        <p:nvSpPr>
          <p:cNvPr id="5" name="テキスト ボックス 4">
            <a:extLst>
              <a:ext uri="{FF2B5EF4-FFF2-40B4-BE49-F238E27FC236}">
                <a16:creationId xmlns:a16="http://schemas.microsoft.com/office/drawing/2014/main" id="{B8EE74A3-0ED9-481C-12EC-C08069B016F1}"/>
              </a:ext>
            </a:extLst>
          </p:cNvPr>
          <p:cNvSpPr txBox="1"/>
          <p:nvPr/>
        </p:nvSpPr>
        <p:spPr>
          <a:xfrm>
            <a:off x="597575" y="1566473"/>
            <a:ext cx="1153051" cy="461665"/>
          </a:xfrm>
          <a:prstGeom prst="rect">
            <a:avLst/>
          </a:prstGeom>
          <a:noFill/>
          <a:ln>
            <a:noFill/>
          </a:ln>
        </p:spPr>
        <p:txBody>
          <a:bodyPr wrap="square" rtlCol="0">
            <a:spAutoFit/>
          </a:bodyPr>
          <a:lstStyle/>
          <a:p>
            <a:r>
              <a:rPr lang="ja-JP" altLang="en-US" sz="2400" dirty="0">
                <a:solidFill>
                  <a:schemeClr val="bg1">
                    <a:lumMod val="10000"/>
                  </a:schemeClr>
                </a:solidFill>
                <a:latin typeface="メイリオ" panose="020B0604030504040204" pitchFamily="50" charset="-128"/>
                <a:ea typeface="メイリオ" panose="020B0604030504040204" pitchFamily="50" charset="-128"/>
              </a:rPr>
              <a:t>電気代</a:t>
            </a:r>
            <a:endParaRPr lang="en-US" altLang="ja-JP" sz="2400" dirty="0">
              <a:solidFill>
                <a:schemeClr val="bg1">
                  <a:lumMod val="10000"/>
                </a:schemeClr>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2D6A4770-BD76-4EA6-6983-32BB5D6D9071}"/>
              </a:ext>
            </a:extLst>
          </p:cNvPr>
          <p:cNvSpPr txBox="1"/>
          <p:nvPr/>
        </p:nvSpPr>
        <p:spPr>
          <a:xfrm>
            <a:off x="2401454" y="1566473"/>
            <a:ext cx="1794978" cy="461665"/>
          </a:xfrm>
          <a:prstGeom prst="rect">
            <a:avLst/>
          </a:prstGeom>
          <a:noFill/>
          <a:ln>
            <a:noFill/>
          </a:ln>
        </p:spPr>
        <p:txBody>
          <a:bodyPr wrap="square" rtlCol="0">
            <a:spAutoFit/>
          </a:bodyPr>
          <a:lstStyle/>
          <a:p>
            <a:r>
              <a:rPr lang="en-US" altLang="ja-JP" sz="2400" dirty="0">
                <a:solidFill>
                  <a:schemeClr val="bg1">
                    <a:lumMod val="10000"/>
                  </a:schemeClr>
                </a:solidFill>
                <a:latin typeface="メイリオ" panose="020B0604030504040204" pitchFamily="50" charset="-128"/>
                <a:ea typeface="メイリオ" panose="020B0604030504040204" pitchFamily="50" charset="-128"/>
              </a:rPr>
              <a:t>17</a:t>
            </a:r>
            <a:r>
              <a:rPr lang="ja-JP" altLang="en-US" sz="2400" dirty="0">
                <a:solidFill>
                  <a:schemeClr val="bg1">
                    <a:lumMod val="10000"/>
                  </a:schemeClr>
                </a:solidFill>
                <a:latin typeface="メイリオ" panose="020B0604030504040204" pitchFamily="50" charset="-128"/>
                <a:ea typeface="メイリオ" panose="020B0604030504040204" pitchFamily="50" charset="-128"/>
              </a:rPr>
              <a:t>円</a:t>
            </a:r>
            <a:r>
              <a:rPr lang="en-US" altLang="ja-JP" sz="2400" dirty="0">
                <a:solidFill>
                  <a:schemeClr val="bg1">
                    <a:lumMod val="10000"/>
                  </a:schemeClr>
                </a:solidFill>
                <a:latin typeface="メイリオ" panose="020B0604030504040204" pitchFamily="50" charset="-128"/>
                <a:ea typeface="メイリオ" panose="020B0604030504040204" pitchFamily="50" charset="-128"/>
              </a:rPr>
              <a:t>/kWh</a:t>
            </a:r>
          </a:p>
        </p:txBody>
      </p:sp>
      <p:sp>
        <p:nvSpPr>
          <p:cNvPr id="7" name="テキスト ボックス 6">
            <a:extLst>
              <a:ext uri="{FF2B5EF4-FFF2-40B4-BE49-F238E27FC236}">
                <a16:creationId xmlns:a16="http://schemas.microsoft.com/office/drawing/2014/main" id="{BAD13C04-2BA1-E658-4B71-38ABBDAA9209}"/>
              </a:ext>
            </a:extLst>
          </p:cNvPr>
          <p:cNvSpPr txBox="1"/>
          <p:nvPr/>
        </p:nvSpPr>
        <p:spPr>
          <a:xfrm>
            <a:off x="736121" y="864367"/>
            <a:ext cx="1005271" cy="461665"/>
          </a:xfrm>
          <a:prstGeom prst="rect">
            <a:avLst/>
          </a:prstGeom>
          <a:noFill/>
          <a:ln>
            <a:noFill/>
          </a:ln>
        </p:spPr>
        <p:txBody>
          <a:bodyPr wrap="square" rtlCol="0">
            <a:spAutoFit/>
          </a:bodyPr>
          <a:lstStyle/>
          <a:p>
            <a:r>
              <a:rPr lang="ja-JP" altLang="en-US" sz="2400" dirty="0">
                <a:solidFill>
                  <a:schemeClr val="bg1">
                    <a:lumMod val="10000"/>
                  </a:schemeClr>
                </a:solidFill>
                <a:latin typeface="メイリオ" panose="020B0604030504040204" pitchFamily="50" charset="-128"/>
                <a:ea typeface="メイリオ" panose="020B0604030504040204" pitchFamily="50" charset="-128"/>
              </a:rPr>
              <a:t>規模</a:t>
            </a:r>
            <a:endParaRPr lang="en-US" altLang="ja-JP" sz="2400" dirty="0">
              <a:solidFill>
                <a:schemeClr val="bg1">
                  <a:lumMod val="10000"/>
                </a:schemeClr>
              </a:solidFill>
              <a:latin typeface="メイリオ" panose="020B0604030504040204" pitchFamily="50" charset="-128"/>
              <a:ea typeface="メイリオ" panose="020B0604030504040204" pitchFamily="50" charset="-128"/>
            </a:endParaRPr>
          </a:p>
        </p:txBody>
      </p:sp>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F2A41EEF-4CCA-B184-D8E0-FF5E8F99EEE9}"/>
                  </a:ext>
                </a:extLst>
              </p:cNvPr>
              <p:cNvSpPr txBox="1"/>
              <p:nvPr/>
            </p:nvSpPr>
            <p:spPr>
              <a:xfrm>
                <a:off x="2401454" y="838300"/>
                <a:ext cx="1717963" cy="830997"/>
              </a:xfrm>
              <a:prstGeom prst="rect">
                <a:avLst/>
              </a:prstGeom>
              <a:noFill/>
              <a:ln>
                <a:noFill/>
              </a:ln>
            </p:spPr>
            <p:txBody>
              <a:bodyPr wrap="square" rtlCol="0">
                <a:spAutoFit/>
              </a:bodyPr>
              <a:lstStyle/>
              <a:p>
                <a:r>
                  <a:rPr lang="ja-JP" altLang="en-US" sz="2400" dirty="0">
                    <a:solidFill>
                      <a:schemeClr val="bg1">
                        <a:lumMod val="10000"/>
                      </a:schemeClr>
                    </a:solidFill>
                    <a:latin typeface="メイリオ" panose="020B0604030504040204" pitchFamily="50" charset="-128"/>
                    <a:ea typeface="メイリオ" panose="020B0604030504040204" pitchFamily="50" charset="-128"/>
                  </a:rPr>
                  <a:t>体積</a:t>
                </a:r>
                <a14:m>
                  <m:oMath xmlns:m="http://schemas.openxmlformats.org/officeDocument/2006/math">
                    <m:r>
                      <a:rPr lang="en-US" altLang="ja-JP" sz="2400" b="0" i="1" smtClean="0">
                        <a:solidFill>
                          <a:schemeClr val="bg1">
                            <a:lumMod val="10000"/>
                          </a:schemeClr>
                        </a:solidFill>
                        <a:latin typeface="Cambria Math" panose="02040503050406030204" pitchFamily="18" charset="0"/>
                        <a:ea typeface="メイリオ" panose="020B0604030504040204" pitchFamily="50" charset="-128"/>
                      </a:rPr>
                      <m:t>980</m:t>
                    </m:r>
                    <m:sSup>
                      <m:sSupPr>
                        <m:ctrlPr>
                          <a:rPr lang="en-US" altLang="ja-JP" sz="2400" b="0" i="1" smtClean="0">
                            <a:solidFill>
                              <a:schemeClr val="bg1">
                                <a:lumMod val="10000"/>
                              </a:schemeClr>
                            </a:solidFill>
                            <a:latin typeface="Cambria Math" panose="02040503050406030204" pitchFamily="18" charset="0"/>
                            <a:ea typeface="メイリオ" panose="020B0604030504040204" pitchFamily="50" charset="-128"/>
                          </a:rPr>
                        </m:ctrlPr>
                      </m:sSupPr>
                      <m:e>
                        <m:r>
                          <m:rPr>
                            <m:sty m:val="p"/>
                          </m:rPr>
                          <a:rPr lang="en-US" altLang="ja-JP" sz="2400" b="0" i="0" smtClean="0">
                            <a:solidFill>
                              <a:schemeClr val="bg1">
                                <a:lumMod val="10000"/>
                              </a:schemeClr>
                            </a:solidFill>
                            <a:latin typeface="Cambria Math" panose="02040503050406030204" pitchFamily="18" charset="0"/>
                            <a:ea typeface="メイリオ" panose="020B0604030504040204" pitchFamily="50" charset="-128"/>
                          </a:rPr>
                          <m:t>m</m:t>
                        </m:r>
                      </m:e>
                      <m:sup>
                        <m:r>
                          <a:rPr lang="en-US" altLang="ja-JP" sz="2400" b="0" i="0" smtClean="0">
                            <a:solidFill>
                              <a:schemeClr val="bg1">
                                <a:lumMod val="10000"/>
                              </a:schemeClr>
                            </a:solidFill>
                            <a:latin typeface="Cambria Math" panose="02040503050406030204" pitchFamily="18" charset="0"/>
                            <a:ea typeface="メイリオ" panose="020B0604030504040204" pitchFamily="50" charset="-128"/>
                          </a:rPr>
                          <m:t>3</m:t>
                        </m:r>
                      </m:sup>
                    </m:sSup>
                  </m:oMath>
                </a14:m>
                <a:endParaRPr lang="en-US" altLang="ja-JP" sz="2400" b="0" dirty="0">
                  <a:solidFill>
                    <a:schemeClr val="bg1">
                      <a:lumMod val="10000"/>
                    </a:schemeClr>
                  </a:solidFill>
                  <a:latin typeface="メイリオ" panose="020B0604030504040204" pitchFamily="50" charset="-128"/>
                  <a:ea typeface="メイリオ" panose="020B0604030504040204" pitchFamily="50" charset="-128"/>
                </a:endParaRPr>
              </a:p>
              <a:p>
                <a:endParaRPr lang="en-US" altLang="ja-JP" sz="2400" dirty="0">
                  <a:solidFill>
                    <a:schemeClr val="bg1">
                      <a:lumMod val="10000"/>
                    </a:schemeClr>
                  </a:solidFill>
                  <a:latin typeface="メイリオ" panose="020B0604030504040204" pitchFamily="50" charset="-128"/>
                  <a:ea typeface="メイリオ" panose="020B0604030504040204" pitchFamily="50" charset="-128"/>
                </a:endParaRPr>
              </a:p>
            </p:txBody>
          </p:sp>
        </mc:Choice>
        <mc:Fallback xmlns="">
          <p:sp>
            <p:nvSpPr>
              <p:cNvPr id="14" name="テキスト ボックス 13">
                <a:extLst>
                  <a:ext uri="{FF2B5EF4-FFF2-40B4-BE49-F238E27FC236}">
                    <a16:creationId xmlns:a16="http://schemas.microsoft.com/office/drawing/2014/main" id="{F2A41EEF-4CCA-B184-D8E0-FF5E8F99EEE9}"/>
                  </a:ext>
                </a:extLst>
              </p:cNvPr>
              <p:cNvSpPr txBox="1">
                <a:spLocks noRot="1" noChangeAspect="1" noMove="1" noResize="1" noEditPoints="1" noAdjustHandles="1" noChangeArrowheads="1" noChangeShapeType="1" noTextEdit="1"/>
              </p:cNvSpPr>
              <p:nvPr/>
            </p:nvSpPr>
            <p:spPr>
              <a:xfrm>
                <a:off x="2401454" y="838300"/>
                <a:ext cx="1717963" cy="830997"/>
              </a:xfrm>
              <a:prstGeom prst="rect">
                <a:avLst/>
              </a:prstGeom>
              <a:blipFill>
                <a:blip r:embed="rId3"/>
                <a:stretch>
                  <a:fillRect l="-5674" t="-4412"/>
                </a:stretch>
              </a:blipFill>
              <a:ln>
                <a:no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1D00940F-6E07-31CF-BB19-28C387A96565}"/>
                  </a:ext>
                </a:extLst>
              </p:cNvPr>
              <p:cNvSpPr txBox="1"/>
              <p:nvPr/>
            </p:nvSpPr>
            <p:spPr>
              <a:xfrm>
                <a:off x="3980874" y="849207"/>
                <a:ext cx="2595417" cy="461665"/>
              </a:xfrm>
              <a:prstGeom prst="rect">
                <a:avLst/>
              </a:prstGeom>
              <a:noFill/>
              <a:ln>
                <a:noFill/>
              </a:ln>
            </p:spPr>
            <p:txBody>
              <a:bodyPr wrap="square" rtlCol="0">
                <a:spAutoFit/>
              </a:bodyPr>
              <a:lstStyle/>
              <a:p>
                <a:r>
                  <a:rPr lang="en-US" altLang="ja-JP" sz="2400" dirty="0">
                    <a:solidFill>
                      <a:schemeClr val="bg1">
                        <a:lumMod val="10000"/>
                      </a:schemeClr>
                    </a:solidFill>
                    <a:latin typeface="メイリオ" panose="020B0604030504040204" pitchFamily="50" charset="-128"/>
                    <a:ea typeface="メイリオ" panose="020B0604030504040204" pitchFamily="50" charset="-128"/>
                  </a:rPr>
                  <a:t>/ </a:t>
                </a:r>
                <a:r>
                  <a:rPr lang="ja-JP" altLang="en-US" sz="2400" dirty="0">
                    <a:solidFill>
                      <a:schemeClr val="bg1">
                        <a:lumMod val="10000"/>
                      </a:schemeClr>
                    </a:solidFill>
                    <a:latin typeface="メイリオ" panose="020B0604030504040204" pitchFamily="50" charset="-128"/>
                    <a:ea typeface="メイリオ" panose="020B0604030504040204" pitchFamily="50" charset="-128"/>
                  </a:rPr>
                  <a:t>栽培面積</a:t>
                </a:r>
                <a14:m>
                  <m:oMath xmlns:m="http://schemas.openxmlformats.org/officeDocument/2006/math">
                    <m:r>
                      <a:rPr lang="en-US" altLang="ja-JP" sz="2400" i="1" dirty="0" smtClean="0">
                        <a:solidFill>
                          <a:schemeClr val="bg1">
                            <a:lumMod val="10000"/>
                          </a:schemeClr>
                        </a:solidFill>
                        <a:latin typeface="Cambria Math" panose="02040503050406030204" pitchFamily="18" charset="0"/>
                        <a:ea typeface="メイリオ" panose="020B0604030504040204" pitchFamily="50" charset="-128"/>
                      </a:rPr>
                      <m:t>2</m:t>
                    </m:r>
                    <m:r>
                      <a:rPr lang="en-US" altLang="ja-JP" sz="2400" b="0" i="1" dirty="0" smtClean="0">
                        <a:solidFill>
                          <a:schemeClr val="bg1">
                            <a:lumMod val="10000"/>
                          </a:schemeClr>
                        </a:solidFill>
                        <a:latin typeface="Cambria Math" panose="02040503050406030204" pitchFamily="18" charset="0"/>
                        <a:ea typeface="メイリオ" panose="020B0604030504040204" pitchFamily="50" charset="-128"/>
                      </a:rPr>
                      <m:t>00</m:t>
                    </m:r>
                    <m:sSup>
                      <m:sSupPr>
                        <m:ctrlPr>
                          <a:rPr lang="en-US" altLang="ja-JP" sz="2400" i="1">
                            <a:solidFill>
                              <a:schemeClr val="bg1">
                                <a:lumMod val="10000"/>
                              </a:schemeClr>
                            </a:solidFill>
                            <a:latin typeface="Cambria Math" panose="02040503050406030204" pitchFamily="18" charset="0"/>
                            <a:ea typeface="メイリオ" panose="020B0604030504040204" pitchFamily="50" charset="-128"/>
                          </a:rPr>
                        </m:ctrlPr>
                      </m:sSupPr>
                      <m:e>
                        <m:r>
                          <m:rPr>
                            <m:sty m:val="p"/>
                          </m:rPr>
                          <a:rPr lang="en-US" altLang="ja-JP" sz="2400">
                            <a:solidFill>
                              <a:schemeClr val="bg1">
                                <a:lumMod val="10000"/>
                              </a:schemeClr>
                            </a:solidFill>
                            <a:latin typeface="Cambria Math" panose="02040503050406030204" pitchFamily="18" charset="0"/>
                            <a:ea typeface="メイリオ" panose="020B0604030504040204" pitchFamily="50" charset="-128"/>
                          </a:rPr>
                          <m:t>m</m:t>
                        </m:r>
                      </m:e>
                      <m:sup>
                        <m:r>
                          <a:rPr lang="en-US" altLang="ja-JP" sz="2400" b="0" i="0" smtClean="0">
                            <a:solidFill>
                              <a:schemeClr val="bg1">
                                <a:lumMod val="10000"/>
                              </a:schemeClr>
                            </a:solidFill>
                            <a:latin typeface="Cambria Math" panose="02040503050406030204" pitchFamily="18" charset="0"/>
                            <a:ea typeface="メイリオ" panose="020B0604030504040204" pitchFamily="50" charset="-128"/>
                          </a:rPr>
                          <m:t>2</m:t>
                        </m:r>
                      </m:sup>
                    </m:sSup>
                  </m:oMath>
                </a14:m>
                <a:endParaRPr lang="en-US" altLang="ja-JP" sz="2400" dirty="0">
                  <a:solidFill>
                    <a:schemeClr val="bg1">
                      <a:lumMod val="10000"/>
                    </a:schemeClr>
                  </a:solidFill>
                  <a:latin typeface="メイリオ" panose="020B0604030504040204" pitchFamily="50" charset="-128"/>
                  <a:ea typeface="メイリオ" panose="020B0604030504040204" pitchFamily="50" charset="-128"/>
                </a:endParaRPr>
              </a:p>
            </p:txBody>
          </p:sp>
        </mc:Choice>
        <mc:Fallback xmlns="">
          <p:sp>
            <p:nvSpPr>
              <p:cNvPr id="19" name="テキスト ボックス 18">
                <a:extLst>
                  <a:ext uri="{FF2B5EF4-FFF2-40B4-BE49-F238E27FC236}">
                    <a16:creationId xmlns:a16="http://schemas.microsoft.com/office/drawing/2014/main" id="{1D00940F-6E07-31CF-BB19-28C387A96565}"/>
                  </a:ext>
                </a:extLst>
              </p:cNvPr>
              <p:cNvSpPr txBox="1">
                <a:spLocks noRot="1" noChangeAspect="1" noMove="1" noResize="1" noEditPoints="1" noAdjustHandles="1" noChangeArrowheads="1" noChangeShapeType="1" noTextEdit="1"/>
              </p:cNvSpPr>
              <p:nvPr/>
            </p:nvSpPr>
            <p:spPr>
              <a:xfrm>
                <a:off x="3980874" y="849207"/>
                <a:ext cx="2595417" cy="461665"/>
              </a:xfrm>
              <a:prstGeom prst="rect">
                <a:avLst/>
              </a:prstGeom>
              <a:blipFill>
                <a:blip r:embed="rId4"/>
                <a:stretch>
                  <a:fillRect l="-3521" t="-7895" b="-31579"/>
                </a:stretch>
              </a:blipFill>
              <a:ln>
                <a:noFill/>
              </a:ln>
            </p:spPr>
            <p:txBody>
              <a:bodyPr/>
              <a:lstStyle/>
              <a:p>
                <a:r>
                  <a:rPr lang="ja-JP" altLang="en-US">
                    <a:noFill/>
                  </a:rPr>
                  <a:t> </a:t>
                </a:r>
              </a:p>
            </p:txBody>
          </p:sp>
        </mc:Fallback>
      </mc:AlternateContent>
      <p:sp>
        <p:nvSpPr>
          <p:cNvPr id="25" name="テキスト ボックス 24">
            <a:extLst>
              <a:ext uri="{FF2B5EF4-FFF2-40B4-BE49-F238E27FC236}">
                <a16:creationId xmlns:a16="http://schemas.microsoft.com/office/drawing/2014/main" id="{6CE84F77-D50B-29FE-5BB9-8C9AD3F4109A}"/>
              </a:ext>
            </a:extLst>
          </p:cNvPr>
          <p:cNvSpPr txBox="1"/>
          <p:nvPr/>
        </p:nvSpPr>
        <p:spPr>
          <a:xfrm>
            <a:off x="3916219" y="1575196"/>
            <a:ext cx="6111417" cy="461665"/>
          </a:xfrm>
          <a:prstGeom prst="rect">
            <a:avLst/>
          </a:prstGeom>
          <a:noFill/>
          <a:ln>
            <a:noFill/>
          </a:ln>
        </p:spPr>
        <p:txBody>
          <a:bodyPr wrap="square" rtlCol="0">
            <a:spAutoFit/>
          </a:bodyPr>
          <a:lstStyle/>
          <a:p>
            <a:r>
              <a:rPr lang="ja-JP" altLang="en-US" sz="2400" dirty="0">
                <a:solidFill>
                  <a:schemeClr val="bg1">
                    <a:lumMod val="10000"/>
                  </a:schemeClr>
                </a:solidFill>
                <a:latin typeface="メイリオ" panose="020B0604030504040204" pitchFamily="50" charset="-128"/>
                <a:ea typeface="メイリオ" panose="020B0604030504040204" pitchFamily="50" charset="-128"/>
              </a:rPr>
              <a:t>（東京電力で高圧での契約の場合を参照）</a:t>
            </a:r>
            <a:endParaRPr lang="en-US" altLang="ja-JP" sz="2400" dirty="0">
              <a:solidFill>
                <a:schemeClr val="bg1">
                  <a:lumMod val="10000"/>
                </a:schemeClr>
              </a:solidFill>
              <a:latin typeface="メイリオ" panose="020B0604030504040204" pitchFamily="50" charset="-128"/>
              <a:ea typeface="メイリオ" panose="020B0604030504040204" pitchFamily="50" charset="-128"/>
            </a:endParaRPr>
          </a:p>
        </p:txBody>
      </p:sp>
      <p:sp>
        <p:nvSpPr>
          <p:cNvPr id="4" name="テキスト ボックス 3">
            <a:extLst>
              <a:ext uri="{FF2B5EF4-FFF2-40B4-BE49-F238E27FC236}">
                <a16:creationId xmlns:a16="http://schemas.microsoft.com/office/drawing/2014/main" id="{9DDD5EDB-5B99-66D2-987D-A552000C322D}"/>
              </a:ext>
            </a:extLst>
          </p:cNvPr>
          <p:cNvSpPr txBox="1"/>
          <p:nvPr/>
        </p:nvSpPr>
        <p:spPr>
          <a:xfrm>
            <a:off x="6173762" y="866712"/>
            <a:ext cx="4276436" cy="461665"/>
          </a:xfrm>
          <a:prstGeom prst="rect">
            <a:avLst/>
          </a:prstGeom>
          <a:noFill/>
          <a:ln>
            <a:noFill/>
          </a:ln>
        </p:spPr>
        <p:txBody>
          <a:bodyPr wrap="square" rtlCol="0">
            <a:spAutoFit/>
          </a:bodyPr>
          <a:lstStyle/>
          <a:p>
            <a:r>
              <a:rPr lang="ja-JP" altLang="en-US" sz="2400" dirty="0">
                <a:solidFill>
                  <a:schemeClr val="bg1">
                    <a:lumMod val="10000"/>
                  </a:schemeClr>
                </a:solidFill>
                <a:latin typeface="メイリオ" panose="020B0604030504040204" pitchFamily="50" charset="-128"/>
                <a:ea typeface="メイリオ" panose="020B0604030504040204" pitchFamily="50" charset="-128"/>
              </a:rPr>
              <a:t>（学校の</a:t>
            </a:r>
            <a:r>
              <a:rPr lang="en-US" altLang="ja-JP" sz="2400" dirty="0">
                <a:solidFill>
                  <a:schemeClr val="bg1">
                    <a:lumMod val="10000"/>
                  </a:schemeClr>
                </a:solidFill>
                <a:latin typeface="メイリオ" panose="020B0604030504040204" pitchFamily="50" charset="-128"/>
                <a:ea typeface="メイリオ" panose="020B0604030504040204" pitchFamily="50" charset="-128"/>
              </a:rPr>
              <a:t>25m</a:t>
            </a:r>
            <a:r>
              <a:rPr lang="ja-JP" altLang="en-US" sz="2400" dirty="0">
                <a:solidFill>
                  <a:schemeClr val="bg1">
                    <a:lumMod val="10000"/>
                  </a:schemeClr>
                </a:solidFill>
                <a:latin typeface="メイリオ" panose="020B0604030504040204" pitchFamily="50" charset="-128"/>
                <a:ea typeface="メイリオ" panose="020B0604030504040204" pitchFamily="50" charset="-128"/>
              </a:rPr>
              <a:t>プールくらい）</a:t>
            </a:r>
            <a:endParaRPr lang="en-US" altLang="ja-JP" sz="2400" dirty="0">
              <a:solidFill>
                <a:schemeClr val="bg1">
                  <a:lumMod val="10000"/>
                </a:schemeClr>
              </a:solidFill>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EC868C92-21E1-4A62-E0C7-39A05B38E2D8}"/>
              </a:ext>
            </a:extLst>
          </p:cNvPr>
          <p:cNvSpPr txBox="1"/>
          <p:nvPr/>
        </p:nvSpPr>
        <p:spPr>
          <a:xfrm>
            <a:off x="1152842" y="5861128"/>
            <a:ext cx="10041839" cy="461665"/>
          </a:xfrm>
          <a:prstGeom prst="rect">
            <a:avLst/>
          </a:prstGeom>
          <a:noFill/>
          <a:ln>
            <a:noFill/>
          </a:ln>
        </p:spPr>
        <p:txBody>
          <a:bodyPr wrap="square" rtlCol="0">
            <a:spAutoFit/>
          </a:bodyPr>
          <a:lstStyle/>
          <a:p>
            <a:r>
              <a:rPr lang="ja-JP" altLang="en-US" sz="2400" u="sng" dirty="0">
                <a:solidFill>
                  <a:schemeClr val="bg1">
                    <a:lumMod val="10000"/>
                  </a:schemeClr>
                </a:solidFill>
                <a:latin typeface="メイリオ" panose="020B0604030504040204" pitchFamily="50" charset="-128"/>
                <a:ea typeface="メイリオ" panose="020B0604030504040204" pitchFamily="50" charset="-128"/>
              </a:rPr>
              <a:t>外気の平均気温が平均</a:t>
            </a:r>
            <a:r>
              <a:rPr lang="en-US" altLang="ja-JP" sz="2400" u="sng" dirty="0">
                <a:solidFill>
                  <a:schemeClr val="bg1">
                    <a:lumMod val="10000"/>
                  </a:schemeClr>
                </a:solidFill>
                <a:latin typeface="メイリオ" panose="020B0604030504040204" pitchFamily="50" charset="-128"/>
                <a:ea typeface="メイリオ" panose="020B0604030504040204" pitchFamily="50" charset="-128"/>
              </a:rPr>
              <a:t>15</a:t>
            </a:r>
            <a:r>
              <a:rPr lang="ja-JP" altLang="en-US" sz="2400" u="sng" dirty="0">
                <a:solidFill>
                  <a:schemeClr val="bg1">
                    <a:lumMod val="10000"/>
                  </a:schemeClr>
                </a:solidFill>
                <a:latin typeface="メイリオ" panose="020B0604030504040204" pitchFamily="50" charset="-128"/>
                <a:ea typeface="メイリオ" panose="020B0604030504040204" pitchFamily="50" charset="-128"/>
              </a:rPr>
              <a:t>℃、平均</a:t>
            </a:r>
            <a:r>
              <a:rPr lang="en-US" altLang="ja-JP" sz="2400" u="sng" dirty="0">
                <a:solidFill>
                  <a:schemeClr val="bg1">
                    <a:lumMod val="10000"/>
                  </a:schemeClr>
                </a:solidFill>
                <a:latin typeface="メイリオ" panose="020B0604030504040204" pitchFamily="50" charset="-128"/>
                <a:ea typeface="メイリオ" panose="020B0604030504040204" pitchFamily="50" charset="-128"/>
              </a:rPr>
              <a:t>6</a:t>
            </a:r>
            <a:r>
              <a:rPr lang="ja-JP" altLang="en-US" sz="2400" u="sng" dirty="0">
                <a:solidFill>
                  <a:schemeClr val="bg1">
                    <a:lumMod val="10000"/>
                  </a:schemeClr>
                </a:solidFill>
                <a:latin typeface="メイリオ" panose="020B0604030504040204" pitchFamily="50" charset="-128"/>
                <a:ea typeface="メイリオ" panose="020B0604030504040204" pitchFamily="50" charset="-128"/>
              </a:rPr>
              <a:t>℃、平均</a:t>
            </a:r>
            <a:r>
              <a:rPr lang="en-US" altLang="ja-JP" sz="2400" u="sng" dirty="0">
                <a:solidFill>
                  <a:schemeClr val="bg1">
                    <a:lumMod val="10000"/>
                  </a:schemeClr>
                </a:solidFill>
                <a:latin typeface="メイリオ" panose="020B0604030504040204" pitchFamily="50" charset="-128"/>
                <a:ea typeface="メイリオ" panose="020B0604030504040204" pitchFamily="50" charset="-128"/>
              </a:rPr>
              <a:t>30</a:t>
            </a:r>
            <a:r>
              <a:rPr lang="ja-JP" altLang="en-US" sz="2400" u="sng" dirty="0">
                <a:solidFill>
                  <a:schemeClr val="bg1">
                    <a:lumMod val="10000"/>
                  </a:schemeClr>
                </a:solidFill>
                <a:latin typeface="メイリオ" panose="020B0604030504040204" pitchFamily="50" charset="-128"/>
                <a:ea typeface="メイリオ" panose="020B0604030504040204" pitchFamily="50" charset="-128"/>
              </a:rPr>
              <a:t>℃それぞれの場合で実験</a:t>
            </a:r>
            <a:endParaRPr lang="en-US" altLang="ja-JP" sz="2400" u="sng" dirty="0">
              <a:solidFill>
                <a:schemeClr val="bg1">
                  <a:lumMod val="10000"/>
                </a:schemeClr>
              </a:solidFill>
              <a:latin typeface="メイリオ" panose="020B0604030504040204" pitchFamily="50" charset="-128"/>
              <a:ea typeface="メイリオ" panose="020B0604030504040204" pitchFamily="50" charset="-128"/>
            </a:endParaRPr>
          </a:p>
        </p:txBody>
      </p:sp>
      <mc:AlternateContent xmlns:mc="http://schemas.openxmlformats.org/markup-compatibility/2006" xmlns:a14="http://schemas.microsoft.com/office/drawing/2010/main">
        <mc:Choice Requires="a14">
          <p:sp>
            <p:nvSpPr>
              <p:cNvPr id="2" name="テキスト ボックス 1">
                <a:extLst>
                  <a:ext uri="{FF2B5EF4-FFF2-40B4-BE49-F238E27FC236}">
                    <a16:creationId xmlns:a16="http://schemas.microsoft.com/office/drawing/2014/main" id="{ECDEC33C-9B7D-3BCD-BD18-E0BAE79C4B51}"/>
                  </a:ext>
                </a:extLst>
              </p:cNvPr>
              <p:cNvSpPr txBox="1"/>
              <p:nvPr/>
            </p:nvSpPr>
            <p:spPr>
              <a:xfrm>
                <a:off x="559513" y="2643633"/>
                <a:ext cx="2907232" cy="461665"/>
              </a:xfrm>
              <a:prstGeom prst="rect">
                <a:avLst/>
              </a:prstGeom>
              <a:noFill/>
              <a:ln>
                <a:noFill/>
              </a:ln>
            </p:spPr>
            <p:txBody>
              <a:bodyPr wrap="square" rtlCol="0">
                <a:spAutoFit/>
              </a:bodyPr>
              <a:lstStyle/>
              <a:p>
                <a:r>
                  <a:rPr lang="ja-JP" altLang="en-US" sz="2400" dirty="0">
                    <a:solidFill>
                      <a:schemeClr val="bg1">
                        <a:lumMod val="10000"/>
                      </a:schemeClr>
                    </a:solidFill>
                    <a:latin typeface="メイリオ" panose="020B0604030504040204" pitchFamily="50" charset="-128"/>
                    <a:ea typeface="メイリオ" panose="020B0604030504040204" pitchFamily="50" charset="-128"/>
                  </a:rPr>
                  <a:t>制御周期 </a:t>
                </a:r>
                <a14:m>
                  <m:oMath xmlns:m="http://schemas.openxmlformats.org/officeDocument/2006/math">
                    <m:r>
                      <a:rPr lang="en-US" altLang="ja-JP" sz="2400" i="1" smtClean="0">
                        <a:solidFill>
                          <a:schemeClr val="bg1">
                            <a:lumMod val="10000"/>
                          </a:schemeClr>
                        </a:solidFill>
                        <a:latin typeface="Cambria Math" panose="02040503050406030204" pitchFamily="18" charset="0"/>
                        <a:ea typeface="Cambria Math" panose="02040503050406030204" pitchFamily="18" charset="0"/>
                      </a:rPr>
                      <m:t>∆</m:t>
                    </m:r>
                    <m:r>
                      <a:rPr lang="en-US" altLang="ja-JP" sz="2400" b="0" i="1" smtClean="0">
                        <a:solidFill>
                          <a:schemeClr val="bg1">
                            <a:lumMod val="10000"/>
                          </a:schemeClr>
                        </a:solidFill>
                        <a:latin typeface="Cambria Math" panose="02040503050406030204" pitchFamily="18" charset="0"/>
                        <a:ea typeface="Cambria Math" panose="02040503050406030204" pitchFamily="18" charset="0"/>
                      </a:rPr>
                      <m:t>𝑡</m:t>
                    </m:r>
                    <m:r>
                      <a:rPr lang="en-US" altLang="ja-JP" sz="2400" b="0" i="1" smtClean="0">
                        <a:solidFill>
                          <a:schemeClr val="bg1">
                            <a:lumMod val="10000"/>
                          </a:schemeClr>
                        </a:solidFill>
                        <a:latin typeface="Cambria Math" panose="02040503050406030204" pitchFamily="18" charset="0"/>
                        <a:ea typeface="Cambria Math" panose="02040503050406030204" pitchFamily="18" charset="0"/>
                      </a:rPr>
                      <m:t>=600</m:t>
                    </m:r>
                    <m:r>
                      <m:rPr>
                        <m:sty m:val="p"/>
                      </m:rPr>
                      <a:rPr lang="en-US" altLang="ja-JP" sz="2400" b="0" i="0" smtClean="0">
                        <a:solidFill>
                          <a:schemeClr val="bg1">
                            <a:lumMod val="10000"/>
                          </a:schemeClr>
                        </a:solidFill>
                        <a:latin typeface="Cambria Math" panose="02040503050406030204" pitchFamily="18" charset="0"/>
                        <a:ea typeface="Cambria Math" panose="02040503050406030204" pitchFamily="18" charset="0"/>
                      </a:rPr>
                      <m:t>s</m:t>
                    </m:r>
                  </m:oMath>
                </a14:m>
                <a:endParaRPr lang="en-US" altLang="ja-JP" sz="2400" dirty="0">
                  <a:solidFill>
                    <a:schemeClr val="bg1">
                      <a:lumMod val="10000"/>
                    </a:schemeClr>
                  </a:solidFill>
                  <a:latin typeface="メイリオ" panose="020B0604030504040204" pitchFamily="50" charset="-128"/>
                  <a:ea typeface="メイリオ" panose="020B0604030504040204" pitchFamily="50" charset="-128"/>
                </a:endParaRPr>
              </a:p>
            </p:txBody>
          </p:sp>
        </mc:Choice>
        <mc:Fallback xmlns="">
          <p:sp>
            <p:nvSpPr>
              <p:cNvPr id="2" name="テキスト ボックス 1">
                <a:extLst>
                  <a:ext uri="{FF2B5EF4-FFF2-40B4-BE49-F238E27FC236}">
                    <a16:creationId xmlns:a16="http://schemas.microsoft.com/office/drawing/2014/main" id="{ECDEC33C-9B7D-3BCD-BD18-E0BAE79C4B51}"/>
                  </a:ext>
                </a:extLst>
              </p:cNvPr>
              <p:cNvSpPr txBox="1">
                <a:spLocks noRot="1" noChangeAspect="1" noMove="1" noResize="1" noEditPoints="1" noAdjustHandles="1" noChangeArrowheads="1" noChangeShapeType="1" noTextEdit="1"/>
              </p:cNvSpPr>
              <p:nvPr/>
            </p:nvSpPr>
            <p:spPr>
              <a:xfrm>
                <a:off x="559513" y="2643633"/>
                <a:ext cx="2907232" cy="461665"/>
              </a:xfrm>
              <a:prstGeom prst="rect">
                <a:avLst/>
              </a:prstGeom>
              <a:blipFill>
                <a:blip r:embed="rId5"/>
                <a:stretch>
                  <a:fillRect l="-3354" t="-8000" b="-33333"/>
                </a:stretch>
              </a:blipFill>
              <a:ln>
                <a:no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650E6AF8-1A1C-EF5F-1ECE-9C894A2ACE10}"/>
                  </a:ext>
                </a:extLst>
              </p:cNvPr>
              <p:cNvSpPr txBox="1"/>
              <p:nvPr/>
            </p:nvSpPr>
            <p:spPr>
              <a:xfrm>
                <a:off x="3384671" y="2654372"/>
                <a:ext cx="3380776" cy="461665"/>
              </a:xfrm>
              <a:prstGeom prst="rect">
                <a:avLst/>
              </a:prstGeom>
              <a:noFill/>
              <a:ln>
                <a:noFill/>
              </a:ln>
            </p:spPr>
            <p:txBody>
              <a:bodyPr wrap="square" rtlCol="0">
                <a:spAutoFit/>
              </a:bodyPr>
              <a:lstStyle/>
              <a:p>
                <a:r>
                  <a:rPr lang="ja-JP" altLang="en-US" sz="2400" dirty="0">
                    <a:solidFill>
                      <a:schemeClr val="bg1">
                        <a:lumMod val="10000"/>
                      </a:schemeClr>
                    </a:solidFill>
                    <a:latin typeface="メイリオ" panose="020B0604030504040204" pitchFamily="50" charset="-128"/>
                    <a:ea typeface="メイリオ" panose="020B0604030504040204" pitchFamily="50" charset="-128"/>
                  </a:rPr>
                  <a:t>予測ホライズン</a:t>
                </a:r>
                <a14:m>
                  <m:oMath xmlns:m="http://schemas.openxmlformats.org/officeDocument/2006/math">
                    <m:r>
                      <m:rPr>
                        <m:sty m:val="p"/>
                      </m:rPr>
                      <a:rPr lang="en-US" altLang="ja-JP" sz="2400" i="1" dirty="0" smtClean="0">
                        <a:solidFill>
                          <a:schemeClr val="bg1">
                            <a:lumMod val="10000"/>
                          </a:schemeClr>
                        </a:solidFill>
                        <a:latin typeface="Cambria Math" panose="02040503050406030204" pitchFamily="18" charset="0"/>
                        <a:ea typeface="Cambria Math" panose="02040503050406030204" pitchFamily="18" charset="0"/>
                      </a:rPr>
                      <m:t>T</m:t>
                    </m:r>
                    <m:r>
                      <a:rPr lang="en-US" altLang="ja-JP" sz="2400" i="1">
                        <a:solidFill>
                          <a:schemeClr val="bg1">
                            <a:lumMod val="10000"/>
                          </a:schemeClr>
                        </a:solidFill>
                        <a:latin typeface="Cambria Math" panose="02040503050406030204" pitchFamily="18" charset="0"/>
                        <a:ea typeface="Cambria Math" panose="02040503050406030204" pitchFamily="18" charset="0"/>
                      </a:rPr>
                      <m:t>=</m:t>
                    </m:r>
                    <m:r>
                      <a:rPr lang="en-US" altLang="ja-JP" sz="2400" i="0">
                        <a:solidFill>
                          <a:schemeClr val="bg1">
                            <a:lumMod val="10000"/>
                          </a:schemeClr>
                        </a:solidFill>
                        <a:latin typeface="Cambria Math" panose="02040503050406030204" pitchFamily="18" charset="0"/>
                        <a:ea typeface="Cambria Math" panose="02040503050406030204" pitchFamily="18" charset="0"/>
                      </a:rPr>
                      <m:t>6</m:t>
                    </m:r>
                    <m:r>
                      <m:rPr>
                        <m:sty m:val="p"/>
                      </m:rPr>
                      <a:rPr lang="en-US" altLang="ja-JP" sz="2400" b="0" i="0" smtClean="0">
                        <a:solidFill>
                          <a:schemeClr val="bg1">
                            <a:lumMod val="10000"/>
                          </a:schemeClr>
                        </a:solidFill>
                        <a:latin typeface="Cambria Math" panose="02040503050406030204" pitchFamily="18" charset="0"/>
                        <a:ea typeface="Cambria Math" panose="02040503050406030204" pitchFamily="18" charset="0"/>
                      </a:rPr>
                      <m:t>h</m:t>
                    </m:r>
                  </m:oMath>
                </a14:m>
                <a:endParaRPr lang="en-US" altLang="ja-JP" sz="2400" dirty="0">
                  <a:solidFill>
                    <a:schemeClr val="bg1">
                      <a:lumMod val="10000"/>
                    </a:schemeClr>
                  </a:solidFill>
                  <a:latin typeface="メイリオ" panose="020B0604030504040204" pitchFamily="50" charset="-128"/>
                  <a:ea typeface="メイリオ" panose="020B0604030504040204" pitchFamily="50" charset="-128"/>
                </a:endParaRPr>
              </a:p>
            </p:txBody>
          </p:sp>
        </mc:Choice>
        <mc:Fallback xmlns="">
          <p:sp>
            <p:nvSpPr>
              <p:cNvPr id="8" name="テキスト ボックス 7">
                <a:extLst>
                  <a:ext uri="{FF2B5EF4-FFF2-40B4-BE49-F238E27FC236}">
                    <a16:creationId xmlns:a16="http://schemas.microsoft.com/office/drawing/2014/main" id="{650E6AF8-1A1C-EF5F-1ECE-9C894A2ACE10}"/>
                  </a:ext>
                </a:extLst>
              </p:cNvPr>
              <p:cNvSpPr txBox="1">
                <a:spLocks noRot="1" noChangeAspect="1" noMove="1" noResize="1" noEditPoints="1" noAdjustHandles="1" noChangeArrowheads="1" noChangeShapeType="1" noTextEdit="1"/>
              </p:cNvSpPr>
              <p:nvPr/>
            </p:nvSpPr>
            <p:spPr>
              <a:xfrm>
                <a:off x="3384671" y="2654372"/>
                <a:ext cx="3380776" cy="461665"/>
              </a:xfrm>
              <a:prstGeom prst="rect">
                <a:avLst/>
              </a:prstGeom>
              <a:blipFill>
                <a:blip r:embed="rId6"/>
                <a:stretch>
                  <a:fillRect l="-2703" t="-7895" b="-31579"/>
                </a:stretch>
              </a:blipFill>
              <a:ln>
                <a:noFill/>
              </a:ln>
            </p:spPr>
            <p:txBody>
              <a:bodyPr/>
              <a:lstStyle/>
              <a:p>
                <a:r>
                  <a:rPr lang="ja-JP" altLang="en-US">
                    <a:noFill/>
                  </a:rPr>
                  <a:t> </a:t>
                </a:r>
              </a:p>
            </p:txBody>
          </p:sp>
        </mc:Fallback>
      </mc:AlternateContent>
      <p:sp>
        <p:nvSpPr>
          <p:cNvPr id="9" name="テキスト ボックス 8">
            <a:extLst>
              <a:ext uri="{FF2B5EF4-FFF2-40B4-BE49-F238E27FC236}">
                <a16:creationId xmlns:a16="http://schemas.microsoft.com/office/drawing/2014/main" id="{5091B833-1A62-5163-3E7F-62ECF7B21C3F}"/>
              </a:ext>
            </a:extLst>
          </p:cNvPr>
          <p:cNvSpPr txBox="1"/>
          <p:nvPr/>
        </p:nvSpPr>
        <p:spPr>
          <a:xfrm>
            <a:off x="559513" y="3118100"/>
            <a:ext cx="2493557" cy="461665"/>
          </a:xfrm>
          <a:prstGeom prst="rect">
            <a:avLst/>
          </a:prstGeom>
          <a:noFill/>
          <a:ln>
            <a:noFill/>
          </a:ln>
        </p:spPr>
        <p:txBody>
          <a:bodyPr wrap="square" rtlCol="0">
            <a:spAutoFit/>
          </a:bodyPr>
          <a:lstStyle/>
          <a:p>
            <a:r>
              <a:rPr lang="ja-JP" altLang="en-US" sz="2400" dirty="0">
                <a:solidFill>
                  <a:schemeClr val="bg1">
                    <a:lumMod val="10000"/>
                  </a:schemeClr>
                </a:solidFill>
                <a:latin typeface="メイリオ" panose="020B0604030504040204" pitchFamily="50" charset="-128"/>
                <a:ea typeface="メイリオ" panose="020B0604030504040204" pitchFamily="50" charset="-128"/>
              </a:rPr>
              <a:t>ソルバー</a:t>
            </a:r>
            <a:r>
              <a:rPr lang="en-US" altLang="ja-JP" sz="2400" dirty="0">
                <a:solidFill>
                  <a:schemeClr val="bg1">
                    <a:lumMod val="10000"/>
                  </a:schemeClr>
                </a:solidFill>
                <a:latin typeface="メイリオ" panose="020B0604030504040204" pitchFamily="50" charset="-128"/>
                <a:ea typeface="メイリオ" panose="020B0604030504040204" pitchFamily="50" charset="-128"/>
              </a:rPr>
              <a:t>:IPOPT</a:t>
            </a:r>
          </a:p>
        </p:txBody>
      </p:sp>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1E2CC82F-EC9E-089E-9263-9FDFDBFBE90B}"/>
                  </a:ext>
                </a:extLst>
              </p:cNvPr>
              <p:cNvSpPr txBox="1"/>
              <p:nvPr/>
            </p:nvSpPr>
            <p:spPr>
              <a:xfrm>
                <a:off x="844555" y="3938006"/>
                <a:ext cx="5341212" cy="461665"/>
              </a:xfrm>
              <a:prstGeom prst="rect">
                <a:avLst/>
              </a:prstGeom>
              <a:noFill/>
              <a:ln>
                <a:noFill/>
              </a:ln>
            </p:spPr>
            <p:txBody>
              <a:bodyPr wrap="square" rtlCol="0">
                <a:spAutoFit/>
              </a:bodyPr>
              <a:lstStyle/>
              <a:p>
                <a:r>
                  <a:rPr lang="en-US" altLang="ja-JP" sz="2400" i="1" dirty="0">
                    <a:solidFill>
                      <a:schemeClr val="bg1">
                        <a:lumMod val="10000"/>
                      </a:schemeClr>
                    </a:solidFill>
                    <a:latin typeface="メイリオ" panose="020B0604030504040204" pitchFamily="50" charset="-128"/>
                    <a:ea typeface="メイリオ" panose="020B0604030504040204" pitchFamily="50" charset="-128"/>
                  </a:rPr>
                  <a:t>B</a:t>
                </a:r>
                <a:r>
                  <a:rPr lang="en-US" altLang="ja-JP" sz="2400" dirty="0">
                    <a:solidFill>
                      <a:schemeClr val="bg1">
                        <a:lumMod val="10000"/>
                      </a:schemeClr>
                    </a:solidFill>
                    <a:latin typeface="メイリオ" panose="020B0604030504040204" pitchFamily="50" charset="-128"/>
                    <a:ea typeface="メイリオ" panose="020B0604030504040204" pitchFamily="50" charset="-128"/>
                  </a:rPr>
                  <a:t>(</a:t>
                </a:r>
                <a:r>
                  <a:rPr lang="ja-JP" altLang="en-US" sz="2400" i="1" dirty="0">
                    <a:solidFill>
                      <a:schemeClr val="bg1">
                        <a:lumMod val="10000"/>
                      </a:schemeClr>
                    </a:solidFill>
                    <a:latin typeface="メイリオ" panose="020B0604030504040204" pitchFamily="50" charset="-128"/>
                    <a:ea typeface="メイリオ" panose="020B0604030504040204" pitchFamily="50" charset="-128"/>
                  </a:rPr>
                  <a:t>乾燥重量</a:t>
                </a:r>
                <a:r>
                  <a:rPr lang="en-US" altLang="ja-JP" sz="2400" dirty="0">
                    <a:solidFill>
                      <a:schemeClr val="bg1">
                        <a:lumMod val="10000"/>
                      </a:schemeClr>
                    </a:solidFill>
                    <a:latin typeface="メイリオ" panose="020B0604030504040204" pitchFamily="50" charset="-128"/>
                    <a:ea typeface="メイリオ" panose="020B0604030504040204" pitchFamily="50" charset="-128"/>
                  </a:rPr>
                  <a:t>)</a:t>
                </a:r>
                <a:r>
                  <a:rPr lang="ja-JP" altLang="en-US" sz="2400" dirty="0">
                    <a:solidFill>
                      <a:schemeClr val="bg1">
                        <a:lumMod val="10000"/>
                      </a:schemeClr>
                    </a:solidFill>
                    <a:latin typeface="メイリオ" panose="020B0604030504040204" pitchFamily="50" charset="-128"/>
                    <a:ea typeface="メイリオ" panose="020B0604030504040204" pitchFamily="50" charset="-128"/>
                  </a:rPr>
                  <a:t>の初期値は</a:t>
                </a:r>
                <a:r>
                  <a:rPr lang="en-US" altLang="ja-JP" sz="2400" dirty="0">
                    <a:solidFill>
                      <a:schemeClr val="bg1">
                        <a:lumMod val="10000"/>
                      </a:schemeClr>
                    </a:solidFill>
                    <a:latin typeface="メイリオ" panose="020B0604030504040204" pitchFamily="50" charset="-128"/>
                    <a:ea typeface="メイリオ" panose="020B0604030504040204" pitchFamily="50" charset="-128"/>
                  </a:rPr>
                  <a:t>0.03</a:t>
                </a:r>
                <a14:m>
                  <m:oMath xmlns:m="http://schemas.openxmlformats.org/officeDocument/2006/math">
                    <m:r>
                      <m:rPr>
                        <m:sty m:val="p"/>
                      </m:rPr>
                      <a:rPr lang="en-US" altLang="ja-JP" sz="2400" b="0" i="0" dirty="0" smtClean="0">
                        <a:solidFill>
                          <a:schemeClr val="bg1">
                            <a:lumMod val="10000"/>
                          </a:schemeClr>
                        </a:solidFill>
                        <a:latin typeface="Cambria Math" panose="02040503050406030204" pitchFamily="18" charset="0"/>
                        <a:ea typeface="Cambria Math" panose="02040503050406030204" pitchFamily="18" charset="0"/>
                      </a:rPr>
                      <m:t>kg</m:t>
                    </m:r>
                    <m:r>
                      <a:rPr lang="en-US" altLang="ja-JP" sz="2400" b="0" i="0" dirty="0" smtClean="0">
                        <a:solidFill>
                          <a:schemeClr val="bg1">
                            <a:lumMod val="10000"/>
                          </a:schemeClr>
                        </a:solidFill>
                        <a:latin typeface="Cambria Math" panose="02040503050406030204" pitchFamily="18" charset="0"/>
                        <a:ea typeface="Cambria Math" panose="02040503050406030204" pitchFamily="18" charset="0"/>
                      </a:rPr>
                      <m:t>∙</m:t>
                    </m:r>
                    <m:sSup>
                      <m:sSupPr>
                        <m:ctrlPr>
                          <a:rPr lang="en-US" altLang="ja-JP" sz="2400" b="0" i="1" dirty="0" smtClean="0">
                            <a:solidFill>
                              <a:schemeClr val="bg1">
                                <a:lumMod val="10000"/>
                              </a:schemeClr>
                            </a:solidFill>
                            <a:latin typeface="Cambria Math" panose="02040503050406030204" pitchFamily="18" charset="0"/>
                            <a:ea typeface="Cambria Math" panose="02040503050406030204" pitchFamily="18" charset="0"/>
                          </a:rPr>
                        </m:ctrlPr>
                      </m:sSupPr>
                      <m:e>
                        <m:r>
                          <m:rPr>
                            <m:sty m:val="p"/>
                          </m:rPr>
                          <a:rPr lang="en-US" altLang="ja-JP" sz="2400" b="0" i="0" dirty="0" smtClean="0">
                            <a:solidFill>
                              <a:schemeClr val="bg1">
                                <a:lumMod val="10000"/>
                              </a:schemeClr>
                            </a:solidFill>
                            <a:latin typeface="Cambria Math" panose="02040503050406030204" pitchFamily="18" charset="0"/>
                            <a:ea typeface="Cambria Math" panose="02040503050406030204" pitchFamily="18" charset="0"/>
                          </a:rPr>
                          <m:t>m</m:t>
                        </m:r>
                      </m:e>
                      <m:sup>
                        <m:r>
                          <a:rPr lang="en-US" altLang="ja-JP" sz="2400" b="0" i="0" dirty="0" smtClean="0">
                            <a:solidFill>
                              <a:schemeClr val="bg1">
                                <a:lumMod val="10000"/>
                              </a:schemeClr>
                            </a:solidFill>
                            <a:latin typeface="Cambria Math" panose="02040503050406030204" pitchFamily="18" charset="0"/>
                            <a:ea typeface="Cambria Math" panose="02040503050406030204" pitchFamily="18" charset="0"/>
                          </a:rPr>
                          <m:t>−2</m:t>
                        </m:r>
                      </m:sup>
                    </m:sSup>
                  </m:oMath>
                </a14:m>
                <a:endParaRPr lang="en-US" altLang="ja-JP" sz="2400" b="0" dirty="0">
                  <a:solidFill>
                    <a:schemeClr val="bg1">
                      <a:lumMod val="10000"/>
                    </a:schemeClr>
                  </a:solidFill>
                  <a:latin typeface="メイリオ" panose="020B0604030504040204" pitchFamily="50" charset="-128"/>
                  <a:ea typeface="メイリオ" panose="020B0604030504040204" pitchFamily="50" charset="-128"/>
                </a:endParaRPr>
              </a:p>
            </p:txBody>
          </p:sp>
        </mc:Choice>
        <mc:Fallback xmlns="">
          <p:sp>
            <p:nvSpPr>
              <p:cNvPr id="12" name="テキスト ボックス 11">
                <a:extLst>
                  <a:ext uri="{FF2B5EF4-FFF2-40B4-BE49-F238E27FC236}">
                    <a16:creationId xmlns:a16="http://schemas.microsoft.com/office/drawing/2014/main" id="{1E2CC82F-EC9E-089E-9263-9FDFDBFBE90B}"/>
                  </a:ext>
                </a:extLst>
              </p:cNvPr>
              <p:cNvSpPr txBox="1">
                <a:spLocks noRot="1" noChangeAspect="1" noMove="1" noResize="1" noEditPoints="1" noAdjustHandles="1" noChangeArrowheads="1" noChangeShapeType="1" noTextEdit="1"/>
              </p:cNvSpPr>
              <p:nvPr/>
            </p:nvSpPr>
            <p:spPr>
              <a:xfrm>
                <a:off x="844555" y="3938006"/>
                <a:ext cx="5341212" cy="461665"/>
              </a:xfrm>
              <a:prstGeom prst="rect">
                <a:avLst/>
              </a:prstGeom>
              <a:blipFill>
                <a:blip r:embed="rId7"/>
                <a:stretch>
                  <a:fillRect l="-1826" t="-7895" b="-31579"/>
                </a:stretch>
              </a:blipFill>
              <a:ln>
                <a:no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5" name="テキスト ボックス 14">
                <a:extLst>
                  <a:ext uri="{FF2B5EF4-FFF2-40B4-BE49-F238E27FC236}">
                    <a16:creationId xmlns:a16="http://schemas.microsoft.com/office/drawing/2014/main" id="{0F2E3E6D-6588-B21F-6664-7EE84E1828A2}"/>
                  </a:ext>
                </a:extLst>
              </p:cNvPr>
              <p:cNvSpPr txBox="1"/>
              <p:nvPr/>
            </p:nvSpPr>
            <p:spPr>
              <a:xfrm>
                <a:off x="844555" y="4463034"/>
                <a:ext cx="4625715" cy="461665"/>
              </a:xfrm>
              <a:prstGeom prst="rect">
                <a:avLst/>
              </a:prstGeom>
              <a:noFill/>
              <a:ln>
                <a:noFill/>
              </a:ln>
            </p:spPr>
            <p:txBody>
              <a:bodyPr wrap="square" rtlCol="0">
                <a:spAutoFit/>
              </a:bodyPr>
              <a:lstStyle/>
              <a:p>
                <a:r>
                  <a:rPr lang="en-US" altLang="ja-JP" sz="2400" dirty="0">
                    <a:solidFill>
                      <a:schemeClr val="bg1">
                        <a:lumMod val="10000"/>
                      </a:schemeClr>
                    </a:solidFill>
                    <a:latin typeface="メイリオ" panose="020B0604030504040204" pitchFamily="50" charset="-128"/>
                    <a:ea typeface="メイリオ" panose="020B0604030504040204" pitchFamily="50" charset="-128"/>
                  </a:rPr>
                  <a:t>3</a:t>
                </a:r>
                <a14:m>
                  <m:oMath xmlns:m="http://schemas.openxmlformats.org/officeDocument/2006/math">
                    <m:r>
                      <m:rPr>
                        <m:sty m:val="p"/>
                      </m:rPr>
                      <a:rPr lang="en-US" altLang="ja-JP" sz="2400" dirty="0">
                        <a:solidFill>
                          <a:schemeClr val="bg1">
                            <a:lumMod val="10000"/>
                          </a:schemeClr>
                        </a:solidFill>
                        <a:latin typeface="Cambria Math" panose="02040503050406030204" pitchFamily="18" charset="0"/>
                        <a:ea typeface="Cambria Math" panose="02040503050406030204" pitchFamily="18" charset="0"/>
                      </a:rPr>
                      <m:t>kg</m:t>
                    </m:r>
                    <m:r>
                      <a:rPr lang="en-US" altLang="ja-JP" sz="2400" dirty="0">
                        <a:solidFill>
                          <a:schemeClr val="bg1">
                            <a:lumMod val="10000"/>
                          </a:schemeClr>
                        </a:solidFill>
                        <a:latin typeface="Cambria Math" panose="02040503050406030204" pitchFamily="18" charset="0"/>
                        <a:ea typeface="Cambria Math" panose="02040503050406030204" pitchFamily="18" charset="0"/>
                      </a:rPr>
                      <m:t>∙</m:t>
                    </m:r>
                    <m:sSup>
                      <m:sSupPr>
                        <m:ctrlPr>
                          <a:rPr lang="en-US" altLang="ja-JP" sz="2400" i="1" dirty="0">
                            <a:solidFill>
                              <a:schemeClr val="bg1">
                                <a:lumMod val="10000"/>
                              </a:schemeClr>
                            </a:solidFill>
                            <a:latin typeface="Cambria Math" panose="02040503050406030204" pitchFamily="18" charset="0"/>
                            <a:ea typeface="Cambria Math" panose="02040503050406030204" pitchFamily="18" charset="0"/>
                          </a:rPr>
                        </m:ctrlPr>
                      </m:sSupPr>
                      <m:e>
                        <m:r>
                          <m:rPr>
                            <m:sty m:val="p"/>
                          </m:rPr>
                          <a:rPr lang="en-US" altLang="ja-JP" sz="2400" dirty="0">
                            <a:solidFill>
                              <a:schemeClr val="bg1">
                                <a:lumMod val="10000"/>
                              </a:schemeClr>
                            </a:solidFill>
                            <a:latin typeface="Cambria Math" panose="02040503050406030204" pitchFamily="18" charset="0"/>
                            <a:ea typeface="Cambria Math" panose="02040503050406030204" pitchFamily="18" charset="0"/>
                          </a:rPr>
                          <m:t>m</m:t>
                        </m:r>
                      </m:e>
                      <m:sup>
                        <m:r>
                          <a:rPr lang="en-US" altLang="ja-JP" sz="2400" dirty="0">
                            <a:solidFill>
                              <a:schemeClr val="bg1">
                                <a:lumMod val="10000"/>
                              </a:schemeClr>
                            </a:solidFill>
                            <a:latin typeface="Cambria Math" panose="02040503050406030204" pitchFamily="18" charset="0"/>
                            <a:ea typeface="Cambria Math" panose="02040503050406030204" pitchFamily="18" charset="0"/>
                          </a:rPr>
                          <m:t>−2</m:t>
                        </m:r>
                      </m:sup>
                    </m:sSup>
                  </m:oMath>
                </a14:m>
                <a:r>
                  <a:rPr lang="ja-JP" altLang="en-US" sz="2400" dirty="0">
                    <a:solidFill>
                      <a:schemeClr val="bg1">
                        <a:lumMod val="10000"/>
                      </a:schemeClr>
                    </a:solidFill>
                    <a:latin typeface="メイリオ" panose="020B0604030504040204" pitchFamily="50" charset="-128"/>
                    <a:ea typeface="メイリオ" panose="020B0604030504040204" pitchFamily="50" charset="-128"/>
                  </a:rPr>
                  <a:t>となったところで終了</a:t>
                </a:r>
                <a:endParaRPr lang="en-US" altLang="ja-JP" sz="2400" dirty="0">
                  <a:solidFill>
                    <a:schemeClr val="bg1">
                      <a:lumMod val="10000"/>
                    </a:schemeClr>
                  </a:solidFill>
                  <a:latin typeface="メイリオ" panose="020B0604030504040204" pitchFamily="50" charset="-128"/>
                  <a:ea typeface="メイリオ" panose="020B0604030504040204" pitchFamily="50" charset="-128"/>
                </a:endParaRPr>
              </a:p>
            </p:txBody>
          </p:sp>
        </mc:Choice>
        <mc:Fallback xmlns="">
          <p:sp>
            <p:nvSpPr>
              <p:cNvPr id="15" name="テキスト ボックス 14">
                <a:extLst>
                  <a:ext uri="{FF2B5EF4-FFF2-40B4-BE49-F238E27FC236}">
                    <a16:creationId xmlns:a16="http://schemas.microsoft.com/office/drawing/2014/main" id="{0F2E3E6D-6588-B21F-6664-7EE84E1828A2}"/>
                  </a:ext>
                </a:extLst>
              </p:cNvPr>
              <p:cNvSpPr txBox="1">
                <a:spLocks noRot="1" noChangeAspect="1" noMove="1" noResize="1" noEditPoints="1" noAdjustHandles="1" noChangeArrowheads="1" noChangeShapeType="1" noTextEdit="1"/>
              </p:cNvSpPr>
              <p:nvPr/>
            </p:nvSpPr>
            <p:spPr>
              <a:xfrm>
                <a:off x="844555" y="4463034"/>
                <a:ext cx="4625715" cy="461665"/>
              </a:xfrm>
              <a:prstGeom prst="rect">
                <a:avLst/>
              </a:prstGeom>
              <a:blipFill>
                <a:blip r:embed="rId8"/>
                <a:stretch>
                  <a:fillRect l="-2111" t="-7895" b="-31579"/>
                </a:stretch>
              </a:blipFill>
              <a:ln>
                <a:noFill/>
              </a:ln>
            </p:spPr>
            <p:txBody>
              <a:bodyPr/>
              <a:lstStyle/>
              <a:p>
                <a:r>
                  <a:rPr lang="ja-JP" altLang="en-US">
                    <a:noFill/>
                  </a:rPr>
                  <a:t> </a:t>
                </a:r>
              </a:p>
            </p:txBody>
          </p:sp>
        </mc:Fallback>
      </mc:AlternateContent>
      <p:pic>
        <p:nvPicPr>
          <p:cNvPr id="16" name="図 15">
            <a:extLst>
              <a:ext uri="{FF2B5EF4-FFF2-40B4-BE49-F238E27FC236}">
                <a16:creationId xmlns:a16="http://schemas.microsoft.com/office/drawing/2014/main" id="{E1621825-3B29-4897-D290-D07C774FC656}"/>
              </a:ext>
            </a:extLst>
          </p:cNvPr>
          <p:cNvPicPr>
            <a:picLocks noChangeAspect="1"/>
          </p:cNvPicPr>
          <p:nvPr/>
        </p:nvPicPr>
        <p:blipFill>
          <a:blip r:embed="rId9"/>
          <a:stretch>
            <a:fillRect/>
          </a:stretch>
        </p:blipFill>
        <p:spPr>
          <a:xfrm>
            <a:off x="6799675" y="2283680"/>
            <a:ext cx="5293566" cy="2999124"/>
          </a:xfrm>
          <a:prstGeom prst="rect">
            <a:avLst/>
          </a:prstGeom>
        </p:spPr>
      </p:pic>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54DBF85D-A1C8-3C1B-7A14-25011D85D0B0}"/>
                  </a:ext>
                </a:extLst>
              </p:cNvPr>
              <p:cNvSpPr txBox="1"/>
              <p:nvPr/>
            </p:nvSpPr>
            <p:spPr>
              <a:xfrm>
                <a:off x="10791373" y="3723893"/>
                <a:ext cx="1155041" cy="584775"/>
              </a:xfrm>
              <a:prstGeom prst="rect">
                <a:avLst/>
              </a:prstGeom>
              <a:noFill/>
            </p:spPr>
            <p:txBody>
              <a:bodyPr wrap="square" rtlCol="0">
                <a:spAutoFit/>
              </a:bodyPr>
              <a:lstStyle/>
              <a:p>
                <a:r>
                  <a:rPr kumimoji="1" lang="ja-JP" altLang="en-US" sz="2400" b="1" dirty="0">
                    <a:solidFill>
                      <a:srgbClr val="0070C0"/>
                    </a:solidFill>
                    <a:latin typeface="メイリオ" panose="020B0604030504040204" pitchFamily="50" charset="-128"/>
                    <a:ea typeface="メイリオ" panose="020B0604030504040204" pitchFamily="50" charset="-128"/>
                  </a:rPr>
                  <a:t>入力 </a:t>
                </a:r>
                <a14:m>
                  <m:oMath xmlns:m="http://schemas.openxmlformats.org/officeDocument/2006/math">
                    <m:r>
                      <a:rPr kumimoji="1" lang="en-US" altLang="ja-JP" sz="3200" b="1" i="0" smtClean="0">
                        <a:solidFill>
                          <a:srgbClr val="0070C0"/>
                        </a:solidFill>
                        <a:latin typeface="Cambria Math" panose="02040503050406030204" pitchFamily="18" charset="0"/>
                        <a:ea typeface="メイリオ" panose="020B0604030504040204" pitchFamily="50" charset="-128"/>
                      </a:rPr>
                      <m:t>𝐮</m:t>
                    </m:r>
                  </m:oMath>
                </a14:m>
                <a:endParaRPr kumimoji="1" lang="ja-JP" altLang="en-US" sz="2400" b="1" dirty="0">
                  <a:solidFill>
                    <a:srgbClr val="0070C0"/>
                  </a:solidFill>
                  <a:latin typeface="メイリオ" panose="020B0604030504040204" pitchFamily="50" charset="-128"/>
                  <a:ea typeface="メイリオ" panose="020B0604030504040204" pitchFamily="50" charset="-128"/>
                </a:endParaRPr>
              </a:p>
            </p:txBody>
          </p:sp>
        </mc:Choice>
        <mc:Fallback xmlns="">
          <p:sp>
            <p:nvSpPr>
              <p:cNvPr id="17" name="テキスト ボックス 16">
                <a:extLst>
                  <a:ext uri="{FF2B5EF4-FFF2-40B4-BE49-F238E27FC236}">
                    <a16:creationId xmlns:a16="http://schemas.microsoft.com/office/drawing/2014/main" id="{54DBF85D-A1C8-3C1B-7A14-25011D85D0B0}"/>
                  </a:ext>
                </a:extLst>
              </p:cNvPr>
              <p:cNvSpPr txBox="1">
                <a:spLocks noRot="1" noChangeAspect="1" noMove="1" noResize="1" noEditPoints="1" noAdjustHandles="1" noChangeArrowheads="1" noChangeShapeType="1" noTextEdit="1"/>
              </p:cNvSpPr>
              <p:nvPr/>
            </p:nvSpPr>
            <p:spPr>
              <a:xfrm>
                <a:off x="10791373" y="3723893"/>
                <a:ext cx="1155041" cy="584775"/>
              </a:xfrm>
              <a:prstGeom prst="rect">
                <a:avLst/>
              </a:prstGeom>
              <a:blipFill>
                <a:blip r:embed="rId10"/>
                <a:stretch>
                  <a:fillRect l="-7895" b="-1875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660F1F57-68A8-C7A4-22A3-78C296E1037E}"/>
                  </a:ext>
                </a:extLst>
              </p:cNvPr>
              <p:cNvSpPr txBox="1"/>
              <p:nvPr/>
            </p:nvSpPr>
            <p:spPr>
              <a:xfrm>
                <a:off x="10859960" y="4139690"/>
                <a:ext cx="1155041" cy="584775"/>
              </a:xfrm>
              <a:prstGeom prst="rect">
                <a:avLst/>
              </a:prstGeom>
              <a:noFill/>
            </p:spPr>
            <p:txBody>
              <a:bodyPr wrap="square" rtlCol="0">
                <a:spAutoFit/>
              </a:bodyPr>
              <a:lstStyle/>
              <a:p>
                <a:r>
                  <a:rPr kumimoji="1" lang="ja-JP" altLang="en-US" sz="2400" b="1" dirty="0">
                    <a:solidFill>
                      <a:srgbClr val="00B050"/>
                    </a:solidFill>
                    <a:ea typeface="メイリオ" panose="020B0604030504040204" pitchFamily="50" charset="-128"/>
                  </a:rPr>
                  <a:t>状態 </a:t>
                </a:r>
                <a14:m>
                  <m:oMath xmlns:m="http://schemas.openxmlformats.org/officeDocument/2006/math">
                    <m:r>
                      <a:rPr kumimoji="1" lang="en-US" altLang="ja-JP" sz="3200" b="1" i="0" smtClean="0">
                        <a:solidFill>
                          <a:srgbClr val="00B050"/>
                        </a:solidFill>
                        <a:latin typeface="Cambria Math" panose="02040503050406030204" pitchFamily="18" charset="0"/>
                        <a:ea typeface="メイリオ" panose="020B0604030504040204" pitchFamily="50" charset="-128"/>
                      </a:rPr>
                      <m:t>𝐱</m:t>
                    </m:r>
                  </m:oMath>
                </a14:m>
                <a:endParaRPr kumimoji="1" lang="ja-JP" altLang="en-US" sz="2400" b="1" dirty="0">
                  <a:solidFill>
                    <a:srgbClr val="00B050"/>
                  </a:solidFill>
                  <a:latin typeface="メイリオ" panose="020B0604030504040204" pitchFamily="50" charset="-128"/>
                  <a:ea typeface="メイリオ" panose="020B0604030504040204" pitchFamily="50" charset="-128"/>
                </a:endParaRPr>
              </a:p>
            </p:txBody>
          </p:sp>
        </mc:Choice>
        <mc:Fallback xmlns="">
          <p:sp>
            <p:nvSpPr>
              <p:cNvPr id="18" name="テキスト ボックス 17">
                <a:extLst>
                  <a:ext uri="{FF2B5EF4-FFF2-40B4-BE49-F238E27FC236}">
                    <a16:creationId xmlns:a16="http://schemas.microsoft.com/office/drawing/2014/main" id="{660F1F57-68A8-C7A4-22A3-78C296E1037E}"/>
                  </a:ext>
                </a:extLst>
              </p:cNvPr>
              <p:cNvSpPr txBox="1">
                <a:spLocks noRot="1" noChangeAspect="1" noMove="1" noResize="1" noEditPoints="1" noAdjustHandles="1" noChangeArrowheads="1" noChangeShapeType="1" noTextEdit="1"/>
              </p:cNvSpPr>
              <p:nvPr/>
            </p:nvSpPr>
            <p:spPr>
              <a:xfrm>
                <a:off x="10859960" y="4139690"/>
                <a:ext cx="1155041" cy="584775"/>
              </a:xfrm>
              <a:prstGeom prst="rect">
                <a:avLst/>
              </a:prstGeom>
              <a:blipFill>
                <a:blip r:embed="rId11"/>
                <a:stretch>
                  <a:fillRect l="-7895" b="-1875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198278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FDD8DD80-56D6-48F2-2923-103772C4F707}"/>
              </a:ext>
            </a:extLst>
          </p:cNvPr>
          <p:cNvSpPr>
            <a:spLocks noGrp="1"/>
          </p:cNvSpPr>
          <p:nvPr>
            <p:ph type="body" sz="quarter" idx="11"/>
          </p:nvPr>
        </p:nvSpPr>
        <p:spPr/>
        <p:txBody>
          <a:bodyPr/>
          <a:lstStyle/>
          <a:p>
            <a:r>
              <a:rPr lang="ja-JP" altLang="en-US" dirty="0"/>
              <a:t>結果：平均</a:t>
            </a:r>
            <a:r>
              <a:rPr lang="en-US" altLang="ja-JP" dirty="0"/>
              <a:t>15</a:t>
            </a:r>
            <a:r>
              <a:rPr lang="ja-JP" altLang="en-US" dirty="0"/>
              <a:t>℃の場合</a:t>
            </a:r>
            <a:endParaRPr kumimoji="1" lang="en-US" altLang="ja-JP" dirty="0"/>
          </a:p>
        </p:txBody>
      </p:sp>
      <p:sp>
        <p:nvSpPr>
          <p:cNvPr id="15" name="テキスト ボックス 14">
            <a:extLst>
              <a:ext uri="{FF2B5EF4-FFF2-40B4-BE49-F238E27FC236}">
                <a16:creationId xmlns:a16="http://schemas.microsoft.com/office/drawing/2014/main" id="{56D3296B-5D04-D1B7-0555-46A0C9C61930}"/>
              </a:ext>
            </a:extLst>
          </p:cNvPr>
          <p:cNvSpPr txBox="1"/>
          <p:nvPr/>
        </p:nvSpPr>
        <p:spPr>
          <a:xfrm>
            <a:off x="1970094" y="914493"/>
            <a:ext cx="1763774" cy="461665"/>
          </a:xfrm>
          <a:prstGeom prst="rect">
            <a:avLst/>
          </a:prstGeom>
          <a:noFill/>
          <a:ln>
            <a:noFill/>
          </a:ln>
        </p:spPr>
        <p:txBody>
          <a:bodyPr wrap="square" rtlCol="0">
            <a:spAutoFit/>
          </a:bodyPr>
          <a:lstStyle/>
          <a:p>
            <a:r>
              <a:rPr lang="ja-JP" altLang="en-US" sz="2400" b="1" dirty="0">
                <a:solidFill>
                  <a:srgbClr val="7030A0"/>
                </a:solidFill>
                <a:latin typeface="メイリオ" panose="020B0604030504040204" pitchFamily="50" charset="-128"/>
                <a:ea typeface="メイリオ" panose="020B0604030504040204" pitchFamily="50" charset="-128"/>
              </a:rPr>
              <a:t>上：照明</a:t>
            </a:r>
            <a:endParaRPr lang="en-US" altLang="ja-JP" sz="2400" b="1" dirty="0">
              <a:solidFill>
                <a:srgbClr val="7030A0"/>
              </a:solidFill>
              <a:latin typeface="メイリオ" panose="020B0604030504040204" pitchFamily="50" charset="-128"/>
              <a:ea typeface="メイリオ" panose="020B0604030504040204" pitchFamily="50" charset="-128"/>
            </a:endParaRPr>
          </a:p>
        </p:txBody>
      </p:sp>
      <p:grpSp>
        <p:nvGrpSpPr>
          <p:cNvPr id="7" name="グループ化 6">
            <a:extLst>
              <a:ext uri="{FF2B5EF4-FFF2-40B4-BE49-F238E27FC236}">
                <a16:creationId xmlns:a16="http://schemas.microsoft.com/office/drawing/2014/main" id="{1401DAFF-C576-78AB-52EE-D49BFDD8D9F9}"/>
              </a:ext>
            </a:extLst>
          </p:cNvPr>
          <p:cNvGrpSpPr/>
          <p:nvPr/>
        </p:nvGrpSpPr>
        <p:grpSpPr>
          <a:xfrm>
            <a:off x="210574" y="1338452"/>
            <a:ext cx="7695680" cy="5436498"/>
            <a:chOff x="-1" y="1164948"/>
            <a:chExt cx="6262191" cy="4253672"/>
          </a:xfrm>
        </p:grpSpPr>
        <p:pic>
          <p:nvPicPr>
            <p:cNvPr id="4" name="図 3" descr="グラフ, ヒストグラム&#10;&#10;AI 生成コンテンツは誤りを含む可能性があります。">
              <a:extLst>
                <a:ext uri="{FF2B5EF4-FFF2-40B4-BE49-F238E27FC236}">
                  <a16:creationId xmlns:a16="http://schemas.microsoft.com/office/drawing/2014/main" id="{1C8A16A5-626B-F450-63FF-B8D61961ED02}"/>
                </a:ext>
              </a:extLst>
            </p:cNvPr>
            <p:cNvPicPr>
              <a:picLocks noChangeAspect="1"/>
            </p:cNvPicPr>
            <p:nvPr/>
          </p:nvPicPr>
          <p:blipFill>
            <a:blip r:embed="rId3"/>
            <a:stretch>
              <a:fillRect/>
            </a:stretch>
          </p:blipFill>
          <p:spPr>
            <a:xfrm>
              <a:off x="-1" y="1164948"/>
              <a:ext cx="6262191" cy="2015997"/>
            </a:xfrm>
            <a:prstGeom prst="rect">
              <a:avLst/>
            </a:prstGeom>
          </p:spPr>
        </p:pic>
        <p:pic>
          <p:nvPicPr>
            <p:cNvPr id="6" name="図 5" descr="グラフ, 折れ線グラフ&#10;&#10;AI 生成コンテンツは誤りを含む可能性があります。">
              <a:extLst>
                <a:ext uri="{FF2B5EF4-FFF2-40B4-BE49-F238E27FC236}">
                  <a16:creationId xmlns:a16="http://schemas.microsoft.com/office/drawing/2014/main" id="{28C00FA1-B48F-8929-9936-BEDF4B4073E8}"/>
                </a:ext>
              </a:extLst>
            </p:cNvPr>
            <p:cNvPicPr>
              <a:picLocks noChangeAspect="1"/>
            </p:cNvPicPr>
            <p:nvPr/>
          </p:nvPicPr>
          <p:blipFill>
            <a:blip r:embed="rId4"/>
            <a:stretch>
              <a:fillRect/>
            </a:stretch>
          </p:blipFill>
          <p:spPr>
            <a:xfrm>
              <a:off x="97277" y="3180946"/>
              <a:ext cx="5890163" cy="2237674"/>
            </a:xfrm>
            <a:prstGeom prst="rect">
              <a:avLst/>
            </a:prstGeom>
          </p:spPr>
        </p:pic>
      </p:grpSp>
      <p:sp>
        <p:nvSpPr>
          <p:cNvPr id="2" name="テキスト ボックス 1">
            <a:extLst>
              <a:ext uri="{FF2B5EF4-FFF2-40B4-BE49-F238E27FC236}">
                <a16:creationId xmlns:a16="http://schemas.microsoft.com/office/drawing/2014/main" id="{B1786412-0E4B-6684-1089-9FB6C690F42C}"/>
              </a:ext>
            </a:extLst>
          </p:cNvPr>
          <p:cNvSpPr txBox="1"/>
          <p:nvPr/>
        </p:nvSpPr>
        <p:spPr>
          <a:xfrm>
            <a:off x="4587402" y="914494"/>
            <a:ext cx="2049593" cy="461665"/>
          </a:xfrm>
          <a:prstGeom prst="rect">
            <a:avLst/>
          </a:prstGeom>
          <a:noFill/>
          <a:ln>
            <a:noFill/>
          </a:ln>
        </p:spPr>
        <p:txBody>
          <a:bodyPr wrap="square" rtlCol="0">
            <a:spAutoFit/>
          </a:bodyPr>
          <a:lstStyle/>
          <a:p>
            <a:r>
              <a:rPr lang="ja-JP" altLang="en-US" sz="2400" b="1" dirty="0">
                <a:solidFill>
                  <a:schemeClr val="bg1">
                    <a:lumMod val="10000"/>
                  </a:schemeClr>
                </a:solidFill>
                <a:latin typeface="メイリオ" panose="020B0604030504040204" pitchFamily="50" charset="-128"/>
                <a:ea typeface="メイリオ" panose="020B0604030504040204" pitchFamily="50" charset="-128"/>
              </a:rPr>
              <a:t>下：乾燥重量</a:t>
            </a:r>
            <a:endParaRPr lang="en-US" altLang="ja-JP" sz="2400" b="1" dirty="0">
              <a:solidFill>
                <a:schemeClr val="bg1">
                  <a:lumMod val="10000"/>
                </a:schemeClr>
              </a:solidFill>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1E2C5AB5-1E48-D6A6-4519-8B91EA4F2678}"/>
              </a:ext>
            </a:extLst>
          </p:cNvPr>
          <p:cNvSpPr txBox="1"/>
          <p:nvPr/>
        </p:nvSpPr>
        <p:spPr>
          <a:xfrm>
            <a:off x="7906255" y="2493982"/>
            <a:ext cx="4485371" cy="461665"/>
          </a:xfrm>
          <a:prstGeom prst="rect">
            <a:avLst/>
          </a:prstGeom>
          <a:noFill/>
          <a:ln>
            <a:noFill/>
          </a:ln>
        </p:spPr>
        <p:txBody>
          <a:bodyPr wrap="square" rtlCol="0">
            <a:spAutoFit/>
          </a:bodyPr>
          <a:lstStyle/>
          <a:p>
            <a:r>
              <a:rPr lang="ja-JP" altLang="en-US" sz="2400" b="1" dirty="0">
                <a:solidFill>
                  <a:schemeClr val="bg1">
                    <a:lumMod val="10000"/>
                  </a:schemeClr>
                </a:solidFill>
                <a:latin typeface="メイリオ" panose="020B0604030504040204" pitchFamily="50" charset="-128"/>
                <a:ea typeface="メイリオ" panose="020B0604030504040204" pitchFamily="50" charset="-128"/>
              </a:rPr>
              <a:t>乾燥重量に応じて照明が変化</a:t>
            </a:r>
            <a:endParaRPr lang="en-US" altLang="ja-JP" sz="2400" b="1" dirty="0">
              <a:solidFill>
                <a:schemeClr val="bg1">
                  <a:lumMod val="10000"/>
                </a:schemeClr>
              </a:solidFill>
              <a:latin typeface="メイリオ" panose="020B0604030504040204" pitchFamily="50" charset="-128"/>
              <a:ea typeface="メイリオ" panose="020B0604030504040204" pitchFamily="50" charset="-128"/>
            </a:endParaRPr>
          </a:p>
        </p:txBody>
      </p:sp>
      <p:sp>
        <p:nvSpPr>
          <p:cNvPr id="12" name="二等辺三角形 11">
            <a:extLst>
              <a:ext uri="{FF2B5EF4-FFF2-40B4-BE49-F238E27FC236}">
                <a16:creationId xmlns:a16="http://schemas.microsoft.com/office/drawing/2014/main" id="{15DEDB1D-832B-1424-2AD4-D931758EDAE3}"/>
              </a:ext>
            </a:extLst>
          </p:cNvPr>
          <p:cNvSpPr/>
          <p:nvPr/>
        </p:nvSpPr>
        <p:spPr>
          <a:xfrm rot="10800000">
            <a:off x="9534616" y="3298193"/>
            <a:ext cx="539015" cy="376684"/>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B2023556-606D-907D-7E6D-4B15C89F7740}"/>
              </a:ext>
            </a:extLst>
          </p:cNvPr>
          <p:cNvSpPr txBox="1"/>
          <p:nvPr/>
        </p:nvSpPr>
        <p:spPr>
          <a:xfrm>
            <a:off x="7906254" y="4017422"/>
            <a:ext cx="4485371" cy="461665"/>
          </a:xfrm>
          <a:prstGeom prst="rect">
            <a:avLst/>
          </a:prstGeom>
          <a:noFill/>
          <a:ln>
            <a:noFill/>
          </a:ln>
        </p:spPr>
        <p:txBody>
          <a:bodyPr wrap="square" rtlCol="0">
            <a:spAutoFit/>
          </a:bodyPr>
          <a:lstStyle/>
          <a:p>
            <a:r>
              <a:rPr lang="ja-JP" altLang="en-US" sz="2400" b="1" dirty="0">
                <a:solidFill>
                  <a:schemeClr val="bg1">
                    <a:lumMod val="10000"/>
                  </a:schemeClr>
                </a:solidFill>
                <a:latin typeface="メイリオ" panose="020B0604030504040204" pitchFamily="50" charset="-128"/>
                <a:ea typeface="メイリオ" panose="020B0604030504040204" pitchFamily="50" charset="-128"/>
              </a:rPr>
              <a:t>制御が効いていることを確認</a:t>
            </a:r>
            <a:endParaRPr lang="en-US" altLang="ja-JP" sz="2400" b="1" dirty="0">
              <a:solidFill>
                <a:schemeClr val="bg1">
                  <a:lumMod val="10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1994854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A6377D53-025C-608A-4D75-BAF134933AE6}"/>
              </a:ext>
            </a:extLst>
          </p:cNvPr>
          <p:cNvSpPr>
            <a:spLocks noGrp="1"/>
          </p:cNvSpPr>
          <p:nvPr>
            <p:ph type="body" sz="quarter" idx="11"/>
          </p:nvPr>
        </p:nvSpPr>
        <p:spPr/>
        <p:txBody>
          <a:bodyPr/>
          <a:lstStyle/>
          <a:p>
            <a:r>
              <a:rPr kumimoji="1" lang="ja-JP" altLang="en-US" dirty="0"/>
              <a:t>便益評価</a:t>
            </a:r>
          </a:p>
        </p:txBody>
      </p:sp>
      <p:sp>
        <p:nvSpPr>
          <p:cNvPr id="2" name="テキスト ボックス 1">
            <a:extLst>
              <a:ext uri="{FF2B5EF4-FFF2-40B4-BE49-F238E27FC236}">
                <a16:creationId xmlns:a16="http://schemas.microsoft.com/office/drawing/2014/main" id="{7778596A-8DC8-275D-7685-1B14FB5CDF80}"/>
              </a:ext>
            </a:extLst>
          </p:cNvPr>
          <p:cNvSpPr txBox="1"/>
          <p:nvPr/>
        </p:nvSpPr>
        <p:spPr>
          <a:xfrm>
            <a:off x="5938273" y="3066918"/>
            <a:ext cx="2438097" cy="461665"/>
          </a:xfrm>
          <a:prstGeom prst="rect">
            <a:avLst/>
          </a:prstGeom>
          <a:noFill/>
          <a:ln>
            <a:noFill/>
          </a:ln>
        </p:spPr>
        <p:txBody>
          <a:bodyPr wrap="square" rtlCol="0">
            <a:spAutoFit/>
          </a:bodyPr>
          <a:lstStyle/>
          <a:p>
            <a:r>
              <a:rPr lang="ja-JP" altLang="en-US" sz="2400" dirty="0">
                <a:solidFill>
                  <a:schemeClr val="bg1">
                    <a:lumMod val="10000"/>
                  </a:schemeClr>
                </a:solidFill>
                <a:latin typeface="メイリオ" panose="020B0604030504040204" pitchFamily="50" charset="-128"/>
                <a:ea typeface="メイリオ" panose="020B0604030504040204" pitchFamily="50" charset="-128"/>
              </a:rPr>
              <a:t>電気代は</a:t>
            </a:r>
            <a:r>
              <a:rPr lang="en-US" altLang="ja-JP" sz="2400" dirty="0">
                <a:solidFill>
                  <a:schemeClr val="bg1">
                    <a:lumMod val="10000"/>
                  </a:schemeClr>
                </a:solidFill>
                <a:latin typeface="メイリオ" panose="020B0604030504040204" pitchFamily="50" charset="-128"/>
                <a:ea typeface="メイリオ" panose="020B0604030504040204" pitchFamily="50" charset="-128"/>
              </a:rPr>
              <a:t>25%</a:t>
            </a:r>
            <a:r>
              <a:rPr lang="en-US" altLang="ja-JP" sz="2400" baseline="30000" dirty="0">
                <a:solidFill>
                  <a:schemeClr val="bg1">
                    <a:lumMod val="10000"/>
                  </a:schemeClr>
                </a:solidFill>
                <a:latin typeface="メイリオ" panose="020B0604030504040204" pitchFamily="50" charset="-128"/>
                <a:ea typeface="メイリオ" panose="020B0604030504040204" pitchFamily="50" charset="-128"/>
              </a:rPr>
              <a:t>[3]</a:t>
            </a:r>
          </a:p>
        </p:txBody>
      </p: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1BA897E9-6B2D-D2AA-D9B3-BC62AD9394A4}"/>
                  </a:ext>
                </a:extLst>
              </p:cNvPr>
              <p:cNvSpPr txBox="1"/>
              <p:nvPr/>
            </p:nvSpPr>
            <p:spPr>
              <a:xfrm>
                <a:off x="3675893" y="2674559"/>
                <a:ext cx="1926523" cy="461665"/>
              </a:xfrm>
              <a:prstGeom prst="rect">
                <a:avLst/>
              </a:prstGeom>
              <a:noFill/>
            </p:spPr>
            <p:txBody>
              <a:bodyPr wrap="square">
                <a:spAutoFit/>
              </a:bodyPr>
              <a:lstStyle/>
              <a:p>
                <a14:m>
                  <m:oMath xmlns:m="http://schemas.openxmlformats.org/officeDocument/2006/math">
                    <m:r>
                      <a:rPr lang="en-US" altLang="ja-JP" sz="2400" i="0" u="sng" smtClean="0">
                        <a:solidFill>
                          <a:schemeClr val="bg1">
                            <a:lumMod val="10000"/>
                          </a:schemeClr>
                        </a:solidFill>
                        <a:latin typeface="Cambria Math" panose="02040503050406030204" pitchFamily="18" charset="0"/>
                        <a:ea typeface="メイリオ" panose="020B0604030504040204" pitchFamily="50" charset="-128"/>
                      </a:rPr>
                      <m:t>2,107,930</m:t>
                    </m:r>
                  </m:oMath>
                </a14:m>
                <a:r>
                  <a:rPr lang="ja-JP" altLang="en-US" sz="2400" u="sng" dirty="0">
                    <a:solidFill>
                      <a:schemeClr val="bg1">
                        <a:lumMod val="10000"/>
                      </a:schemeClr>
                    </a:solidFill>
                    <a:latin typeface="メイリオ" panose="020B0604030504040204" pitchFamily="50" charset="-128"/>
                    <a:ea typeface="メイリオ" panose="020B0604030504040204" pitchFamily="50" charset="-128"/>
                  </a:rPr>
                  <a:t>円</a:t>
                </a:r>
              </a:p>
            </p:txBody>
          </p:sp>
        </mc:Choice>
        <mc:Fallback xmlns="">
          <p:sp>
            <p:nvSpPr>
              <p:cNvPr id="7" name="テキスト ボックス 6">
                <a:extLst>
                  <a:ext uri="{FF2B5EF4-FFF2-40B4-BE49-F238E27FC236}">
                    <a16:creationId xmlns:a16="http://schemas.microsoft.com/office/drawing/2014/main" id="{1BA897E9-6B2D-D2AA-D9B3-BC62AD9394A4}"/>
                  </a:ext>
                </a:extLst>
              </p:cNvPr>
              <p:cNvSpPr txBox="1">
                <a:spLocks noRot="1" noChangeAspect="1" noMove="1" noResize="1" noEditPoints="1" noAdjustHandles="1" noChangeArrowheads="1" noChangeShapeType="1" noTextEdit="1"/>
              </p:cNvSpPr>
              <p:nvPr/>
            </p:nvSpPr>
            <p:spPr>
              <a:xfrm>
                <a:off x="3675893" y="2674559"/>
                <a:ext cx="1926523" cy="461665"/>
              </a:xfrm>
              <a:prstGeom prst="rect">
                <a:avLst/>
              </a:prstGeom>
              <a:blipFill>
                <a:blip r:embed="rId3"/>
                <a:stretch>
                  <a:fillRect l="-633" t="-8000" b="-33333"/>
                </a:stretch>
              </a:blipFill>
            </p:spPr>
            <p:txBody>
              <a:bodyPr/>
              <a:lstStyle/>
              <a:p>
                <a:r>
                  <a:rPr lang="ja-JP" altLang="en-US">
                    <a:noFill/>
                  </a:rPr>
                  <a:t> </a:t>
                </a:r>
              </a:p>
            </p:txBody>
          </p:sp>
        </mc:Fallback>
      </mc:AlternateContent>
      <p:sp>
        <p:nvSpPr>
          <p:cNvPr id="11" name="テキスト ボックス 10">
            <a:extLst>
              <a:ext uri="{FF2B5EF4-FFF2-40B4-BE49-F238E27FC236}">
                <a16:creationId xmlns:a16="http://schemas.microsoft.com/office/drawing/2014/main" id="{E17CC6EC-1B73-EA5A-0607-7B2D6EEFE63E}"/>
              </a:ext>
            </a:extLst>
          </p:cNvPr>
          <p:cNvSpPr txBox="1"/>
          <p:nvPr/>
        </p:nvSpPr>
        <p:spPr>
          <a:xfrm>
            <a:off x="864924" y="2686989"/>
            <a:ext cx="2621479" cy="461665"/>
          </a:xfrm>
          <a:prstGeom prst="rect">
            <a:avLst/>
          </a:prstGeom>
          <a:noFill/>
          <a:ln>
            <a:noFill/>
          </a:ln>
        </p:spPr>
        <p:txBody>
          <a:bodyPr wrap="square" rtlCol="0">
            <a:spAutoFit/>
          </a:bodyPr>
          <a:lstStyle/>
          <a:p>
            <a:r>
              <a:rPr lang="en-US" altLang="ja-JP" sz="2400" dirty="0">
                <a:solidFill>
                  <a:schemeClr val="bg1">
                    <a:lumMod val="10000"/>
                  </a:schemeClr>
                </a:solidFill>
                <a:latin typeface="メイリオ" panose="020B0604030504040204" pitchFamily="50" charset="-128"/>
                <a:ea typeface="メイリオ" panose="020B0604030504040204" pitchFamily="50" charset="-128"/>
              </a:rPr>
              <a:t>1</a:t>
            </a:r>
            <a:r>
              <a:rPr lang="ja-JP" altLang="en-US" sz="2400" dirty="0">
                <a:solidFill>
                  <a:schemeClr val="bg1">
                    <a:lumMod val="10000"/>
                  </a:schemeClr>
                </a:solidFill>
                <a:latin typeface="メイリオ" panose="020B0604030504040204" pitchFamily="50" charset="-128"/>
                <a:ea typeface="メイリオ" panose="020B0604030504040204" pitchFamily="50" charset="-128"/>
              </a:rPr>
              <a:t>年間の総コスト</a:t>
            </a:r>
            <a:endParaRPr lang="en-US" altLang="ja-JP" sz="2400" dirty="0">
              <a:solidFill>
                <a:schemeClr val="bg1">
                  <a:lumMod val="10000"/>
                </a:schemeClr>
              </a:solidFill>
              <a:latin typeface="メイリオ" panose="020B0604030504040204" pitchFamily="50" charset="-128"/>
              <a:ea typeface="メイリオ" panose="020B0604030504040204" pitchFamily="50" charset="-128"/>
            </a:endParaRPr>
          </a:p>
        </p:txBody>
      </p:sp>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AA1DB800-11B0-DEC2-6B81-89E56767EF73}"/>
                  </a:ext>
                </a:extLst>
              </p:cNvPr>
              <p:cNvSpPr txBox="1"/>
              <p:nvPr/>
            </p:nvSpPr>
            <p:spPr>
              <a:xfrm>
                <a:off x="8209819" y="2639743"/>
                <a:ext cx="2292904" cy="461665"/>
              </a:xfrm>
              <a:prstGeom prst="rect">
                <a:avLst/>
              </a:prstGeom>
              <a:noFill/>
            </p:spPr>
            <p:txBody>
              <a:bodyPr wrap="square">
                <a:spAutoFit/>
              </a:bodyPr>
              <a:lstStyle/>
              <a:p>
                <a14:m>
                  <m:oMath xmlns:m="http://schemas.openxmlformats.org/officeDocument/2006/math">
                    <m:r>
                      <a:rPr lang="en-US" altLang="ja-JP" sz="2400" b="0" i="1" smtClean="0">
                        <a:solidFill>
                          <a:schemeClr val="bg1">
                            <a:lumMod val="10000"/>
                          </a:schemeClr>
                        </a:solidFill>
                        <a:latin typeface="Cambria Math" panose="02040503050406030204" pitchFamily="18" charset="0"/>
                        <a:ea typeface="メイリオ" panose="020B0604030504040204" pitchFamily="50" charset="-128"/>
                      </a:rPr>
                      <m:t>=</m:t>
                    </m:r>
                    <m:r>
                      <a:rPr lang="en-US" altLang="ja-JP" sz="2400" i="1" smtClean="0">
                        <a:solidFill>
                          <a:schemeClr val="bg1">
                            <a:lumMod val="10000"/>
                          </a:schemeClr>
                        </a:solidFill>
                        <a:latin typeface="Cambria Math" panose="02040503050406030204" pitchFamily="18" charset="0"/>
                        <a:ea typeface="メイリオ" panose="020B0604030504040204" pitchFamily="50" charset="-128"/>
                      </a:rPr>
                      <m:t>8</m:t>
                    </m:r>
                    <m:r>
                      <a:rPr lang="en-US" altLang="ja-JP" sz="2400" b="0" i="1" smtClean="0">
                        <a:solidFill>
                          <a:schemeClr val="bg1">
                            <a:lumMod val="10000"/>
                          </a:schemeClr>
                        </a:solidFill>
                        <a:latin typeface="Cambria Math" panose="02040503050406030204" pitchFamily="18" charset="0"/>
                        <a:ea typeface="メイリオ" panose="020B0604030504040204" pitchFamily="50" charset="-128"/>
                      </a:rPr>
                      <m:t>,431,720</m:t>
                    </m:r>
                  </m:oMath>
                </a14:m>
                <a:r>
                  <a:rPr lang="ja-JP" altLang="en-US" sz="2400" dirty="0">
                    <a:solidFill>
                      <a:schemeClr val="bg1">
                        <a:lumMod val="10000"/>
                      </a:schemeClr>
                    </a:solidFill>
                    <a:latin typeface="メイリオ" panose="020B0604030504040204" pitchFamily="50" charset="-128"/>
                    <a:ea typeface="メイリオ" panose="020B0604030504040204" pitchFamily="50" charset="-128"/>
                  </a:rPr>
                  <a:t>円</a:t>
                </a:r>
              </a:p>
            </p:txBody>
          </p:sp>
        </mc:Choice>
        <mc:Fallback xmlns="">
          <p:sp>
            <p:nvSpPr>
              <p:cNvPr id="16" name="テキスト ボックス 15">
                <a:extLst>
                  <a:ext uri="{FF2B5EF4-FFF2-40B4-BE49-F238E27FC236}">
                    <a16:creationId xmlns:a16="http://schemas.microsoft.com/office/drawing/2014/main" id="{AA1DB800-11B0-DEC2-6B81-89E56767EF73}"/>
                  </a:ext>
                </a:extLst>
              </p:cNvPr>
              <p:cNvSpPr txBox="1">
                <a:spLocks noRot="1" noChangeAspect="1" noMove="1" noResize="1" noEditPoints="1" noAdjustHandles="1" noChangeArrowheads="1" noChangeShapeType="1" noTextEdit="1"/>
              </p:cNvSpPr>
              <p:nvPr/>
            </p:nvSpPr>
            <p:spPr>
              <a:xfrm>
                <a:off x="8209819" y="2639743"/>
                <a:ext cx="2292904" cy="461665"/>
              </a:xfrm>
              <a:prstGeom prst="rect">
                <a:avLst/>
              </a:prstGeom>
              <a:blipFill>
                <a:blip r:embed="rId4"/>
                <a:stretch>
                  <a:fillRect t="-7895" b="-31579"/>
                </a:stretch>
              </a:blipFill>
            </p:spPr>
            <p:txBody>
              <a:bodyPr/>
              <a:lstStyle/>
              <a:p>
                <a:r>
                  <a:rPr lang="ja-JP" altLang="en-US">
                    <a:noFill/>
                  </a:rPr>
                  <a:t> </a:t>
                </a:r>
              </a:p>
            </p:txBody>
          </p:sp>
        </mc:Fallback>
      </mc:AlternateContent>
      <p:sp>
        <p:nvSpPr>
          <p:cNvPr id="17" name="テキスト ボックス 16">
            <a:extLst>
              <a:ext uri="{FF2B5EF4-FFF2-40B4-BE49-F238E27FC236}">
                <a16:creationId xmlns:a16="http://schemas.microsoft.com/office/drawing/2014/main" id="{59F3D63C-CAF1-8127-100A-0E85528C00ED}"/>
              </a:ext>
            </a:extLst>
          </p:cNvPr>
          <p:cNvSpPr txBox="1"/>
          <p:nvPr/>
        </p:nvSpPr>
        <p:spPr>
          <a:xfrm>
            <a:off x="864924" y="3729961"/>
            <a:ext cx="4600911" cy="461665"/>
          </a:xfrm>
          <a:prstGeom prst="rect">
            <a:avLst/>
          </a:prstGeom>
          <a:noFill/>
          <a:ln>
            <a:noFill/>
          </a:ln>
        </p:spPr>
        <p:txBody>
          <a:bodyPr wrap="square" rtlCol="0">
            <a:spAutoFit/>
          </a:bodyPr>
          <a:lstStyle/>
          <a:p>
            <a:r>
              <a:rPr lang="en-US" altLang="ja-JP" sz="2400" dirty="0">
                <a:solidFill>
                  <a:schemeClr val="bg1">
                    <a:lumMod val="10000"/>
                  </a:schemeClr>
                </a:solidFill>
                <a:latin typeface="メイリオ" panose="020B0604030504040204" pitchFamily="50" charset="-128"/>
                <a:ea typeface="メイリオ" panose="020B0604030504040204" pitchFamily="50" charset="-128"/>
              </a:rPr>
              <a:t>1</a:t>
            </a:r>
            <a:r>
              <a:rPr lang="ja-JP" altLang="en-US" sz="2400" dirty="0">
                <a:solidFill>
                  <a:schemeClr val="bg1">
                    <a:lumMod val="10000"/>
                  </a:schemeClr>
                </a:solidFill>
                <a:latin typeface="メイリオ" panose="020B0604030504040204" pitchFamily="50" charset="-128"/>
                <a:ea typeface="メイリオ" panose="020B0604030504040204" pitchFamily="50" charset="-128"/>
              </a:rPr>
              <a:t>回</a:t>
            </a:r>
            <a:r>
              <a:rPr lang="en-US" altLang="ja-JP" sz="2400" dirty="0">
                <a:solidFill>
                  <a:schemeClr val="bg1">
                    <a:lumMod val="10000"/>
                  </a:schemeClr>
                </a:solidFill>
                <a:latin typeface="メイリオ" panose="020B0604030504040204" pitchFamily="50" charset="-128"/>
                <a:ea typeface="メイリオ" panose="020B0604030504040204" pitchFamily="50" charset="-128"/>
              </a:rPr>
              <a:t>600kg,</a:t>
            </a:r>
            <a:r>
              <a:rPr lang="ja-JP" altLang="en-US" sz="2400" dirty="0">
                <a:solidFill>
                  <a:schemeClr val="bg1">
                    <a:lumMod val="10000"/>
                  </a:schemeClr>
                </a:solidFill>
                <a:latin typeface="メイリオ" panose="020B0604030504040204" pitchFamily="50" charset="-128"/>
                <a:ea typeface="メイリオ" panose="020B0604030504040204" pitchFamily="50" charset="-128"/>
              </a:rPr>
              <a:t>年</a:t>
            </a:r>
            <a:r>
              <a:rPr lang="en-US" altLang="ja-JP" sz="2400" dirty="0">
                <a:solidFill>
                  <a:schemeClr val="bg1">
                    <a:lumMod val="10000"/>
                  </a:schemeClr>
                </a:solidFill>
                <a:latin typeface="メイリオ" panose="020B0604030504040204" pitchFamily="50" charset="-128"/>
                <a:ea typeface="メイリオ" panose="020B0604030504040204" pitchFamily="50" charset="-128"/>
              </a:rPr>
              <a:t>17</a:t>
            </a:r>
            <a:r>
              <a:rPr lang="ja-JP" altLang="en-US" sz="2400" dirty="0">
                <a:solidFill>
                  <a:schemeClr val="bg1">
                    <a:lumMod val="10000"/>
                  </a:schemeClr>
                </a:solidFill>
                <a:latin typeface="メイリオ" panose="020B0604030504040204" pitchFamily="50" charset="-128"/>
                <a:ea typeface="メイリオ" panose="020B0604030504040204" pitchFamily="50" charset="-128"/>
              </a:rPr>
              <a:t>回の収穫が可能</a:t>
            </a:r>
            <a:endParaRPr lang="en-US" altLang="ja-JP" sz="2400" dirty="0">
              <a:solidFill>
                <a:schemeClr val="bg1">
                  <a:lumMod val="10000"/>
                </a:schemeClr>
              </a:solidFill>
              <a:latin typeface="メイリオ" panose="020B0604030504040204" pitchFamily="50" charset="-128"/>
              <a:ea typeface="メイリオ" panose="020B0604030504040204" pitchFamily="50" charset="-128"/>
            </a:endParaRPr>
          </a:p>
        </p:txBody>
      </p:sp>
      <p:sp>
        <p:nvSpPr>
          <p:cNvPr id="18" name="二等辺三角形 17">
            <a:extLst>
              <a:ext uri="{FF2B5EF4-FFF2-40B4-BE49-F238E27FC236}">
                <a16:creationId xmlns:a16="http://schemas.microsoft.com/office/drawing/2014/main" id="{0E63BBFA-F86F-491E-9C8A-9FB8A10E0E0A}"/>
              </a:ext>
            </a:extLst>
          </p:cNvPr>
          <p:cNvSpPr/>
          <p:nvPr/>
        </p:nvSpPr>
        <p:spPr>
          <a:xfrm rot="5400000">
            <a:off x="5561418" y="3747072"/>
            <a:ext cx="365509" cy="322743"/>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8F60B355-3282-9F68-ECCF-4BCE6CF26B4B}"/>
                  </a:ext>
                </a:extLst>
              </p:cNvPr>
              <p:cNvSpPr txBox="1"/>
              <p:nvPr/>
            </p:nvSpPr>
            <p:spPr>
              <a:xfrm>
                <a:off x="6030076" y="3698483"/>
                <a:ext cx="4803497" cy="830997"/>
              </a:xfrm>
              <a:prstGeom prst="rect">
                <a:avLst/>
              </a:prstGeom>
              <a:noFill/>
              <a:ln>
                <a:noFill/>
              </a:ln>
            </p:spPr>
            <p:txBody>
              <a:bodyPr wrap="square" rtlCol="0">
                <a:spAutoFit/>
              </a:bodyPr>
              <a:lstStyle/>
              <a:p>
                <a:r>
                  <a:rPr lang="en-US" altLang="ja-JP" sz="2400" dirty="0">
                    <a:solidFill>
                      <a:schemeClr val="bg1">
                        <a:lumMod val="10000"/>
                      </a:schemeClr>
                    </a:solidFill>
                    <a:latin typeface="メイリオ" panose="020B0604030504040204" pitchFamily="50" charset="-128"/>
                    <a:ea typeface="メイリオ" panose="020B0604030504040204" pitchFamily="50" charset="-128"/>
                  </a:rPr>
                  <a:t>1</a:t>
                </a:r>
                <a:r>
                  <a:rPr lang="ja-JP" altLang="en-US" sz="2400" dirty="0">
                    <a:solidFill>
                      <a:schemeClr val="bg1">
                        <a:lumMod val="10000"/>
                      </a:schemeClr>
                    </a:solidFill>
                    <a:latin typeface="メイリオ" panose="020B0604030504040204" pitchFamily="50" charset="-128"/>
                    <a:ea typeface="メイリオ" panose="020B0604030504040204" pitchFamily="50" charset="-128"/>
                  </a:rPr>
                  <a:t>年間で</a:t>
                </a:r>
                <a14:m>
                  <m:oMath xmlns:m="http://schemas.openxmlformats.org/officeDocument/2006/math">
                    <m:r>
                      <a:rPr lang="en-US" altLang="ja-JP" sz="2400" i="1" dirty="0" smtClean="0">
                        <a:solidFill>
                          <a:schemeClr val="bg1">
                            <a:lumMod val="10000"/>
                          </a:schemeClr>
                        </a:solidFill>
                        <a:latin typeface="Cambria Math" panose="02040503050406030204" pitchFamily="18" charset="0"/>
                        <a:ea typeface="メイリオ" panose="020B0604030504040204" pitchFamily="50" charset="-128"/>
                      </a:rPr>
                      <m:t>1</m:t>
                    </m:r>
                    <m:r>
                      <a:rPr lang="en-US" altLang="ja-JP" sz="2400" b="0" i="1" dirty="0" smtClean="0">
                        <a:solidFill>
                          <a:schemeClr val="bg1">
                            <a:lumMod val="10000"/>
                          </a:schemeClr>
                        </a:solidFill>
                        <a:latin typeface="Cambria Math" panose="02040503050406030204" pitchFamily="18" charset="0"/>
                        <a:ea typeface="メイリオ" panose="020B0604030504040204" pitchFamily="50" charset="-128"/>
                      </a:rPr>
                      <m:t>0,200</m:t>
                    </m:r>
                    <m:r>
                      <m:rPr>
                        <m:sty m:val="p"/>
                      </m:rPr>
                      <a:rPr lang="en-US" altLang="ja-JP" sz="2400" b="0" i="0" dirty="0" smtClean="0">
                        <a:solidFill>
                          <a:schemeClr val="bg1">
                            <a:lumMod val="10000"/>
                          </a:schemeClr>
                        </a:solidFill>
                        <a:latin typeface="Cambria Math" panose="02040503050406030204" pitchFamily="18" charset="0"/>
                        <a:ea typeface="メイリオ" panose="020B0604030504040204" pitchFamily="50" charset="-128"/>
                      </a:rPr>
                      <m:t>kg</m:t>
                    </m:r>
                  </m:oMath>
                </a14:m>
                <a:r>
                  <a:rPr lang="ja-JP" altLang="en-US" sz="2400" dirty="0">
                    <a:solidFill>
                      <a:schemeClr val="bg1">
                        <a:lumMod val="10000"/>
                      </a:schemeClr>
                    </a:solidFill>
                    <a:latin typeface="メイリオ" panose="020B0604030504040204" pitchFamily="50" charset="-128"/>
                    <a:ea typeface="メイリオ" panose="020B0604030504040204" pitchFamily="50" charset="-128"/>
                  </a:rPr>
                  <a:t>のレタスを収穫</a:t>
                </a:r>
              </a:p>
              <a:p>
                <a:endParaRPr lang="en-US" altLang="ja-JP" sz="2400" dirty="0">
                  <a:solidFill>
                    <a:schemeClr val="bg1">
                      <a:lumMod val="10000"/>
                    </a:schemeClr>
                  </a:solidFill>
                  <a:latin typeface="メイリオ" panose="020B0604030504040204" pitchFamily="50" charset="-128"/>
                  <a:ea typeface="メイリオ" panose="020B0604030504040204" pitchFamily="50" charset="-128"/>
                </a:endParaRPr>
              </a:p>
            </p:txBody>
          </p:sp>
        </mc:Choice>
        <mc:Fallback xmlns="">
          <p:sp>
            <p:nvSpPr>
              <p:cNvPr id="19" name="テキスト ボックス 18">
                <a:extLst>
                  <a:ext uri="{FF2B5EF4-FFF2-40B4-BE49-F238E27FC236}">
                    <a16:creationId xmlns:a16="http://schemas.microsoft.com/office/drawing/2014/main" id="{8F60B355-3282-9F68-ECCF-4BCE6CF26B4B}"/>
                  </a:ext>
                </a:extLst>
              </p:cNvPr>
              <p:cNvSpPr txBox="1">
                <a:spLocks noRot="1" noChangeAspect="1" noMove="1" noResize="1" noEditPoints="1" noAdjustHandles="1" noChangeArrowheads="1" noChangeShapeType="1" noTextEdit="1"/>
              </p:cNvSpPr>
              <p:nvPr/>
            </p:nvSpPr>
            <p:spPr>
              <a:xfrm>
                <a:off x="6030076" y="3698483"/>
                <a:ext cx="4803497" cy="830997"/>
              </a:xfrm>
              <a:prstGeom prst="rect">
                <a:avLst/>
              </a:prstGeom>
              <a:blipFill>
                <a:blip r:embed="rId5"/>
                <a:stretch>
                  <a:fillRect l="-1904" t="-4412"/>
                </a:stretch>
              </a:blipFill>
              <a:ln>
                <a:no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B3E00C44-7810-90DC-A5C8-391F1D62C22B}"/>
                  </a:ext>
                </a:extLst>
              </p:cNvPr>
              <p:cNvSpPr txBox="1"/>
              <p:nvPr/>
            </p:nvSpPr>
            <p:spPr>
              <a:xfrm>
                <a:off x="3188186" y="4356130"/>
                <a:ext cx="5815627" cy="523220"/>
              </a:xfrm>
              <a:prstGeom prst="rect">
                <a:avLst/>
              </a:prstGeom>
              <a:noFill/>
              <a:ln>
                <a:noFill/>
              </a:ln>
            </p:spPr>
            <p:txBody>
              <a:bodyPr wrap="square" rtlCol="0">
                <a:spAutoFit/>
              </a:bodyPr>
              <a:lstStyle/>
              <a:p>
                <a:r>
                  <a:rPr lang="en-US" altLang="ja-JP" sz="2800" dirty="0">
                    <a:solidFill>
                      <a:schemeClr val="bg1">
                        <a:lumMod val="10000"/>
                      </a:schemeClr>
                    </a:solidFill>
                    <a:latin typeface="メイリオ" panose="020B0604030504040204" pitchFamily="50" charset="-128"/>
                    <a:ea typeface="メイリオ" panose="020B0604030504040204" pitchFamily="50" charset="-128"/>
                  </a:rPr>
                  <a:t>1kg</a:t>
                </a:r>
                <a:r>
                  <a:rPr lang="ja-JP" altLang="en-US" sz="2800" dirty="0">
                    <a:solidFill>
                      <a:schemeClr val="bg1">
                        <a:lumMod val="10000"/>
                      </a:schemeClr>
                    </a:solidFill>
                    <a:latin typeface="メイリオ" panose="020B0604030504040204" pitchFamily="50" charset="-128"/>
                    <a:ea typeface="メイリオ" panose="020B0604030504040204" pitchFamily="50" charset="-128"/>
                  </a:rPr>
                  <a:t>あたり</a:t>
                </a:r>
                <a14:m>
                  <m:oMath xmlns:m="http://schemas.openxmlformats.org/officeDocument/2006/math">
                    <m:r>
                      <a:rPr lang="en-US" altLang="ja-JP" sz="2800" b="0" i="1" smtClean="0">
                        <a:solidFill>
                          <a:srgbClr val="FF0000"/>
                        </a:solidFill>
                        <a:latin typeface="Cambria Math" panose="02040503050406030204" pitchFamily="18" charset="0"/>
                        <a:ea typeface="Cambria Math" panose="02040503050406030204" pitchFamily="18" charset="0"/>
                      </a:rPr>
                      <m:t>826.6</m:t>
                    </m:r>
                  </m:oMath>
                </a14:m>
                <a:r>
                  <a:rPr lang="ja-JP" altLang="en-US" sz="2800" dirty="0">
                    <a:solidFill>
                      <a:srgbClr val="FF0000"/>
                    </a:solidFill>
                    <a:latin typeface="メイリオ" panose="020B0604030504040204" pitchFamily="50" charset="-128"/>
                    <a:ea typeface="メイリオ" panose="020B0604030504040204" pitchFamily="50" charset="-128"/>
                  </a:rPr>
                  <a:t>円</a:t>
                </a:r>
                <a:r>
                  <a:rPr lang="ja-JP" altLang="en-US" sz="2800" dirty="0">
                    <a:solidFill>
                      <a:schemeClr val="bg1">
                        <a:lumMod val="10000"/>
                      </a:schemeClr>
                    </a:solidFill>
                    <a:latin typeface="メイリオ" panose="020B0604030504040204" pitchFamily="50" charset="-128"/>
                    <a:ea typeface="メイリオ" panose="020B0604030504040204" pitchFamily="50" charset="-128"/>
                  </a:rPr>
                  <a:t>での販売で黒字</a:t>
                </a:r>
              </a:p>
            </p:txBody>
          </p:sp>
        </mc:Choice>
        <mc:Fallback xmlns="">
          <p:sp>
            <p:nvSpPr>
              <p:cNvPr id="21" name="テキスト ボックス 20">
                <a:extLst>
                  <a:ext uri="{FF2B5EF4-FFF2-40B4-BE49-F238E27FC236}">
                    <a16:creationId xmlns:a16="http://schemas.microsoft.com/office/drawing/2014/main" id="{B3E00C44-7810-90DC-A5C8-391F1D62C22B}"/>
                  </a:ext>
                </a:extLst>
              </p:cNvPr>
              <p:cNvSpPr txBox="1">
                <a:spLocks noRot="1" noChangeAspect="1" noMove="1" noResize="1" noEditPoints="1" noAdjustHandles="1" noChangeArrowheads="1" noChangeShapeType="1" noTextEdit="1"/>
              </p:cNvSpPr>
              <p:nvPr/>
            </p:nvSpPr>
            <p:spPr>
              <a:xfrm>
                <a:off x="3188186" y="4356130"/>
                <a:ext cx="5815627" cy="523220"/>
              </a:xfrm>
              <a:prstGeom prst="rect">
                <a:avLst/>
              </a:prstGeom>
              <a:blipFill>
                <a:blip r:embed="rId6"/>
                <a:stretch>
                  <a:fillRect l="-2201" t="-10588" b="-35294"/>
                </a:stretch>
              </a:blipFill>
              <a:ln>
                <a:noFill/>
              </a:ln>
            </p:spPr>
            <p:txBody>
              <a:bodyPr/>
              <a:lstStyle/>
              <a:p>
                <a:r>
                  <a:rPr lang="ja-JP" altLang="en-US">
                    <a:noFill/>
                  </a:rPr>
                  <a:t> </a:t>
                </a:r>
              </a:p>
            </p:txBody>
          </p:sp>
        </mc:Fallback>
      </mc:AlternateContent>
      <p:sp>
        <p:nvSpPr>
          <p:cNvPr id="4" name="テキスト プレースホルダー 3">
            <a:extLst>
              <a:ext uri="{FF2B5EF4-FFF2-40B4-BE49-F238E27FC236}">
                <a16:creationId xmlns:a16="http://schemas.microsoft.com/office/drawing/2014/main" id="{DD00887A-3993-BEE4-FF6C-33B18D7DCC00}"/>
              </a:ext>
            </a:extLst>
          </p:cNvPr>
          <p:cNvSpPr>
            <a:spLocks noGrp="1"/>
          </p:cNvSpPr>
          <p:nvPr>
            <p:ph type="body" sz="quarter" idx="12"/>
          </p:nvPr>
        </p:nvSpPr>
        <p:spPr>
          <a:xfrm>
            <a:off x="448031" y="6543128"/>
            <a:ext cx="7039588" cy="307778"/>
          </a:xfrm>
        </p:spPr>
        <p:txBody>
          <a:bodyPr/>
          <a:lstStyle/>
          <a:p>
            <a:r>
              <a:rPr lang="en-US" altLang="ja-JP" sz="1200" dirty="0">
                <a:solidFill>
                  <a:schemeClr val="tx1"/>
                </a:solidFill>
                <a:hlinkClick r:id="rId7">
                  <a:extLst>
                    <a:ext uri="{A12FA001-AC4F-418D-AE19-62706E023703}">
                      <ahyp:hlinkClr xmlns:ahyp="http://schemas.microsoft.com/office/drawing/2018/hyperlinkcolor" val="tx"/>
                    </a:ext>
                  </a:extLst>
                </a:hlinkClick>
              </a:rPr>
              <a:t>[3]</a:t>
            </a:r>
            <a:r>
              <a:rPr lang="ja-JP" altLang="en-US" sz="1200" dirty="0">
                <a:solidFill>
                  <a:schemeClr val="tx1"/>
                </a:solidFill>
              </a:rPr>
              <a:t>一般社団法人日本施設園芸協会，大規模施設園芸・植物工場 実態調査・事例調査，令和</a:t>
            </a:r>
            <a:r>
              <a:rPr lang="en-US" altLang="ja-JP" sz="1200" dirty="0">
                <a:solidFill>
                  <a:schemeClr val="tx1"/>
                </a:solidFill>
              </a:rPr>
              <a:t>7</a:t>
            </a:r>
            <a:r>
              <a:rPr lang="ja-JP" altLang="en-US" sz="1200" dirty="0">
                <a:solidFill>
                  <a:schemeClr val="tx1"/>
                </a:solidFill>
              </a:rPr>
              <a:t>年</a:t>
            </a:r>
            <a:r>
              <a:rPr lang="en-US" altLang="ja-JP" sz="1200" dirty="0">
                <a:solidFill>
                  <a:schemeClr val="tx1"/>
                </a:solidFill>
              </a:rPr>
              <a:t>3</a:t>
            </a:r>
            <a:r>
              <a:rPr lang="ja-JP" altLang="en-US" sz="1200" dirty="0">
                <a:solidFill>
                  <a:schemeClr val="tx1"/>
                </a:solidFill>
              </a:rPr>
              <a:t>月</a:t>
            </a:r>
            <a:endParaRPr kumimoji="1" lang="ja-JP" altLang="en-US" sz="1200" dirty="0">
              <a:solidFill>
                <a:schemeClr val="tx1"/>
              </a:solidFill>
            </a:endParaRPr>
          </a:p>
        </p:txBody>
      </p:sp>
      <p:sp>
        <p:nvSpPr>
          <p:cNvPr id="8" name="テキスト ボックス 7">
            <a:extLst>
              <a:ext uri="{FF2B5EF4-FFF2-40B4-BE49-F238E27FC236}">
                <a16:creationId xmlns:a16="http://schemas.microsoft.com/office/drawing/2014/main" id="{5D82851D-DE11-8EC5-137B-D17AFF147918}"/>
              </a:ext>
            </a:extLst>
          </p:cNvPr>
          <p:cNvSpPr txBox="1"/>
          <p:nvPr/>
        </p:nvSpPr>
        <p:spPr>
          <a:xfrm>
            <a:off x="3486403" y="3086209"/>
            <a:ext cx="2268489" cy="461665"/>
          </a:xfrm>
          <a:prstGeom prst="rect">
            <a:avLst/>
          </a:prstGeom>
          <a:noFill/>
          <a:ln>
            <a:noFill/>
          </a:ln>
        </p:spPr>
        <p:txBody>
          <a:bodyPr wrap="square" rtlCol="0">
            <a:spAutoFit/>
          </a:bodyPr>
          <a:lstStyle/>
          <a:p>
            <a:r>
              <a:rPr lang="en-US" altLang="ja-JP" sz="2400" dirty="0">
                <a:solidFill>
                  <a:schemeClr val="bg1">
                    <a:lumMod val="10000"/>
                  </a:schemeClr>
                </a:solidFill>
                <a:latin typeface="メイリオ" panose="020B0604030504040204" pitchFamily="50" charset="-128"/>
                <a:ea typeface="メイリオ" panose="020B0604030504040204" pitchFamily="50" charset="-128"/>
              </a:rPr>
              <a:t>1</a:t>
            </a:r>
            <a:r>
              <a:rPr lang="ja-JP" altLang="en-US" sz="2400" dirty="0">
                <a:solidFill>
                  <a:schemeClr val="bg1">
                    <a:lumMod val="10000"/>
                  </a:schemeClr>
                </a:solidFill>
                <a:latin typeface="メイリオ" panose="020B0604030504040204" pitchFamily="50" charset="-128"/>
                <a:ea typeface="メイリオ" panose="020B0604030504040204" pitchFamily="50" charset="-128"/>
              </a:rPr>
              <a:t>年間の電気代</a:t>
            </a:r>
            <a:endParaRPr lang="en-US" altLang="ja-JP" sz="2400" dirty="0">
              <a:solidFill>
                <a:schemeClr val="bg1">
                  <a:lumMod val="10000"/>
                </a:schemeClr>
              </a:solidFill>
              <a:latin typeface="メイリオ" panose="020B0604030504040204" pitchFamily="50" charset="-128"/>
              <a:ea typeface="メイリオ" panose="020B0604030504040204" pitchFamily="50" charset="-128"/>
            </a:endParaRPr>
          </a:p>
        </p:txBody>
      </p:sp>
      <p:pic>
        <p:nvPicPr>
          <p:cNvPr id="10" name="図 9" descr="グラフィカル ユーザー インターフェイス, テキスト, テーブル&#10;&#10;AI 生成コンテンツは誤りを含む可能性があります。">
            <a:extLst>
              <a:ext uri="{FF2B5EF4-FFF2-40B4-BE49-F238E27FC236}">
                <a16:creationId xmlns:a16="http://schemas.microsoft.com/office/drawing/2014/main" id="{5D9B41B5-415D-C607-644D-152B055FA70B}"/>
              </a:ext>
            </a:extLst>
          </p:cNvPr>
          <p:cNvPicPr>
            <a:picLocks noChangeAspect="1"/>
          </p:cNvPicPr>
          <p:nvPr/>
        </p:nvPicPr>
        <p:blipFill>
          <a:blip r:embed="rId8"/>
          <a:stretch>
            <a:fillRect/>
          </a:stretch>
        </p:blipFill>
        <p:spPr>
          <a:xfrm>
            <a:off x="1235721" y="1024451"/>
            <a:ext cx="9405106" cy="1640272"/>
          </a:xfrm>
          <a:prstGeom prst="rect">
            <a:avLst/>
          </a:prstGeom>
        </p:spPr>
      </p:pic>
      <p:sp>
        <p:nvSpPr>
          <p:cNvPr id="13" name="テキスト ボックス 12">
            <a:extLst>
              <a:ext uri="{FF2B5EF4-FFF2-40B4-BE49-F238E27FC236}">
                <a16:creationId xmlns:a16="http://schemas.microsoft.com/office/drawing/2014/main" id="{1F552B20-7EED-E998-E1C4-AF549F5EA4D3}"/>
              </a:ext>
            </a:extLst>
          </p:cNvPr>
          <p:cNvSpPr txBox="1"/>
          <p:nvPr/>
        </p:nvSpPr>
        <p:spPr>
          <a:xfrm>
            <a:off x="4287080" y="673341"/>
            <a:ext cx="1227790" cy="461665"/>
          </a:xfrm>
          <a:prstGeom prst="rect">
            <a:avLst/>
          </a:prstGeom>
          <a:noFill/>
          <a:ln>
            <a:noFill/>
          </a:ln>
        </p:spPr>
        <p:txBody>
          <a:bodyPr wrap="square" rtlCol="0">
            <a:spAutoFit/>
          </a:bodyPr>
          <a:lstStyle/>
          <a:p>
            <a:r>
              <a:rPr lang="ja-JP" altLang="en-US" sz="2400" b="1" dirty="0">
                <a:solidFill>
                  <a:schemeClr val="bg1">
                    <a:lumMod val="10000"/>
                  </a:schemeClr>
                </a:solidFill>
                <a:latin typeface="メイリオ" panose="020B0604030504040204" pitchFamily="50" charset="-128"/>
                <a:ea typeface="メイリオ" panose="020B0604030504040204" pitchFamily="50" charset="-128"/>
              </a:rPr>
              <a:t>春・秋</a:t>
            </a:r>
            <a:endParaRPr lang="en-US" altLang="ja-JP" sz="2400" b="1" dirty="0">
              <a:solidFill>
                <a:schemeClr val="bg1">
                  <a:lumMod val="10000"/>
                </a:schemeClr>
              </a:solidFill>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6277690C-AA04-0870-44C0-6E032AF55143}"/>
              </a:ext>
            </a:extLst>
          </p:cNvPr>
          <p:cNvSpPr txBox="1"/>
          <p:nvPr/>
        </p:nvSpPr>
        <p:spPr>
          <a:xfrm>
            <a:off x="6906118" y="662812"/>
            <a:ext cx="581501" cy="461665"/>
          </a:xfrm>
          <a:prstGeom prst="rect">
            <a:avLst/>
          </a:prstGeom>
          <a:noFill/>
          <a:ln>
            <a:noFill/>
          </a:ln>
        </p:spPr>
        <p:txBody>
          <a:bodyPr wrap="square" rtlCol="0">
            <a:spAutoFit/>
          </a:bodyPr>
          <a:lstStyle/>
          <a:p>
            <a:r>
              <a:rPr lang="ja-JP" altLang="en-US" sz="2400" b="1" dirty="0">
                <a:solidFill>
                  <a:schemeClr val="bg1">
                    <a:lumMod val="10000"/>
                  </a:schemeClr>
                </a:solidFill>
                <a:latin typeface="メイリオ" panose="020B0604030504040204" pitchFamily="50" charset="-128"/>
                <a:ea typeface="メイリオ" panose="020B0604030504040204" pitchFamily="50" charset="-128"/>
              </a:rPr>
              <a:t>冬</a:t>
            </a:r>
            <a:endParaRPr lang="en-US" altLang="ja-JP" sz="2400" b="1" dirty="0">
              <a:solidFill>
                <a:schemeClr val="bg1">
                  <a:lumMod val="10000"/>
                </a:schemeClr>
              </a:solidFill>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952A3F53-D95C-5CF2-70F7-66C651D440B2}"/>
              </a:ext>
            </a:extLst>
          </p:cNvPr>
          <p:cNvSpPr txBox="1"/>
          <p:nvPr/>
        </p:nvSpPr>
        <p:spPr>
          <a:xfrm>
            <a:off x="9239024" y="652745"/>
            <a:ext cx="581501" cy="461665"/>
          </a:xfrm>
          <a:prstGeom prst="rect">
            <a:avLst/>
          </a:prstGeom>
          <a:noFill/>
          <a:ln>
            <a:noFill/>
          </a:ln>
        </p:spPr>
        <p:txBody>
          <a:bodyPr wrap="square" rtlCol="0">
            <a:spAutoFit/>
          </a:bodyPr>
          <a:lstStyle/>
          <a:p>
            <a:r>
              <a:rPr lang="ja-JP" altLang="en-US" sz="2400" b="1" dirty="0">
                <a:solidFill>
                  <a:schemeClr val="bg1">
                    <a:lumMod val="10000"/>
                  </a:schemeClr>
                </a:solidFill>
                <a:latin typeface="メイリオ" panose="020B0604030504040204" pitchFamily="50" charset="-128"/>
                <a:ea typeface="メイリオ" panose="020B0604030504040204" pitchFamily="50" charset="-128"/>
              </a:rPr>
              <a:t>夏</a:t>
            </a:r>
            <a:endParaRPr lang="en-US" altLang="ja-JP" sz="2400" b="1" dirty="0">
              <a:solidFill>
                <a:schemeClr val="bg1">
                  <a:lumMod val="10000"/>
                </a:schemeClr>
              </a:solidFill>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93501485-F842-F890-C19C-5F47353D8927}"/>
              </a:ext>
            </a:extLst>
          </p:cNvPr>
          <p:cNvSpPr txBox="1"/>
          <p:nvPr/>
        </p:nvSpPr>
        <p:spPr>
          <a:xfrm>
            <a:off x="6547083" y="2664125"/>
            <a:ext cx="718069" cy="461665"/>
          </a:xfrm>
          <a:prstGeom prst="rect">
            <a:avLst/>
          </a:prstGeom>
          <a:noFill/>
        </p:spPr>
        <p:txBody>
          <a:bodyPr wrap="square">
            <a:spAutoFit/>
          </a:bodyPr>
          <a:lstStyle/>
          <a:p>
            <a:r>
              <a:rPr lang="en-US" altLang="ja-JP" sz="2400" dirty="0">
                <a:solidFill>
                  <a:schemeClr val="bg1">
                    <a:lumMod val="10000"/>
                  </a:schemeClr>
                </a:solidFill>
                <a:latin typeface="メイリオ" panose="020B0604030504040204" pitchFamily="50" charset="-128"/>
                <a:ea typeface="メイリオ" panose="020B0604030504040204" pitchFamily="50" charset="-128"/>
              </a:rPr>
              <a:t>×</a:t>
            </a:r>
            <a:r>
              <a:rPr lang="en-US" altLang="ja-JP" sz="2400" u="sng" dirty="0">
                <a:solidFill>
                  <a:schemeClr val="bg1">
                    <a:lumMod val="10000"/>
                  </a:schemeClr>
                </a:solidFill>
                <a:latin typeface="メイリオ" panose="020B0604030504040204" pitchFamily="50" charset="-128"/>
                <a:ea typeface="メイリオ" panose="020B0604030504040204" pitchFamily="50" charset="-128"/>
              </a:rPr>
              <a:t>4</a:t>
            </a:r>
            <a:endParaRPr lang="ja-JP" altLang="en-US" sz="2400" u="sng" dirty="0">
              <a:solidFill>
                <a:schemeClr val="bg1">
                  <a:lumMod val="10000"/>
                </a:schemeClr>
              </a:solidFill>
              <a:latin typeface="メイリオ" panose="020B0604030504040204" pitchFamily="50" charset="-128"/>
              <a:ea typeface="メイリオ" panose="020B0604030504040204" pitchFamily="50" charset="-128"/>
            </a:endParaRPr>
          </a:p>
        </p:txBody>
      </p:sp>
      <p:sp>
        <p:nvSpPr>
          <p:cNvPr id="23" name="テキスト ボックス 22">
            <a:extLst>
              <a:ext uri="{FF2B5EF4-FFF2-40B4-BE49-F238E27FC236}">
                <a16:creationId xmlns:a16="http://schemas.microsoft.com/office/drawing/2014/main" id="{5E4C8A37-4F46-18B9-CBE9-A208B38A27BB}"/>
              </a:ext>
            </a:extLst>
          </p:cNvPr>
          <p:cNvSpPr txBox="1"/>
          <p:nvPr/>
        </p:nvSpPr>
        <p:spPr>
          <a:xfrm>
            <a:off x="1451354" y="5176161"/>
            <a:ext cx="2449404" cy="461665"/>
          </a:xfrm>
          <a:prstGeom prst="rect">
            <a:avLst/>
          </a:prstGeom>
          <a:noFill/>
          <a:ln>
            <a:noFill/>
          </a:ln>
        </p:spPr>
        <p:txBody>
          <a:bodyPr wrap="square" rtlCol="0">
            <a:spAutoFit/>
          </a:bodyPr>
          <a:lstStyle/>
          <a:p>
            <a:r>
              <a:rPr lang="ja-JP" altLang="en-US" sz="2400" dirty="0">
                <a:solidFill>
                  <a:schemeClr val="bg1">
                    <a:lumMod val="10000"/>
                  </a:schemeClr>
                </a:solidFill>
                <a:latin typeface="メイリオ" panose="020B0604030504040204" pitchFamily="50" charset="-128"/>
                <a:ea typeface="メイリオ" panose="020B0604030504040204" pitchFamily="50" charset="-128"/>
              </a:rPr>
              <a:t>実際の取引価格</a:t>
            </a:r>
            <a:endParaRPr lang="en-US" altLang="ja-JP" sz="2400" dirty="0">
              <a:solidFill>
                <a:schemeClr val="bg1">
                  <a:lumMod val="10000"/>
                </a:schemeClr>
              </a:solidFill>
              <a:latin typeface="メイリオ" panose="020B0604030504040204" pitchFamily="50" charset="-128"/>
              <a:ea typeface="メイリオ" panose="020B0604030504040204" pitchFamily="50" charset="-128"/>
            </a:endParaRPr>
          </a:p>
        </p:txBody>
      </p:sp>
      <p:sp>
        <p:nvSpPr>
          <p:cNvPr id="24" name="テキスト ボックス 23">
            <a:extLst>
              <a:ext uri="{FF2B5EF4-FFF2-40B4-BE49-F238E27FC236}">
                <a16:creationId xmlns:a16="http://schemas.microsoft.com/office/drawing/2014/main" id="{794F6C58-6F48-AD73-36D1-DC6D793A12C0}"/>
              </a:ext>
            </a:extLst>
          </p:cNvPr>
          <p:cNvSpPr txBox="1"/>
          <p:nvPr/>
        </p:nvSpPr>
        <p:spPr>
          <a:xfrm>
            <a:off x="4076572" y="5174583"/>
            <a:ext cx="3716112" cy="461665"/>
          </a:xfrm>
          <a:prstGeom prst="rect">
            <a:avLst/>
          </a:prstGeom>
          <a:noFill/>
          <a:ln>
            <a:noFill/>
          </a:ln>
        </p:spPr>
        <p:txBody>
          <a:bodyPr wrap="square" rtlCol="0">
            <a:spAutoFit/>
          </a:bodyPr>
          <a:lstStyle/>
          <a:p>
            <a:r>
              <a:rPr lang="en-US" altLang="ja-JP" sz="2400" dirty="0">
                <a:solidFill>
                  <a:schemeClr val="bg1">
                    <a:lumMod val="10000"/>
                  </a:schemeClr>
                </a:solidFill>
                <a:latin typeface="メイリオ" panose="020B0604030504040204" pitchFamily="50" charset="-128"/>
                <a:ea typeface="メイリオ" panose="020B0604030504040204" pitchFamily="50" charset="-128"/>
              </a:rPr>
              <a:t>1kg</a:t>
            </a:r>
            <a:r>
              <a:rPr lang="ja-JP" altLang="en-US" sz="2400" dirty="0">
                <a:solidFill>
                  <a:schemeClr val="bg1">
                    <a:lumMod val="10000"/>
                  </a:schemeClr>
                </a:solidFill>
                <a:latin typeface="メイリオ" panose="020B0604030504040204" pitchFamily="50" charset="-128"/>
                <a:ea typeface="メイリオ" panose="020B0604030504040204" pitchFamily="50" charset="-128"/>
              </a:rPr>
              <a:t>あたり</a:t>
            </a:r>
            <a:r>
              <a:rPr lang="en-US" altLang="ja-JP" sz="2400" dirty="0">
                <a:solidFill>
                  <a:schemeClr val="bg1">
                    <a:lumMod val="10000"/>
                  </a:schemeClr>
                </a:solidFill>
                <a:latin typeface="メイリオ" panose="020B0604030504040204" pitchFamily="50" charset="-128"/>
                <a:ea typeface="メイリオ" panose="020B0604030504040204" pitchFamily="50" charset="-128"/>
              </a:rPr>
              <a:t>800~1000</a:t>
            </a:r>
            <a:r>
              <a:rPr lang="ja-JP" altLang="en-US" sz="2400" dirty="0">
                <a:solidFill>
                  <a:schemeClr val="bg1">
                    <a:lumMod val="10000"/>
                  </a:schemeClr>
                </a:solidFill>
                <a:latin typeface="メイリオ" panose="020B0604030504040204" pitchFamily="50" charset="-128"/>
                <a:ea typeface="メイリオ" panose="020B0604030504040204" pitchFamily="50" charset="-128"/>
              </a:rPr>
              <a:t>円</a:t>
            </a:r>
            <a:endParaRPr lang="en-US" altLang="ja-JP" sz="2400" dirty="0">
              <a:solidFill>
                <a:schemeClr val="bg1">
                  <a:lumMod val="10000"/>
                </a:schemeClr>
              </a:solidFill>
              <a:latin typeface="メイリオ" panose="020B0604030504040204" pitchFamily="50" charset="-128"/>
              <a:ea typeface="メイリオ" panose="020B0604030504040204" pitchFamily="50" charset="-128"/>
            </a:endParaRPr>
          </a:p>
        </p:txBody>
      </p:sp>
      <p:sp>
        <p:nvSpPr>
          <p:cNvPr id="25" name="二等辺三角形 24">
            <a:extLst>
              <a:ext uri="{FF2B5EF4-FFF2-40B4-BE49-F238E27FC236}">
                <a16:creationId xmlns:a16="http://schemas.microsoft.com/office/drawing/2014/main" id="{1E43B342-B7F8-9E49-A482-E8D2AB0B6876}"/>
              </a:ext>
            </a:extLst>
          </p:cNvPr>
          <p:cNvSpPr/>
          <p:nvPr/>
        </p:nvSpPr>
        <p:spPr>
          <a:xfrm rot="5400000">
            <a:off x="7863658" y="5242745"/>
            <a:ext cx="461666" cy="307778"/>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ボックス 26">
            <a:extLst>
              <a:ext uri="{FF2B5EF4-FFF2-40B4-BE49-F238E27FC236}">
                <a16:creationId xmlns:a16="http://schemas.microsoft.com/office/drawing/2014/main" id="{ED27D393-0B4A-20F6-3AFE-AC44165D36FA}"/>
              </a:ext>
            </a:extLst>
          </p:cNvPr>
          <p:cNvSpPr txBox="1"/>
          <p:nvPr/>
        </p:nvSpPr>
        <p:spPr>
          <a:xfrm>
            <a:off x="8530562" y="5174583"/>
            <a:ext cx="1801455" cy="461665"/>
          </a:xfrm>
          <a:prstGeom prst="rect">
            <a:avLst/>
          </a:prstGeom>
          <a:noFill/>
          <a:ln>
            <a:noFill/>
          </a:ln>
        </p:spPr>
        <p:txBody>
          <a:bodyPr wrap="square" rtlCol="0">
            <a:spAutoFit/>
          </a:bodyPr>
          <a:lstStyle/>
          <a:p>
            <a:r>
              <a:rPr lang="ja-JP" altLang="en-US" sz="2400" u="sng" dirty="0">
                <a:solidFill>
                  <a:schemeClr val="bg1">
                    <a:lumMod val="10000"/>
                  </a:schemeClr>
                </a:solidFill>
                <a:latin typeface="メイリオ" panose="020B0604030504040204" pitchFamily="50" charset="-128"/>
                <a:ea typeface="メイリオ" panose="020B0604030504040204" pitchFamily="50" charset="-128"/>
              </a:rPr>
              <a:t>結果は妥当</a:t>
            </a:r>
            <a:endParaRPr lang="en-US" altLang="ja-JP" sz="2400" u="sng" dirty="0">
              <a:solidFill>
                <a:schemeClr val="bg1">
                  <a:lumMod val="10000"/>
                </a:schemeClr>
              </a:solidFill>
              <a:latin typeface="メイリオ" panose="020B0604030504040204" pitchFamily="50" charset="-128"/>
              <a:ea typeface="メイリオ" panose="020B0604030504040204" pitchFamily="50" charset="-128"/>
            </a:endParaRPr>
          </a:p>
        </p:txBody>
      </p:sp>
      <p:sp>
        <p:nvSpPr>
          <p:cNvPr id="28" name="テキスト ボックス 27">
            <a:extLst>
              <a:ext uri="{FF2B5EF4-FFF2-40B4-BE49-F238E27FC236}">
                <a16:creationId xmlns:a16="http://schemas.microsoft.com/office/drawing/2014/main" id="{C9744C8E-AC06-5957-33D1-8EE2B985247B}"/>
              </a:ext>
            </a:extLst>
          </p:cNvPr>
          <p:cNvSpPr txBox="1"/>
          <p:nvPr/>
        </p:nvSpPr>
        <p:spPr>
          <a:xfrm>
            <a:off x="1869799" y="5783213"/>
            <a:ext cx="1486036" cy="461665"/>
          </a:xfrm>
          <a:prstGeom prst="rect">
            <a:avLst/>
          </a:prstGeom>
          <a:noFill/>
          <a:ln>
            <a:noFill/>
          </a:ln>
        </p:spPr>
        <p:txBody>
          <a:bodyPr wrap="square" rtlCol="0">
            <a:spAutoFit/>
          </a:bodyPr>
          <a:lstStyle/>
          <a:p>
            <a:r>
              <a:rPr lang="ja-JP" altLang="en-US" sz="2400" dirty="0">
                <a:solidFill>
                  <a:schemeClr val="bg1">
                    <a:lumMod val="10000"/>
                  </a:schemeClr>
                </a:solidFill>
                <a:latin typeface="メイリオ" panose="020B0604030504040204" pitchFamily="50" charset="-128"/>
                <a:ea typeface="メイリオ" panose="020B0604030504040204" pitchFamily="50" charset="-128"/>
              </a:rPr>
              <a:t>育成速度</a:t>
            </a:r>
            <a:endParaRPr lang="en-US" altLang="ja-JP" sz="2400" dirty="0">
              <a:solidFill>
                <a:schemeClr val="bg1">
                  <a:lumMod val="10000"/>
                </a:schemeClr>
              </a:solidFill>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801F1B44-C78E-2ED9-FC16-B7D44402F615}"/>
              </a:ext>
            </a:extLst>
          </p:cNvPr>
          <p:cNvSpPr txBox="1"/>
          <p:nvPr/>
        </p:nvSpPr>
        <p:spPr>
          <a:xfrm>
            <a:off x="4435606" y="5760797"/>
            <a:ext cx="2829546" cy="461665"/>
          </a:xfrm>
          <a:prstGeom prst="rect">
            <a:avLst/>
          </a:prstGeom>
          <a:noFill/>
          <a:ln>
            <a:noFill/>
          </a:ln>
        </p:spPr>
        <p:txBody>
          <a:bodyPr wrap="square" rtlCol="0">
            <a:spAutoFit/>
          </a:bodyPr>
          <a:lstStyle/>
          <a:p>
            <a:r>
              <a:rPr lang="ja-JP" altLang="en-US" sz="2400" dirty="0">
                <a:solidFill>
                  <a:schemeClr val="bg1">
                    <a:lumMod val="10000"/>
                  </a:schemeClr>
                </a:solidFill>
                <a:latin typeface="メイリオ" panose="020B0604030504040204" pitchFamily="50" charset="-128"/>
                <a:ea typeface="メイリオ" panose="020B0604030504040204" pitchFamily="50" charset="-128"/>
              </a:rPr>
              <a:t>一般的に</a:t>
            </a:r>
            <a:r>
              <a:rPr lang="en-US" altLang="ja-JP" sz="2400" dirty="0">
                <a:solidFill>
                  <a:schemeClr val="bg1">
                    <a:lumMod val="10000"/>
                  </a:schemeClr>
                </a:solidFill>
                <a:latin typeface="メイリオ" panose="020B0604030504040204" pitchFamily="50" charset="-128"/>
                <a:ea typeface="メイリオ" panose="020B0604030504040204" pitchFamily="50" charset="-128"/>
              </a:rPr>
              <a:t>26</a:t>
            </a:r>
            <a:r>
              <a:rPr lang="ja-JP" altLang="en-US" sz="2400" dirty="0">
                <a:solidFill>
                  <a:schemeClr val="bg1">
                    <a:lumMod val="10000"/>
                  </a:schemeClr>
                </a:solidFill>
                <a:latin typeface="メイリオ" panose="020B0604030504040204" pitchFamily="50" charset="-128"/>
                <a:ea typeface="メイリオ" panose="020B0604030504040204" pitchFamily="50" charset="-128"/>
              </a:rPr>
              <a:t>～</a:t>
            </a:r>
            <a:r>
              <a:rPr lang="en-US" altLang="ja-JP" sz="2400" dirty="0">
                <a:solidFill>
                  <a:schemeClr val="bg1">
                    <a:lumMod val="10000"/>
                  </a:schemeClr>
                </a:solidFill>
                <a:latin typeface="メイリオ" panose="020B0604030504040204" pitchFamily="50" charset="-128"/>
                <a:ea typeface="メイリオ" panose="020B0604030504040204" pitchFamily="50" charset="-128"/>
              </a:rPr>
              <a:t>28</a:t>
            </a:r>
            <a:r>
              <a:rPr lang="ja-JP" altLang="en-US" sz="2400" dirty="0">
                <a:solidFill>
                  <a:schemeClr val="bg1">
                    <a:lumMod val="10000"/>
                  </a:schemeClr>
                </a:solidFill>
                <a:latin typeface="メイリオ" panose="020B0604030504040204" pitchFamily="50" charset="-128"/>
                <a:ea typeface="メイリオ" panose="020B0604030504040204" pitchFamily="50" charset="-128"/>
              </a:rPr>
              <a:t>日</a:t>
            </a:r>
            <a:endParaRPr lang="en-US" altLang="ja-JP" sz="2400" dirty="0">
              <a:solidFill>
                <a:schemeClr val="bg1">
                  <a:lumMod val="10000"/>
                </a:schemeClr>
              </a:solidFill>
              <a:latin typeface="メイリオ" panose="020B0604030504040204" pitchFamily="50" charset="-128"/>
              <a:ea typeface="メイリオ" panose="020B0604030504040204" pitchFamily="50" charset="-128"/>
            </a:endParaRPr>
          </a:p>
        </p:txBody>
      </p:sp>
      <p:sp>
        <p:nvSpPr>
          <p:cNvPr id="30" name="二等辺三角形 29">
            <a:extLst>
              <a:ext uri="{FF2B5EF4-FFF2-40B4-BE49-F238E27FC236}">
                <a16:creationId xmlns:a16="http://schemas.microsoft.com/office/drawing/2014/main" id="{43724C6B-3DFA-64A8-F285-49506C94D8B7}"/>
              </a:ext>
            </a:extLst>
          </p:cNvPr>
          <p:cNvSpPr/>
          <p:nvPr/>
        </p:nvSpPr>
        <p:spPr>
          <a:xfrm rot="5400000">
            <a:off x="7863659" y="5837741"/>
            <a:ext cx="461665" cy="307778"/>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CBC67CAE-76F3-CDA7-0660-6A55281CE77A}"/>
              </a:ext>
            </a:extLst>
          </p:cNvPr>
          <p:cNvSpPr txBox="1"/>
          <p:nvPr/>
        </p:nvSpPr>
        <p:spPr>
          <a:xfrm>
            <a:off x="8520746" y="5793491"/>
            <a:ext cx="2351570" cy="461665"/>
          </a:xfrm>
          <a:prstGeom prst="rect">
            <a:avLst/>
          </a:prstGeom>
          <a:noFill/>
          <a:ln>
            <a:noFill/>
          </a:ln>
        </p:spPr>
        <p:txBody>
          <a:bodyPr wrap="square" rtlCol="0">
            <a:spAutoFit/>
          </a:bodyPr>
          <a:lstStyle/>
          <a:p>
            <a:r>
              <a:rPr lang="ja-JP" altLang="en-US" sz="2400" u="sng" dirty="0">
                <a:solidFill>
                  <a:schemeClr val="bg1">
                    <a:lumMod val="10000"/>
                  </a:schemeClr>
                </a:solidFill>
                <a:latin typeface="メイリオ" panose="020B0604030504040204" pitchFamily="50" charset="-128"/>
                <a:ea typeface="メイリオ" panose="020B0604030504040204" pitchFamily="50" charset="-128"/>
              </a:rPr>
              <a:t>制御手法は有効</a:t>
            </a:r>
            <a:endParaRPr lang="en-US" altLang="ja-JP" sz="2400" u="sng" dirty="0">
              <a:solidFill>
                <a:schemeClr val="bg1">
                  <a:lumMod val="10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8729025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E57ADF20-1A9F-50B6-8A7E-BC9FF08B8301}"/>
              </a:ext>
            </a:extLst>
          </p:cNvPr>
          <p:cNvSpPr>
            <a:spLocks noGrp="1"/>
          </p:cNvSpPr>
          <p:nvPr>
            <p:ph type="body" sz="quarter" idx="11"/>
          </p:nvPr>
        </p:nvSpPr>
        <p:spPr/>
        <p:txBody>
          <a:bodyPr/>
          <a:lstStyle/>
          <a:p>
            <a:r>
              <a:rPr kumimoji="1" lang="ja-JP" altLang="en-US" dirty="0"/>
              <a:t>まとめと今後の展望</a:t>
            </a:r>
          </a:p>
        </p:txBody>
      </p:sp>
      <p:sp>
        <p:nvSpPr>
          <p:cNvPr id="4" name="テキスト プレースホルダー 3">
            <a:extLst>
              <a:ext uri="{FF2B5EF4-FFF2-40B4-BE49-F238E27FC236}">
                <a16:creationId xmlns:a16="http://schemas.microsoft.com/office/drawing/2014/main" id="{FAAA9823-2F0E-C999-5BD3-1530AE7D51A8}"/>
              </a:ext>
            </a:extLst>
          </p:cNvPr>
          <p:cNvSpPr>
            <a:spLocks noGrp="1"/>
          </p:cNvSpPr>
          <p:nvPr>
            <p:ph type="body" sz="quarter" idx="12"/>
          </p:nvPr>
        </p:nvSpPr>
        <p:spPr/>
        <p:txBody>
          <a:bodyPr/>
          <a:lstStyle/>
          <a:p>
            <a:endParaRPr kumimoji="1" lang="ja-JP" altLang="en-US"/>
          </a:p>
        </p:txBody>
      </p:sp>
      <p:sp>
        <p:nvSpPr>
          <p:cNvPr id="2" name="テキスト ボックス 1">
            <a:extLst>
              <a:ext uri="{FF2B5EF4-FFF2-40B4-BE49-F238E27FC236}">
                <a16:creationId xmlns:a16="http://schemas.microsoft.com/office/drawing/2014/main" id="{5FFB122C-1747-8C84-F32B-A21CB68B3BBC}"/>
              </a:ext>
            </a:extLst>
          </p:cNvPr>
          <p:cNvSpPr txBox="1"/>
          <p:nvPr/>
        </p:nvSpPr>
        <p:spPr>
          <a:xfrm>
            <a:off x="482094" y="1146185"/>
            <a:ext cx="7184088" cy="1723549"/>
          </a:xfrm>
          <a:prstGeom prst="rect">
            <a:avLst/>
          </a:prstGeom>
          <a:noFill/>
          <a:ln>
            <a:noFill/>
          </a:ln>
        </p:spPr>
        <p:txBody>
          <a:bodyPr wrap="square" rtlCol="0">
            <a:spAutoFit/>
          </a:bodyPr>
          <a:lstStyle/>
          <a:p>
            <a:r>
              <a:rPr lang="ja-JP" altLang="en-US" sz="2800" b="1" dirty="0">
                <a:solidFill>
                  <a:schemeClr val="bg1">
                    <a:lumMod val="10000"/>
                  </a:schemeClr>
                </a:solidFill>
                <a:latin typeface="メイリオ" panose="020B0604030504040204" pitchFamily="50" charset="-128"/>
                <a:ea typeface="メイリオ" panose="020B0604030504040204" pitchFamily="50" charset="-128"/>
              </a:rPr>
              <a:t>まとめ</a:t>
            </a:r>
          </a:p>
          <a:p>
            <a:r>
              <a:rPr lang="ja-JP" altLang="en-US" sz="2600" dirty="0">
                <a:solidFill>
                  <a:schemeClr val="bg1">
                    <a:lumMod val="10000"/>
                  </a:schemeClr>
                </a:solidFill>
                <a:latin typeface="メイリオ" panose="020B0604030504040204" pitchFamily="50" charset="-128"/>
                <a:ea typeface="メイリオ" panose="020B0604030504040204" pitchFamily="50" charset="-128"/>
              </a:rPr>
              <a:t>　・植物工場、植物の成長の数理モデル化</a:t>
            </a:r>
            <a:endParaRPr lang="en-US" altLang="ja-JP" sz="2600" dirty="0">
              <a:solidFill>
                <a:schemeClr val="bg1">
                  <a:lumMod val="10000"/>
                </a:schemeClr>
              </a:solidFill>
              <a:latin typeface="メイリオ" panose="020B0604030504040204" pitchFamily="50" charset="-128"/>
              <a:ea typeface="メイリオ" panose="020B0604030504040204" pitchFamily="50" charset="-128"/>
            </a:endParaRPr>
          </a:p>
          <a:p>
            <a:r>
              <a:rPr lang="ja-JP" altLang="en-US" sz="2600" dirty="0">
                <a:solidFill>
                  <a:schemeClr val="bg1">
                    <a:lumMod val="10000"/>
                  </a:schemeClr>
                </a:solidFill>
                <a:latin typeface="メイリオ" panose="020B0604030504040204" pitchFamily="50" charset="-128"/>
                <a:ea typeface="メイリオ" panose="020B0604030504040204" pitchFamily="50" charset="-128"/>
              </a:rPr>
              <a:t>　・</a:t>
            </a:r>
            <a:r>
              <a:rPr lang="en-US" altLang="ja-JP" sz="2600" dirty="0">
                <a:solidFill>
                  <a:schemeClr val="bg1">
                    <a:lumMod val="10000"/>
                  </a:schemeClr>
                </a:solidFill>
                <a:latin typeface="メイリオ" panose="020B0604030504040204" pitchFamily="50" charset="-128"/>
                <a:ea typeface="メイリオ" panose="020B0604030504040204" pitchFamily="50" charset="-128"/>
              </a:rPr>
              <a:t>MPC</a:t>
            </a:r>
            <a:r>
              <a:rPr lang="ja-JP" altLang="en-US" sz="2600" dirty="0">
                <a:solidFill>
                  <a:schemeClr val="bg1">
                    <a:lumMod val="10000"/>
                  </a:schemeClr>
                </a:solidFill>
                <a:latin typeface="メイリオ" panose="020B0604030504040204" pitchFamily="50" charset="-128"/>
                <a:ea typeface="メイリオ" panose="020B0604030504040204" pitchFamily="50" charset="-128"/>
              </a:rPr>
              <a:t>による植物工場の数値実験</a:t>
            </a:r>
            <a:endParaRPr lang="en-US" altLang="ja-JP" sz="2600" dirty="0">
              <a:solidFill>
                <a:schemeClr val="bg1">
                  <a:lumMod val="10000"/>
                </a:schemeClr>
              </a:solidFill>
              <a:latin typeface="メイリオ" panose="020B0604030504040204" pitchFamily="50" charset="-128"/>
              <a:ea typeface="メイリオ" panose="020B0604030504040204" pitchFamily="50" charset="-128"/>
            </a:endParaRPr>
          </a:p>
          <a:p>
            <a:r>
              <a:rPr lang="ja-JP" altLang="en-US" sz="2600" dirty="0">
                <a:solidFill>
                  <a:schemeClr val="bg1">
                    <a:lumMod val="10000"/>
                  </a:schemeClr>
                </a:solidFill>
                <a:latin typeface="メイリオ" panose="020B0604030504040204" pitchFamily="50" charset="-128"/>
                <a:ea typeface="メイリオ" panose="020B0604030504040204" pitchFamily="50" charset="-128"/>
              </a:rPr>
              <a:t>　・便益評価</a:t>
            </a:r>
            <a:endParaRPr lang="en-US" altLang="ja-JP" sz="2600" dirty="0">
              <a:solidFill>
                <a:schemeClr val="bg1">
                  <a:lumMod val="10000"/>
                </a:schemeClr>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D0478F7-E9E8-ED05-E276-5B8A5C799028}"/>
              </a:ext>
            </a:extLst>
          </p:cNvPr>
          <p:cNvSpPr txBox="1"/>
          <p:nvPr/>
        </p:nvSpPr>
        <p:spPr>
          <a:xfrm>
            <a:off x="482094" y="3686705"/>
            <a:ext cx="8895370" cy="1723549"/>
          </a:xfrm>
          <a:prstGeom prst="rect">
            <a:avLst/>
          </a:prstGeom>
          <a:noFill/>
          <a:ln>
            <a:noFill/>
          </a:ln>
        </p:spPr>
        <p:txBody>
          <a:bodyPr wrap="square" rtlCol="0">
            <a:spAutoFit/>
          </a:bodyPr>
          <a:lstStyle/>
          <a:p>
            <a:r>
              <a:rPr lang="ja-JP" altLang="en-US" sz="2800" b="1" dirty="0">
                <a:solidFill>
                  <a:schemeClr val="bg1">
                    <a:lumMod val="10000"/>
                  </a:schemeClr>
                </a:solidFill>
                <a:latin typeface="メイリオ" panose="020B0604030504040204" pitchFamily="50" charset="-128"/>
                <a:ea typeface="メイリオ" panose="020B0604030504040204" pitchFamily="50" charset="-128"/>
              </a:rPr>
              <a:t>今後の展望</a:t>
            </a:r>
          </a:p>
          <a:p>
            <a:r>
              <a:rPr lang="ja-JP" altLang="en-US" sz="2600" dirty="0">
                <a:solidFill>
                  <a:schemeClr val="bg1">
                    <a:lumMod val="10000"/>
                  </a:schemeClr>
                </a:solidFill>
                <a:latin typeface="メイリオ" panose="020B0604030504040204" pitchFamily="50" charset="-128"/>
                <a:ea typeface="メイリオ" panose="020B0604030504040204" pitchFamily="50" charset="-128"/>
              </a:rPr>
              <a:t>　・水の流動の考慮</a:t>
            </a:r>
            <a:endParaRPr lang="en-US" altLang="ja-JP" sz="2600" dirty="0">
              <a:solidFill>
                <a:schemeClr val="bg1">
                  <a:lumMod val="10000"/>
                </a:schemeClr>
              </a:solidFill>
              <a:latin typeface="メイリオ" panose="020B0604030504040204" pitchFamily="50" charset="-128"/>
              <a:ea typeface="メイリオ" panose="020B0604030504040204" pitchFamily="50" charset="-128"/>
            </a:endParaRPr>
          </a:p>
          <a:p>
            <a:r>
              <a:rPr lang="ja-JP" altLang="en-US" sz="2600" dirty="0">
                <a:solidFill>
                  <a:schemeClr val="bg1">
                    <a:lumMod val="10000"/>
                  </a:schemeClr>
                </a:solidFill>
                <a:latin typeface="メイリオ" panose="020B0604030504040204" pitchFamily="50" charset="-128"/>
                <a:ea typeface="メイリオ" panose="020B0604030504040204" pitchFamily="50" charset="-128"/>
              </a:rPr>
              <a:t>　・さらなる電気代削減</a:t>
            </a:r>
            <a:endParaRPr lang="en-US" altLang="ja-JP" sz="2600" dirty="0">
              <a:solidFill>
                <a:schemeClr val="bg1">
                  <a:lumMod val="10000"/>
                </a:schemeClr>
              </a:solidFill>
              <a:latin typeface="メイリオ" panose="020B0604030504040204" pitchFamily="50" charset="-128"/>
              <a:ea typeface="メイリオ" panose="020B0604030504040204" pitchFamily="50" charset="-128"/>
            </a:endParaRPr>
          </a:p>
          <a:p>
            <a:r>
              <a:rPr lang="ja-JP" altLang="en-US" sz="2600" dirty="0">
                <a:solidFill>
                  <a:schemeClr val="bg1">
                    <a:lumMod val="10000"/>
                  </a:schemeClr>
                </a:solidFill>
                <a:latin typeface="メイリオ" panose="020B0604030504040204" pitchFamily="50" charset="-128"/>
                <a:ea typeface="メイリオ" panose="020B0604030504040204" pitchFamily="50" charset="-128"/>
              </a:rPr>
              <a:t>　・環境負荷の考慮</a:t>
            </a:r>
            <a:endParaRPr lang="en-US" altLang="ja-JP" sz="2600" dirty="0">
              <a:solidFill>
                <a:schemeClr val="bg1">
                  <a:lumMod val="10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898319818"/>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alibri Light-Constantia">
      <a:majorFont>
        <a:latin typeface="Calibri Light"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onstantia" panose="02030602050306030303"/>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プレゼンテーション3" id="{90A50D35-350D-4D37-9ECB-E06C4C347DE0}" vid="{3A0E68DB-29DE-47EF-8106-C45BA2A2858A}"/>
    </a:ext>
  </a:extLst>
</a:theme>
</file>

<file path=ppt/theme/theme2.xml><?xml version="1.0" encoding="utf-8"?>
<a:theme xmlns:a="http://schemas.openxmlformats.org/drawingml/2006/main" name="研究発表スライドマスタ">
  <a:themeElements>
    <a:clrScheme name="ユーザー定義 8">
      <a:dk1>
        <a:srgbClr val="4D4D4D"/>
      </a:dk1>
      <a:lt1>
        <a:srgbClr val="F8F8F8"/>
      </a:lt1>
      <a:dk2>
        <a:srgbClr val="7F7F7F"/>
      </a:dk2>
      <a:lt2>
        <a:srgbClr val="B2B2B2"/>
      </a:lt2>
      <a:accent1>
        <a:srgbClr val="2E5B96"/>
      </a:accent1>
      <a:accent2>
        <a:srgbClr val="C03936"/>
      </a:accent2>
      <a:accent3>
        <a:srgbClr val="ED7D31"/>
      </a:accent3>
      <a:accent4>
        <a:srgbClr val="3E9288"/>
      </a:accent4>
      <a:accent5>
        <a:srgbClr val="4747C1"/>
      </a:accent5>
      <a:accent6>
        <a:srgbClr val="70AD47"/>
      </a:accent6>
      <a:hlink>
        <a:srgbClr val="0563C1"/>
      </a:hlink>
      <a:folHlink>
        <a:srgbClr val="954F72"/>
      </a:folHlink>
    </a:clrScheme>
    <a:fontScheme name="ユーザー定義 2">
      <a:majorFont>
        <a:latin typeface="Segoe UI"/>
        <a:ea typeface="游ゴシック Medium"/>
        <a:cs typeface=""/>
      </a:majorFont>
      <a:minorFont>
        <a:latin typeface="Segoe UI"/>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プレゼンテーション3" id="{90A50D35-350D-4D37-9ECB-E06C4C347DE0}" vid="{90CCEB88-90AC-4248-AB18-E9913566E339}"/>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8063</TotalTime>
  <Words>2117</Words>
  <Application>Microsoft Office PowerPoint</Application>
  <PresentationFormat>ワイド画面</PresentationFormat>
  <Paragraphs>131</Paragraphs>
  <Slides>10</Slides>
  <Notes>7</Notes>
  <HiddenSlides>0</HiddenSlides>
  <MMClips>0</MMClips>
  <ScaleCrop>false</ScaleCrop>
  <HeadingPairs>
    <vt:vector size="6" baseType="variant">
      <vt:variant>
        <vt:lpstr>使用されているフォント</vt:lpstr>
      </vt:variant>
      <vt:variant>
        <vt:i4>9</vt:i4>
      </vt:variant>
      <vt:variant>
        <vt:lpstr>テーマ</vt:lpstr>
      </vt:variant>
      <vt:variant>
        <vt:i4>2</vt:i4>
      </vt:variant>
      <vt:variant>
        <vt:lpstr>スライド タイトル</vt:lpstr>
      </vt:variant>
      <vt:variant>
        <vt:i4>10</vt:i4>
      </vt:variant>
    </vt:vector>
  </HeadingPairs>
  <TitlesOfParts>
    <vt:vector size="21" baseType="lpstr">
      <vt:lpstr>メイリオ</vt:lpstr>
      <vt:lpstr>游ゴシック</vt:lpstr>
      <vt:lpstr>游ゴシック Medium</vt:lpstr>
      <vt:lpstr>Arial</vt:lpstr>
      <vt:lpstr>Calibri Light</vt:lpstr>
      <vt:lpstr>Cambria Math</vt:lpstr>
      <vt:lpstr>Constantia</vt:lpstr>
      <vt:lpstr>Segoe UI</vt:lpstr>
      <vt:lpstr>Wingdings</vt:lpstr>
      <vt:lpstr>Office テーマ</vt:lpstr>
      <vt:lpstr>研究発表スライドマスタ</vt:lpstr>
      <vt:lpstr>植物工場におけるレタス成長のための 数理モデル化と数値実験による便益評価</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蒼翔 大坂</dc:creator>
  <cp:lastModifiedBy>蒼翔 大坂</cp:lastModifiedBy>
  <cp:revision>375</cp:revision>
  <dcterms:created xsi:type="dcterms:W3CDTF">2025-01-08T07:43:15Z</dcterms:created>
  <dcterms:modified xsi:type="dcterms:W3CDTF">2026-06-14T15:50:25Z</dcterms:modified>
</cp:coreProperties>
</file>